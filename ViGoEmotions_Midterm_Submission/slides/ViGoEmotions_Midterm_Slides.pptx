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Published (Hung et al., 2026)</c:v>
                </c:pt>
              </c:strCache>
            </c:strRef>
          </c:tx>
          <c:spPr>
            <a:solidFill>
              <a:srgbClr val="AEB7C4"/>
            </a:solidFill>
            <a:effectLst/>
          </c:spPr>
          <c:invertIfNegative val="0"/>
          <c:dLbls>
            <c:numFmt formatCode="0.000;;;" sourceLinked="0"/>
            <c:txPr>
              <a:bodyPr/>
              <a:lstStyle/>
              <a:p>
                <a:pPr>
                  <a:defRPr b="1" i="0" strike="noStrike" sz="12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Sheet1!$A$2:$A$10</c:f>
              <c:multiLvlStrCache>
                <c:ptCount val="9"/>
                <c:lvl>
                  <c:pt idx="0">
                    <c:v>PhoBERT, emoji kept (paper)</c:v>
                  </c:pt>
                  <c:pt idx="1">
                    <c:v>PhoBERT, emoji → text (paper)</c:v>
                  </c:pt>
                  <c:pt idx="2">
                    <c:v>CafeBERT (paper)</c:v>
                  </c:pt>
                  <c:pt idx="3">
                    <c:v>ViSoBERT, best in paper</c:v>
                  </c:pt>
                  <c:pt idx="4">
                    <c:v>ViSoBERT (ours)</c:v>
                  </c:pt>
                  <c:pt idx="5">
                    <c:v>ViSoBERT-14GB (ours)</c:v>
                  </c:pt>
                  <c:pt idx="6">
                    <c:v>PhoBERT (ours)</c:v>
                  </c:pt>
                  <c:pt idx="7">
                    <c:v>Ensemble, τ = 0.5 (ours)</c:v>
                  </c:pt>
                  <c:pt idx="8">
                    <c:v>Ensemble, val-tuned τ (ours)</c:v>
                  </c:pt>
                </c:lvl>
              </c:multiLvlStrCache>
            </c:multiLvlStrRef>
          </c:cat>
          <c:val>
            <c:numRef>
              <c:f>Sheet1!$B$2:$B$10</c:f>
              <c:numCache>
                <c:formatCode>General</c:formatCode>
                <c:ptCount val="9"/>
                <c:pt idx="0">
                  <c:v>0.5633</c:v>
                </c:pt>
                <c:pt idx="1">
                  <c:v>0.5931</c:v>
                </c:pt>
                <c:pt idx="2">
                  <c:v>0.6117</c:v>
                </c:pt>
                <c:pt idx="3">
                  <c:v>0.615</c:v>
                </c:pt>
                <c:pt idx="4">
                  <c:v>0</c:v>
                </c:pt>
                <c:pt idx="5">
                  <c:v>0</c:v>
                </c:pt>
                <c:pt idx="6">
                  <c:v>0</c:v>
                </c:pt>
                <c:pt idx="7">
                  <c:v>0</c:v>
                </c:pt>
                <c:pt idx="8">
                  <c:v>0</c:v>
                </c:pt>
              </c:numCache>
            </c:numRef>
          </c:val>
        </c:ser>
        <c:ser>
          <c:idx val="1"/>
          <c:order val="1"/>
          <c:tx>
            <c:strRef>
              <c:f>Sheet1!$C$1</c:f>
              <c:strCache>
                <c:ptCount val="1"/>
                <c:pt idx="0">
                  <c:v>Ours, single model</c:v>
                </c:pt>
              </c:strCache>
            </c:strRef>
          </c:tx>
          <c:spPr>
            <a:solidFill>
              <a:srgbClr val="2A6FDB"/>
            </a:solidFill>
            <a:effectLst/>
          </c:spPr>
          <c:invertIfNegative val="0"/>
          <c:dLbls>
            <c:numFmt formatCode="0.000;;;" sourceLinked="0"/>
            <c:txPr>
              <a:bodyPr/>
              <a:lstStyle/>
              <a:p>
                <a:pPr>
                  <a:defRPr b="1" i="0" strike="noStrike" sz="12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Sheet1!$A$2:$A$10</c:f>
              <c:multiLvlStrCache>
                <c:ptCount val="9"/>
                <c:lvl>
                  <c:pt idx="0">
                    <c:v>PhoBERT, emoji kept (paper)</c:v>
                  </c:pt>
                  <c:pt idx="1">
                    <c:v>PhoBERT, emoji → text (paper)</c:v>
                  </c:pt>
                  <c:pt idx="2">
                    <c:v>CafeBERT (paper)</c:v>
                  </c:pt>
                  <c:pt idx="3">
                    <c:v>ViSoBERT, best in paper</c:v>
                  </c:pt>
                  <c:pt idx="4">
                    <c:v>ViSoBERT (ours)</c:v>
                  </c:pt>
                  <c:pt idx="5">
                    <c:v>ViSoBERT-14GB (ours)</c:v>
                  </c:pt>
                  <c:pt idx="6">
                    <c:v>PhoBERT (ours)</c:v>
                  </c:pt>
                  <c:pt idx="7">
                    <c:v>Ensemble, τ = 0.5 (ours)</c:v>
                  </c:pt>
                  <c:pt idx="8">
                    <c:v>Ensemble, val-tuned τ (ours)</c:v>
                  </c:pt>
                </c:lvl>
              </c:multiLvlStrCache>
            </c:multiLvlStrRef>
          </c:cat>
          <c:val>
            <c:numRef>
              <c:f>Sheet1!$C$2:$C$10</c:f>
              <c:numCache>
                <c:formatCode>General</c:formatCode>
                <c:ptCount val="9"/>
                <c:pt idx="0">
                  <c:v>0</c:v>
                </c:pt>
                <c:pt idx="1">
                  <c:v>0</c:v>
                </c:pt>
                <c:pt idx="2">
                  <c:v>0</c:v>
                </c:pt>
                <c:pt idx="3">
                  <c:v>0</c:v>
                </c:pt>
                <c:pt idx="4">
                  <c:v>0.613289</c:v>
                </c:pt>
                <c:pt idx="5">
                  <c:v>0.620369</c:v>
                </c:pt>
                <c:pt idx="6">
                  <c:v>0.629157</c:v>
                </c:pt>
                <c:pt idx="7">
                  <c:v>0</c:v>
                </c:pt>
                <c:pt idx="8">
                  <c:v>0</c:v>
                </c:pt>
              </c:numCache>
            </c:numRef>
          </c:val>
        </c:ser>
        <c:ser>
          <c:idx val="2"/>
          <c:order val="2"/>
          <c:tx>
            <c:strRef>
              <c:f>Sheet1!$D$1</c:f>
              <c:strCache>
                <c:ptCount val="1"/>
                <c:pt idx="0">
                  <c:v>Ours, ensemble</c:v>
                </c:pt>
              </c:strCache>
            </c:strRef>
          </c:tx>
          <c:spPr>
            <a:solidFill>
              <a:srgbClr val="E07A1F"/>
            </a:solidFill>
            <a:effectLst/>
          </c:spPr>
          <c:invertIfNegative val="0"/>
          <c:dLbls>
            <c:numFmt formatCode="0.000;;;" sourceLinked="0"/>
            <c:txPr>
              <a:bodyPr/>
              <a:lstStyle/>
              <a:p>
                <a:pPr>
                  <a:defRPr b="1" i="0" strike="noStrike" sz="12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Sheet1!$A$2:$A$10</c:f>
              <c:multiLvlStrCache>
                <c:ptCount val="9"/>
                <c:lvl>
                  <c:pt idx="0">
                    <c:v>PhoBERT, emoji kept (paper)</c:v>
                  </c:pt>
                  <c:pt idx="1">
                    <c:v>PhoBERT, emoji → text (paper)</c:v>
                  </c:pt>
                  <c:pt idx="2">
                    <c:v>CafeBERT (paper)</c:v>
                  </c:pt>
                  <c:pt idx="3">
                    <c:v>ViSoBERT, best in paper</c:v>
                  </c:pt>
                  <c:pt idx="4">
                    <c:v>ViSoBERT (ours)</c:v>
                  </c:pt>
                  <c:pt idx="5">
                    <c:v>ViSoBERT-14GB (ours)</c:v>
                  </c:pt>
                  <c:pt idx="6">
                    <c:v>PhoBERT (ours)</c:v>
                  </c:pt>
                  <c:pt idx="7">
                    <c:v>Ensemble, τ = 0.5 (ours)</c:v>
                  </c:pt>
                  <c:pt idx="8">
                    <c:v>Ensemble, val-tuned τ (ours)</c:v>
                  </c:pt>
                </c:lvl>
              </c:multiLvlStrCache>
            </c:multiLvlStrRef>
          </c:cat>
          <c:val>
            <c:numRef>
              <c:f>Sheet1!$D$2:$D$10</c:f>
              <c:numCache>
                <c:formatCode>General</c:formatCode>
                <c:ptCount val="9"/>
                <c:pt idx="0">
                  <c:v>0</c:v>
                </c:pt>
                <c:pt idx="1">
                  <c:v>0</c:v>
                </c:pt>
                <c:pt idx="2">
                  <c:v>0</c:v>
                </c:pt>
                <c:pt idx="3">
                  <c:v>0</c:v>
                </c:pt>
                <c:pt idx="4">
                  <c:v>0</c:v>
                </c:pt>
                <c:pt idx="5">
                  <c:v>0</c:v>
                </c:pt>
                <c:pt idx="6">
                  <c:v>0</c:v>
                </c:pt>
                <c:pt idx="7">
                  <c:v>0.642969</c:v>
                </c:pt>
                <c:pt idx="8">
                  <c:v>0.652889</c:v>
                </c:pt>
              </c:numCache>
            </c:numRef>
          </c:val>
        </c:ser>
        <c:dLbls>
          <c:numFmt formatCode="0.000;;;" sourceLinked="0"/>
          <c:txPr>
            <a:bodyPr/>
            <a:lstStyle/>
            <a:p>
              <a:pPr>
                <a:defRPr b="1" i="0" strike="noStrike" sz="1200" u="none">
                  <a:solidFill>
                    <a:srgbClr val="FFFFFF"/>
                  </a:solidFill>
                  <a:latin typeface="Arial"/>
                </a:defRPr>
              </a:pPr>
            </a:p>
          </c:txPr>
          <c:dLblPos val="inEnd"/>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4213D"/>
                </a:solidFill>
                <a:latin typeface="Calibri"/>
              </a:defRPr>
            </a:pPr>
            <a:endParaRPr lang="en-US"/>
          </a:p>
        </c:txPr>
        <c:crossAx val="2094734552"/>
        <c:crosses val="autoZero"/>
        <c:auto val="1"/>
        <c:lblAlgn val="ctr"/>
        <c:noMultiLvlLbl val="1"/>
      </c:catAx>
      <c:valAx>
        <c:axId val="2094734552"/>
        <c:scaling>
          <c:orientation val="minMax"/>
          <c:max val="0.67"/>
          <c:min val="0.5"/>
        </c:scaling>
        <c:delete val="0"/>
        <c:axPos val="b"/>
        <c:majorGridlines>
          <c:spPr>
            <a:ln w="6350" cap="flat">
              <a:solidFill>
                <a:srgbClr val="E3E7EE"/>
              </a:solidFill>
              <a:prstDash val="solid"/>
              <a:round/>
            </a:ln>
          </c:spPr>
        </c:majorGridlines>
        <c:title>
          <c:tx>
            <c:rich>
              <a:bodyPr/>
              <a:lstStyle/>
              <a:p>
                <a:pPr>
                  <a:defRPr sz="1100" b="0" i="0" u="none" strike="noStrike">
                    <a:solidFill>
                      <a:srgbClr val="6B7688"/>
                    </a:solidFill>
                    <a:latin typeface="Arial"/>
                  </a:defRPr>
                </a:pPr>
                <a:r>
                  <a:rPr sz="1100" b="0" i="0" u="none" strike="noStrike">
                    <a:solidFill>
                      <a:srgbClr val="6B7688"/>
                    </a:solidFill>
                    <a:latin typeface="Arial"/>
                  </a:rPr>
                  <a:t>Test Macro-F1 (axis starts at 0.50)</a:t>
                </a:r>
              </a:p>
            </c:rich>
          </c:tx>
          <c:layout/>
          <c:overlay val="0"/>
        </c:title>
        <c:numFmt formatCode="0.00" sourceLinked="0"/>
        <c:majorTickMark val="out"/>
        <c:minorTickMark val="none"/>
        <c:tickLblPos val="low"/>
        <c:spPr>
          <a:ln w="12700" cap="flat">
            <a:solidFill>
              <a:srgbClr val="888888"/>
            </a:solidFill>
            <a:prstDash val="solid"/>
            <a:round/>
          </a:ln>
        </c:spPr>
        <c:txPr>
          <a:bodyPr/>
          <a:lstStyle/>
          <a:p>
            <a:pPr>
              <a:defRPr sz="1100" b="0" i="0" u="none" strike="noStrike">
                <a:solidFill>
                  <a:srgbClr val="6B7688"/>
                </a:solidFill>
                <a:latin typeface="Calibri"/>
              </a:defRPr>
            </a:pPr>
            <a:endParaRPr lang="en-US"/>
          </a:p>
        </c:txPr>
        <c:crossAx val="2094734554"/>
        <c:crosses val="autoZero"/>
        <c:crossBetween val="between"/>
        <c:majorUnit val="0.02"/>
      </c:valAx>
      <c:spPr>
        <a:noFill/>
        <a:ln>
          <a:noFill/>
        </a:ln>
        <a:effectLst/>
      </c:spPr>
    </c:plotArea>
    <c:legend>
      <c:legendPos val="b"/>
      <c:overlay val="0"/>
      <c:txPr>
        <a:bodyPr/>
        <a:lstStyle/>
        <a:p>
          <a:pPr>
            <a:defRPr sz="1200">
              <a:solidFill>
                <a:srgbClr val="3D4A5C"/>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Chào thầy/cô và các bạn. Nhóm em làm Track 2: ViGoEmotions — nhận diện cảm xúc đa nhãn chi tiết cho bình luận mạng xã hội tiếng Việt. Bài midterm gồm: hiểu dữ liệu, giao thức chia tập và tiền xử lý, ba mô hình bắt buộc (TF-IDF + Logistic Regression, BiLSTM, PhoBERT) cộng thêm các encoder tiếng Việt mạnh hơn, trả lời 5 câu hỏi midterm, phân tích lỗi và đề xuất câu hỏi nghiên cứu cho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toán là phân loại đa nhãn: một bình luận có thể mang nhiều cảm xúc cùng lúc, ví dụ minh họa này (nhóm tự viết, không lấy từ dataset) vừa buồn, vừa thương, vừa quan tâm. Vì vậy mô hình đưa ra 28 quyết định nhị phân độc lập — 27 cảm xúc của GoEmotions cộng nhãn neutral — với sigmoid cho từng nhãn chứ không phải softmax. Theo đề, metric chính là Macro-F1 và Micro-F1; subset accuracy quá khắt khe nên chỉ báo cáo phụ. Khó khăn đặc thù là tiếng Việt phi chuẩn: teencode, tiếng lóng, emoji.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Dữ liệu ViGoEmotions (EACL 2026) có 20.664 bình luận, chia sẵn 16.531 train, 2.066 validation, 2.067 test. Có 28 nhãn, trung bình mỗi bình luận 1,91 nhãn và có 1.485 tổ hợp nhãn khác nhau — nên đây thật sự là bài toán đa nhãn. Nguồn suy ra từ tiền tố id: khoảng 65% là Facebook (id số, bao gồm UIT-VSMEC), còn lại TikTok, YouTube, X, Reddit, Threads. Về giấy phép: chỉ dùng nghiên cứu phi thương mại, không phân phối lại, nên repo của nhóm chỉ chứa code, id của split, số liệu tổng hợp và xác suất dự đoán — không chứa văn bản gốc.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Phân bố nhãn trên tập train: ba nhãn đầu là amusement, sadness, annoyance, mỗi nhãn khoảng 2.700–2.900 mẫu; nhãn hiếm nhất là relief với 635 mẫu. Tỷ lệ mất cân bằng lớn nhất/nhỏ nhất chỉ 4,5 lần — nhẹ hơn nhiều so với GoEmotions tiếng Anh. Quy tắc head/mid/tail được cố định trước khi đánh giá bất kỳ mô hình nào: chia tam phân vị theo số mẫu dương trên TRAIN, được 9 head, 10 mid, 9 tail. Quy tắc này dùng lại cho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Label cardinality: gần một nửa bình luận có đúng 2 nhãn, 1/3 có 1 nhãn, và khoảng 20% có từ 3 nhãn trở lên; chỉ 3,5% là neutral thuần. Các cặp đồng xuất hiện nhiều nhất là disappointment + sadness (904 lần), anger + annoyance, sadness + grief. Cặp fear + nervousness có hệ số tương quan phi cao nhất (0,41). Đặc biệt 83% bình luận grief cũng là sadness — tức là các nhãn có cấu trúc phân cấp/phụ thuộc mạnh. Theo quy định tái lập, mọi thống kê đồng xuất hiện chỉ tính trên TRAIN.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 trận tương quan phi giữa 28 nhãn trên train cho thấy cảm xúc tạo thành các "họ": họ buồn (sadness, grief, disappointment), họ lo âu (fear, nervousness), họ tích cực (excitement, joy, love, optimism, caring, gratitude, relief) và họ thù địch (anger, annoyance, disapproval, disgust). Amusement tương quan âm với sadness. Điều này gợi ý rằng lỗi của mô hình nhiều khả năng là nhầm lẫn TRONG cùng một họ — nhóm sẽ kiểm chứng ở phần phân tích lỗi — và là động lực cho hướng mô hình hóa phụ thuộc nhãn ở Final (RQ2).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Văn bản rất ngắn: trung vị 11 từ, 47 ký tự; 99% bình luận dưới 84 từ. Sau khi tokenize bằng PhoBERT, p99 là 85 subword nên chọn max_len 192 chỉ cắt 0,01% mẫu. Về đặc điểm phi chuẩn: 31,7% bình luận có teencode (ko, đc, vs, j…), 24,9% có emoji, 11,5% có emoticon kiểu ":))", "=))", 5% có từ tục. Emoji gắn chặt với cảm xúc: gần một nửa bình luận love có emoji. Vì vậy nhóm KHÔNG xóa emoji: với ViSoBERT giữ nguyên (vocab có emoji), với PhoBERT chuyển emoji thành mô tả tiếng Việt.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Về split: nhóm giữ nguyên split chính thức 80/10/10 do tác giả phát hành, để kết quả so sánh trực tiếp được với paper. Nhưng đề yêu cầu split phân tầng đa nhãn, nên nhóm kiểm định: đo độ lệch phân phối nhãn (LD, theo Sechidis 2011) của split chính thức, so với split ngẫu nhiên và split iterative stratification cùng seed. Kết quả: split chính thức chỉ tốt ngang split ngẫu nhiên (0,0035 vs 0,0044), còn iterative tốt hơn khoảng 9 lần. Nhóm vẫn dùng split chính thức, nhưng lưu sẵn split iterative để kiểm tra độ bền ở Final. Kỷ luật: train để fit; validation để early stopping, chọn siêu tham số và ngưỡng; test chỉ chấm một lần.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Pipeline tiền xử lý gồm 7 bước, mỗi bước bật/tắt được trong config. Điểm đáng chú ý: (1) chuẩn hóa Unicode NFC — code gốc của tác giả thiếu bước này nên khi thay teencode bằng regex, văn bản dạng tổ hợp (NFD) bị hỏng, ví dụ "cảm" thành "cảmày"; (3) chuẩn hóa vị trí dấu thanh theo bảng của VinAI, đúng quy ước dữ liệu pretrain của PhoBERT; (5) emoji: giữ nguyên hoặc dịch sang tiếng Việt, dùng tên emoji tiếng Việt của Unicode CLDR làm dự phòng; (7) tách từ bằng VnCoreNLP RDRSegmenter — đúng bộ tách từ PhoBERT dùng khi pretrain, trong khi paper dùng pyvi. Bảng dưới: mỗi mô hình dùng cấu hình phù hợp với tokenizer của nó.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mô hình bắt buộc: M1 là TF-IDF kết hợp n-gram từ và n-gram ký tự — n-gram ký tự giúp chịu được teencode và lỗi chính tả — với 28 bộ Logistic Regression độc lập; tham số C và class_weight chọn trên validation. M2 là BiLSTM 2 tầng học từ đầu, pooling attention + max. M3 là PhoBERT-base-v2 với đầu sigmoid độc lập và loss BCE đúng như đề. Để có kết quả tốt nhất, nhóm thêm ViSoBERT (mô hình tốt nhất trong paper, pretrain trên mạng xã hội) và ViSoBERT-14GB, rồi ensemble bằng trung bình xác suất. Các kỹ thuật chung: khởi tạo bias theo tần suất nhãn, layer-wise learning-rate decay, dynamic padding, và chọn epoch tốt nhất theo Macro-F1 trên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Mọi mô hình đi qua cùng một module đánh giá, cùng split, cùng định dạng. Metric bắt buộc: Macro-F1, Micro-F1, F1 từng nhãn cho cả 28 nhãn, Hamming loss, LRAP và mAP (không phụ thuộc ngưỡng), số tham số và thời gian train. Bảng chính dùng ngưỡng cố định 0,5 cho mọi nhãn. Xác suất liên tục được lưu trước khi nhị phân hóa, nên có thể thử ngưỡng khác mà không cần train lại: ngưỡng toàn cục và ngưỡng theo từng nhãn đều được tối ưu CHỈ trên validation, đóng băng, rồi áp dụng một lần lên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quả chính trên test với ngưỡng 0,5, đủ mọi metric bắt buộc. TF-IDF + LR đạt 0,542 Macro-F1, bất ngờ mạnh hơn BiLSTM (0,512) — vì n-gram ký tự chịu tốt teencode, còn BiLSTM học embedding từ đầu với dữ liệu nhỏ. PhoBERT, mô hình bắt buộc, đạt 0,629 Macro-F1 và 0,646 Micro-F1, hơn BiLSTM 11,7 điểm; Hamming loss thấp nhất trong ba mô hình bắt buộc. ViSoBERT và ViSoBERT-14GB đạt 0,613 và 0,620. Ensemble ba transformer (trung bình xác suất, không train lại) đạt 0,643; nếu dùng một ngưỡng toàn cục 0,32 tối ưu trên validation thì đạt 0,653 Macro-F1 và 0,669 Micro-F1. Thời gian train đo trên MacBook M1 Pro; số tham số đếm toàn bộ tham số của mạng.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sánh với các baseline đã công bố, cùng split chính thức. Số của paper lấy từ notebook chính thức của tác giả, ngưỡng 0,5. PhoBERT của paper đạt 0,563 (giữ emoji) và 0,593 (đổi emoji sang chữ); mô hình tốt nhất paper là ViSoBERT 0,615. PhoBERT của nhóm đạt 0,629 — một mô hình đơn đã vượt mô hình tốt nhất của paper, và hơn công thức PhoBERT của paper 3,6 điểm. ViSoBERT của nhóm tái lập được kết quả paper (0,613 so với 0,615). Ensemble đạt 0,643 với ngưỡng 0,5 và 0,653 với ngưỡng tune trên validation, tức hơn paper 3,8 điểm. Nhóm liệt kê những điểm khác biệt trong công thức, nhưng lưu ý trung thực: chưa làm ablation từng yếu tố nên chưa khẳng định yếu tố nào đóng góp bao nhiêu — đây là việc cho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Câu hỏi 1: nhãn nào có F1 cao nhất và thấp nhất. Cả ba mô hình đồng thuận: dễ nhất là embarrassment (0,88), gratitude (0,86), amusement — những nhãn có từ khóa rất rõ như "cảm ơn", "ngại quá", "haha". Khó nhất là disapproval (0,36), neutral (0,42), realization, confusion, disgust — đây là các nhãn mơ hồ về ngữ nghĩa, phụ thuộc ngữ cảnh, và trùng với nhóm nhãn yếu nhất trong paper. PhoBERT cao hơn hai baseline ở gần như mọi nhãn; khoảng cách lớn nhất ở realization, neutral, disapproval, admiration — những nhãn cần hiểu ngữ cảnh thay vì từ khóa.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Câu hỏi 2: hiệu năng tương quan thế nào với tần suất nhãn trên train. Tương quan dương nhưng yếu và KHÔNG có ý nghĩa thống kê: Spearman khoảng 0,2, p lớn hơn 0,2 cho cả ba mô hình. Tail thấp hơn head khoảng 5 điểm F1, nhưng vì mất cân bằng chỉ 4,5 lần nên tần suất không phải yếu tố chính. Bằng chứng: disapproval có gần 1.000 mẫu train mà F1 thấp nhất; annoyance là nhãn head (2.662 mẫu) nhưng chỉ đạt 0,62; trong khi remorse, grief thuộc tail vẫn trên 0,7. Nhóm kết luận độ khó chủ yếu đến từ ngữ nghĩa mơ hồ và sự chồng lấn giữa các nhãn cùng họ — lưu ý đây là tương quan, không khẳng định nhân quả.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Câu hỏi 3: các cặp đồng xuất hiện nhiều nhất (chọn từ TRAIN) là disappointment + sadness, anger + annoyance, sadness + grief. Mô hình có giữ được các phụ thuộc này không? Nhóm so sánh số lần mỗi cặp xuất hiện trong nhãn thật với trong dự đoán trên test. PhoBERT bảo toàn tốt nhất: tương quan Pearson giữa số cặp thật và dự đoán là 0,972, và trung bình dự đoán 1,83 nhãn/câu, gần với thực tế 1,91. TF-IDF với class_weight balanced dự đoán quá nhiều nhãn (2,30/câu) nên sinh gần gấp đôi số cặp, nhất là trong họ thù địch. BiLSTM thì ngược lại, dự đoán quá ít (1,58/câu) và bỏ sót cặp. Lưu ý: cả ba mô hình đều độc lập theo nhãn — phụ thuộc chỉ được học gián tiếp qua biểu diễn chung, đây là động lực cho RQ2 ở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Câu hỏi 4: PhoBERT vượt BiLSTM nhiều nhất ở kiểu văn bản nào. Các nhóm được định nghĩa bằng quy tắc cố định trong code (src/vigo/analysis/text_styles.py) trước khi xem kết quả mô hình. PhoBERT hơn BiLSTM trên mọi nhóm, và khoảng tin cậy bootstrap đều dương. Chênh lệch lớn nhất ở bình luận có emoticon (+0,19 Macro-F1), bình luận dài (+0,16) và teencode (+0,13): đây là những trường hợp cần hiểu ngữ cảnh. Nhỏ nhất ở bình luận có emoji (+0,06): emoji tự nó đã là tín hiệu cảm xúc mạnh, BiLSTM học trực tiếp emoji như một token, trong khi PhoBERT chỉ thấy mô tả tiếng Việt của emoji. Điều này gợi ý dùng encoder có emoji trong vocab như ViSoBERT.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Câu hỏi 5: độ nhạy với ngưỡng mặc định 0,5. Quét ngưỡng toàn cục trên validation: đường cong của PhoBERT khá phẳng trong khoảng 0,25–0,5 rồi giảm nhanh sau 0,6. Nghĩa là ở mức trung bình, 0,5 đã gần tối ưu. TF-IDF (có class_weight balanced) tối ưu ở 0,6; BiLSTM ở 0,31. Nhưng khi tối ưu từng nhãn, ngưỡng tốt nhất của PhoBERT dao động từ 0,17 đến 0,69 — một ngưỡng chung rõ ràng không phù hợp với mọi nhãn. Tuy nhiên, tối ưu từng nhãn tăng 2,3 điểm trên validation nhưng chỉ 0,4 điểm trên test: có dấu hiệu overfit ngưỡng. Đây chính là câu hỏi nghiên cứu cho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Phân tích lỗi PhoBERT trên test, ngưỡng 0,5. Heatmap: hàng là nhãn thật bị bỏ sót, cột là nhãn bị dự đoán sai trong cùng bình luận. Bốn kiểu lỗi lặp lại: (1) nhầm trong cùng một họ cảm xúc — annoyance bị đoán thành sadness hoặc disappointment, disgust/annoyance/anger lẫn nhau; khớp với ma trận tương quan ở phần EDA. (2) nhãn ngầm, phụ thuộc ngữ cảnh: disapproval bị bỏ sót 69%, neutral 61%, realization 60% — realization hay bị đọc thành neutral. (3) mô hình bị kéo về khoảng 2 nhãn: câu có 1 nhãn thì bị thêm 0,76 nhãn sai, câu có từ 4 nhãn thì bỏ sót gần 1,9 nhãn. (4) bình luận dài: chỉ 20% khớp hoàn toàn so với 45% ở câu ngắn. Code trích ra 97 trường hợp để audit thủ công (25 false negative, 25 false positive, 15 câu nhiều nhãn, 32 theo kiểu văn bản); file công khai chỉ chứa id và nhãn, bản có văn bản để riêng, không public.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Câu hỏi nghiên cứu đề xuất cho Final là RQ1 của đề: một ngưỡng chung 0,5 có tối ưu cho cả 27 cảm xúc không. Bằng chứng từ midterm: ngưỡng tối ưu theo từng nhãn trải từ 0,17 đến 0,69. Hạ ngưỡng giúp các câu có nhiều nhãn (Micro-F1 cho |Y| từ 4 trở lên tăng từ 0,67 lên 0,75) nhưng lại hại các câu một nhãn (giảm từ 0,57 xuống 0,53). Lợi ích của tối ưu từng nhãn trên validation bị co lại trên test. Thiết kế Final: dùng mạng tốt nhất của midterm, không train lại backbone, so sánh ba chiến lược ngưỡng fit trên validation, phân tích theo head/mid/tail và theo số nhãn, báo cáo khoảng chênh validation–test; chạy 3 seed với khoảng tin cậy bootstrap, thêm biến thể co ngưỡng từng nhãn về ngưỡng chung, và kiểm tra trên split iterative. Xác suất dự đoán đã lưu sẵn đúng schema của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Tổng kết bốn ý chính. Một: nhóm có các baseline mạnh và hợp lệ — PhoBERT 0,629, ensemble 0,653 so với 0,615 của mô hình tốt nhất đã công bố, cùng split, test được niêm phong. Hai: tần suất nhãn giải thích rất ít; nhãn khó là những nhãn ngầm, mơ hồ. Ba: ngữ cảnh pretrain giúp nhiều nhất ở văn bản nhiễu như emoticon, bình luận dài, teencode; lỗi còn lại chủ yếu là nhầm trong cùng họ cảm xúc. Bốn: một ngưỡng chung không phù hợp với mọi nhãn, nhưng tối ưu từng nhãn dễ overfit — đó là câu hỏi nghiên cứu cho Final. Toàn bộ kết quả tái lập được bằng một lệnh hoặc notebook Colab. Cảm ơn thầy/cô và các bạn đã lắng nghe.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731520" y="731520"/>
            <a:ext cx="10698480" cy="365760"/>
          </a:xfrm>
          <a:prstGeom prst="rect">
            <a:avLst/>
          </a:prstGeom>
          <a:noFill/>
          <a:ln/>
        </p:spPr>
        <p:txBody>
          <a:bodyPr wrap="square" lIns="0" tIns="0" rIns="0" bIns="0" rtlCol="0" anchor="ctr"/>
          <a:lstStyle/>
          <a:p>
            <a:pPr indent="0" marL="0">
              <a:buNone/>
            </a:pPr>
            <a:r>
              <a:rPr lang="en-US" sz="1400" b="1" spc="300" kern="0" dirty="0">
                <a:solidFill>
                  <a:srgbClr val="F2A541"/>
                </a:solidFill>
                <a:latin typeface="Calibri" pitchFamily="34" charset="0"/>
                <a:ea typeface="Calibri" pitchFamily="34" charset="-122"/>
                <a:cs typeface="Calibri" pitchFamily="34" charset="-120"/>
              </a:rPr>
              <a:t>ATI COURSE PROJECT 2026 · TRACK 2 · MIDTERM</a:t>
            </a:r>
            <a:endParaRPr lang="en-US" sz="1400" dirty="0"/>
          </a:p>
        </p:txBody>
      </p:sp>
      <p:sp>
        <p:nvSpPr>
          <p:cNvPr id="3" name="Text 1"/>
          <p:cNvSpPr txBox="1"/>
          <p:nvPr/>
        </p:nvSpPr>
        <p:spPr>
          <a:xfrm>
            <a:off x="731520" y="2057400"/>
            <a:ext cx="10698480" cy="1097280"/>
          </a:xfrm>
          <a:prstGeom prst="rect">
            <a:avLst/>
          </a:prstGeom>
          <a:noFill/>
          <a:ln/>
        </p:spPr>
        <p:txBody>
          <a:bodyPr wrap="square" lIns="0" tIns="0" rIns="0" bIns="0" rtlCol="0" anchor="ctr"/>
          <a:lstStyle/>
          <a:p>
            <a:pPr indent="0" marL="0">
              <a:buNone/>
            </a:pPr>
            <a:r>
              <a:rPr lang="en-US" sz="6000" b="1" dirty="0">
                <a:solidFill>
                  <a:srgbClr val="FBFBF8"/>
                </a:solidFill>
                <a:latin typeface="Cambria" pitchFamily="34" charset="0"/>
                <a:ea typeface="Cambria" pitchFamily="34" charset="-122"/>
                <a:cs typeface="Cambria" pitchFamily="34" charset="-120"/>
              </a:rPr>
              <a:t>ViGoEmotions</a:t>
            </a:r>
            <a:endParaRPr lang="en-US" sz="6000" dirty="0"/>
          </a:p>
        </p:txBody>
      </p:sp>
      <p:sp>
        <p:nvSpPr>
          <p:cNvPr id="4" name="Text 2"/>
          <p:cNvSpPr txBox="1"/>
          <p:nvPr/>
        </p:nvSpPr>
        <p:spPr>
          <a:xfrm>
            <a:off x="731520" y="3246120"/>
            <a:ext cx="9601200" cy="914400"/>
          </a:xfrm>
          <a:prstGeom prst="rect">
            <a:avLst/>
          </a:prstGeom>
          <a:noFill/>
          <a:ln/>
        </p:spPr>
        <p:txBody>
          <a:bodyPr wrap="square" lIns="0" tIns="0" rIns="0" bIns="0" rtlCol="0" anchor="ctr"/>
          <a:lstStyle/>
          <a:p>
            <a:pPr indent="0" marL="0">
              <a:buNone/>
            </a:pPr>
            <a:r>
              <a:rPr lang="en-US" sz="2400" dirty="0">
                <a:solidFill>
                  <a:srgbClr val="C9D3E3"/>
                </a:solidFill>
                <a:latin typeface="Calibri" pitchFamily="34" charset="0"/>
                <a:ea typeface="Calibri" pitchFamily="34" charset="-122"/>
                <a:cs typeface="Calibri" pitchFamily="34" charset="-120"/>
              </a:rPr>
              <a:t>Fine-grained multi-label emotion recognition for Vietnamese social-media comments</a:t>
            </a:r>
            <a:endParaRPr lang="en-US" sz="2400" dirty="0"/>
          </a:p>
        </p:txBody>
      </p:sp>
      <p:sp>
        <p:nvSpPr>
          <p:cNvPr id="5" name="Text 3"/>
          <p:cNvSpPr txBox="1"/>
          <p:nvPr/>
        </p:nvSpPr>
        <p:spPr>
          <a:xfrm>
            <a:off x="731520" y="5669280"/>
            <a:ext cx="7772400" cy="365760"/>
          </a:xfrm>
          <a:prstGeom prst="rect">
            <a:avLst/>
          </a:prstGeom>
          <a:noFill/>
          <a:ln/>
        </p:spPr>
        <p:txBody>
          <a:bodyPr wrap="square" lIns="0" tIns="0" rIns="0" bIns="0" rtlCol="0" anchor="ctr"/>
          <a:lstStyle/>
          <a:p>
            <a:pPr indent="0" marL="0">
              <a:buNone/>
            </a:pPr>
            <a:r>
              <a:rPr lang="en-US" sz="1600" dirty="0">
                <a:solidFill>
                  <a:srgbClr val="C9D3E3"/>
                </a:solidFill>
                <a:latin typeface="Calibri" pitchFamily="34" charset="0"/>
                <a:ea typeface="Calibri" pitchFamily="34" charset="-122"/>
                <a:cs typeface="Calibri" pitchFamily="34" charset="-120"/>
              </a:rPr>
              <a:t>[Team name] · [Member 1], [Member 2], [Member 3]</a:t>
            </a:r>
            <a:endParaRPr lang="en-US" sz="1600" dirty="0"/>
          </a:p>
        </p:txBody>
      </p:sp>
      <p:sp>
        <p:nvSpPr>
          <p:cNvPr id="6" name="Text 4"/>
          <p:cNvSpPr txBox="1"/>
          <p:nvPr/>
        </p:nvSpPr>
        <p:spPr>
          <a:xfrm>
            <a:off x="8686800" y="5669280"/>
            <a:ext cx="2770632" cy="365760"/>
          </a:xfrm>
          <a:prstGeom prst="rect">
            <a:avLst/>
          </a:prstGeom>
          <a:noFill/>
          <a:ln/>
        </p:spPr>
        <p:txBody>
          <a:bodyPr wrap="square" lIns="0" tIns="0" rIns="0" bIns="0" rtlCol="0" anchor="ctr"/>
          <a:lstStyle/>
          <a:p>
            <a:pPr algn="r" indent="0" marL="0">
              <a:buNone/>
            </a:pPr>
            <a:r>
              <a:rPr lang="en-US" sz="1400" dirty="0">
                <a:solidFill>
                  <a:srgbClr val="8FA0BA"/>
                </a:solidFill>
                <a:latin typeface="Calibri" pitchFamily="34" charset="0"/>
                <a:ea typeface="Calibri" pitchFamily="34" charset="-122"/>
                <a:cs typeface="Calibri" pitchFamily="34" charset="-120"/>
              </a:rPr>
              <a:t>[Presentation date]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BF8"/>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292608"/>
          </a:xfrm>
          <a:prstGeom prst="rect">
            <a:avLst/>
          </a:prstGeom>
          <a:noFill/>
          <a:ln/>
        </p:spPr>
        <p:txBody>
          <a:bodyPr wrap="square" lIns="0" tIns="0" rIns="0" bIns="0" rtlCol="0" anchor="ctr"/>
          <a:lstStyle/>
          <a:p>
            <a:pPr indent="0" marL="0">
              <a:buNone/>
            </a:pPr>
            <a:r>
              <a:rPr lang="en-US" sz="1200" b="1" spc="200" kern="0" dirty="0">
                <a:solidFill>
                  <a:srgbClr val="C4650F"/>
                </a:solidFill>
                <a:latin typeface="Calibri" pitchFamily="34" charset="0"/>
                <a:ea typeface="Calibri" pitchFamily="34" charset="-122"/>
                <a:cs typeface="Calibri" pitchFamily="34" charset="-120"/>
              </a:rPr>
              <a:t>THE TASK</a:t>
            </a:r>
            <a:endParaRPr lang="en-US" sz="1200" dirty="0"/>
          </a:p>
        </p:txBody>
      </p:sp>
      <p:sp>
        <p:nvSpPr>
          <p:cNvPr id="3" name="Text 1"/>
          <p:cNvSpPr txBox="1"/>
          <p:nvPr/>
        </p:nvSpPr>
        <p:spPr>
          <a:xfrm>
            <a:off x="548640" y="658368"/>
            <a:ext cx="11094415" cy="731520"/>
          </a:xfrm>
          <a:prstGeom prst="rect">
            <a:avLst/>
          </a:prstGeom>
          <a:noFill/>
          <a:ln/>
        </p:spPr>
        <p:txBody>
          <a:bodyPr wrap="square" lIns="0" tIns="0" rIns="0" bIns="0" rtlCol="0" anchor="t"/>
          <a:lstStyle/>
          <a:p>
            <a:pPr indent="0" marL="0">
              <a:buNone/>
            </a:pPr>
            <a:r>
              <a:rPr lang="en-US" sz="2800" b="1" dirty="0">
                <a:solidFill>
                  <a:srgbClr val="14213D"/>
                </a:solidFill>
                <a:latin typeface="Cambria" pitchFamily="34" charset="0"/>
                <a:ea typeface="Cambria" pitchFamily="34" charset="-122"/>
                <a:cs typeface="Cambria" pitchFamily="34" charset="-120"/>
              </a:rPr>
              <a:t>One comment can carry several emotions at once</a:t>
            </a:r>
            <a:endParaRPr lang="en-US" sz="2800" dirty="0"/>
          </a:p>
        </p:txBody>
      </p:sp>
      <p:sp>
        <p:nvSpPr>
          <p:cNvPr id="4" name="Shape 2"/>
          <p:cNvSpPr/>
          <p:nvPr/>
        </p:nvSpPr>
        <p:spPr>
          <a:xfrm>
            <a:off x="548640" y="1600200"/>
            <a:ext cx="5394960" cy="4480560"/>
          </a:xfrm>
          <a:prstGeom prst="roundRect">
            <a:avLst>
              <a:gd name="adj" fmla="val 2449"/>
            </a:avLst>
          </a:prstGeom>
          <a:solidFill>
            <a:srgbClr val="FFFFFF"/>
          </a:solidFill>
          <a:ln w="9525">
            <a:solidFill>
              <a:srgbClr val="D5DCE5"/>
            </a:solidFill>
            <a:prstDash val="solid"/>
          </a:ln>
        </p:spPr>
      </p:sp>
      <p:sp>
        <p:nvSpPr>
          <p:cNvPr id="5" name="Text 3"/>
          <p:cNvSpPr txBox="1"/>
          <p:nvPr/>
        </p:nvSpPr>
        <p:spPr>
          <a:xfrm>
            <a:off x="868680" y="1874520"/>
            <a:ext cx="4754880" cy="274320"/>
          </a:xfrm>
          <a:prstGeom prst="rect">
            <a:avLst/>
          </a:prstGeom>
          <a:noFill/>
          <a:ln/>
        </p:spPr>
        <p:txBody>
          <a:bodyPr wrap="square" lIns="0" tIns="0" rIns="0" bIns="0" rtlCol="0" anchor="t"/>
          <a:lstStyle/>
          <a:p>
            <a:pPr indent="0" marL="0">
              <a:spcAft>
                <a:spcPts val="400"/>
              </a:spcAft>
              <a:buNone/>
            </a:pPr>
            <a:r>
              <a:rPr lang="en-US" sz="1100" spc="100" kern="0" dirty="0">
                <a:solidFill>
                  <a:srgbClr val="6B7688"/>
                </a:solidFill>
                <a:latin typeface="Calibri" pitchFamily="34" charset="0"/>
                <a:ea typeface="Calibri" pitchFamily="34" charset="-122"/>
                <a:cs typeface="Calibri" pitchFamily="34" charset="-120"/>
              </a:rPr>
              <a:t>ILLUSTRATIVE COMMENT (NOT FROM THE DATASET)</a:t>
            </a:r>
            <a:endParaRPr lang="en-US" sz="1100" dirty="0"/>
          </a:p>
        </p:txBody>
      </p:sp>
      <p:sp>
        <p:nvSpPr>
          <p:cNvPr id="6" name="Text 4"/>
          <p:cNvSpPr txBox="1"/>
          <p:nvPr/>
        </p:nvSpPr>
        <p:spPr>
          <a:xfrm>
            <a:off x="868680" y="2286000"/>
            <a:ext cx="4754880" cy="1554480"/>
          </a:xfrm>
          <a:prstGeom prst="rect">
            <a:avLst/>
          </a:prstGeom>
          <a:noFill/>
          <a:ln/>
        </p:spPr>
        <p:txBody>
          <a:bodyPr wrap="square" lIns="0" tIns="0" rIns="0" bIns="0" rtlCol="0" anchor="t"/>
          <a:lstStyle/>
          <a:p>
            <a:pPr indent="0" marL="0">
              <a:buNone/>
            </a:pPr>
            <a:r>
              <a:rPr lang="en-US" sz="2600" i="1" dirty="0">
                <a:solidFill>
                  <a:srgbClr val="14213D"/>
                </a:solidFill>
                <a:latin typeface="Calibri" pitchFamily="34" charset="0"/>
                <a:ea typeface="Calibri" pitchFamily="34" charset="-122"/>
                <a:cs typeface="Calibri" pitchFamily="34" charset="-120"/>
              </a:rPr>
              <a:t>“Đọc xong muốn khóc luôn 😭 thương ông bà quá”</a:t>
            </a:r>
            <a:endParaRPr lang="en-US" sz="2600" dirty="0"/>
          </a:p>
        </p:txBody>
      </p:sp>
      <p:sp>
        <p:nvSpPr>
          <p:cNvPr id="7" name="Shape 5"/>
          <p:cNvSpPr/>
          <p:nvPr/>
        </p:nvSpPr>
        <p:spPr>
          <a:xfrm>
            <a:off x="868680" y="4160520"/>
            <a:ext cx="1325880" cy="457200"/>
          </a:xfrm>
          <a:prstGeom prst="roundRect">
            <a:avLst>
              <a:gd name="adj" fmla="val 50000"/>
            </a:avLst>
          </a:prstGeom>
          <a:solidFill>
            <a:srgbClr val="DCE8FB"/>
          </a:solidFill>
          <a:ln w="12700">
            <a:solidFill>
              <a:srgbClr val="DCE8FB"/>
            </a:solidFill>
            <a:prstDash val="solid"/>
          </a:ln>
        </p:spPr>
      </p:sp>
      <p:sp>
        <p:nvSpPr>
          <p:cNvPr id="8" name="Text 6"/>
          <p:cNvSpPr txBox="1"/>
          <p:nvPr/>
        </p:nvSpPr>
        <p:spPr>
          <a:xfrm>
            <a:off x="868680" y="4160520"/>
            <a:ext cx="1325880" cy="457200"/>
          </a:xfrm>
          <a:prstGeom prst="rect">
            <a:avLst/>
          </a:prstGeom>
          <a:noFill/>
          <a:ln/>
        </p:spPr>
        <p:txBody>
          <a:bodyPr wrap="square" lIns="0" tIns="0" rIns="0" bIns="0" rtlCol="0" anchor="ctr"/>
          <a:lstStyle/>
          <a:p>
            <a:pPr algn="ctr" indent="0" marL="0">
              <a:buNone/>
            </a:pPr>
            <a:r>
              <a:rPr lang="en-US" sz="1500" dirty="0">
                <a:solidFill>
                  <a:srgbClr val="1B4FA8"/>
                </a:solidFill>
                <a:latin typeface="Calibri" pitchFamily="34" charset="0"/>
                <a:ea typeface="Calibri" pitchFamily="34" charset="-122"/>
                <a:cs typeface="Calibri" pitchFamily="34" charset="-120"/>
              </a:rPr>
              <a:t>sadness</a:t>
            </a:r>
            <a:endParaRPr lang="en-US" sz="1500" dirty="0"/>
          </a:p>
        </p:txBody>
      </p:sp>
      <p:sp>
        <p:nvSpPr>
          <p:cNvPr id="9" name="Shape 7"/>
          <p:cNvSpPr/>
          <p:nvPr/>
        </p:nvSpPr>
        <p:spPr>
          <a:xfrm>
            <a:off x="2331720" y="4160520"/>
            <a:ext cx="960120" cy="457200"/>
          </a:xfrm>
          <a:prstGeom prst="roundRect">
            <a:avLst>
              <a:gd name="adj" fmla="val 50000"/>
            </a:avLst>
          </a:prstGeom>
          <a:solidFill>
            <a:srgbClr val="DCE8FB"/>
          </a:solidFill>
          <a:ln w="12700">
            <a:solidFill>
              <a:srgbClr val="DCE8FB"/>
            </a:solidFill>
            <a:prstDash val="solid"/>
          </a:ln>
        </p:spPr>
      </p:sp>
      <p:sp>
        <p:nvSpPr>
          <p:cNvPr id="10" name="Text 8"/>
          <p:cNvSpPr txBox="1"/>
          <p:nvPr/>
        </p:nvSpPr>
        <p:spPr>
          <a:xfrm>
            <a:off x="2331720" y="4160520"/>
            <a:ext cx="960120" cy="457200"/>
          </a:xfrm>
          <a:prstGeom prst="rect">
            <a:avLst/>
          </a:prstGeom>
          <a:noFill/>
          <a:ln/>
        </p:spPr>
        <p:txBody>
          <a:bodyPr wrap="square" lIns="0" tIns="0" rIns="0" bIns="0" rtlCol="0" anchor="ctr"/>
          <a:lstStyle/>
          <a:p>
            <a:pPr algn="ctr" indent="0" marL="0">
              <a:buNone/>
            </a:pPr>
            <a:r>
              <a:rPr lang="en-US" sz="1500" dirty="0">
                <a:solidFill>
                  <a:srgbClr val="1B4FA8"/>
                </a:solidFill>
                <a:latin typeface="Calibri" pitchFamily="34" charset="0"/>
                <a:ea typeface="Calibri" pitchFamily="34" charset="-122"/>
                <a:cs typeface="Calibri" pitchFamily="34" charset="-120"/>
              </a:rPr>
              <a:t>love</a:t>
            </a:r>
            <a:endParaRPr lang="en-US" sz="1500" dirty="0"/>
          </a:p>
        </p:txBody>
      </p:sp>
      <p:sp>
        <p:nvSpPr>
          <p:cNvPr id="11" name="Shape 9"/>
          <p:cNvSpPr/>
          <p:nvPr/>
        </p:nvSpPr>
        <p:spPr>
          <a:xfrm>
            <a:off x="3429000" y="4160520"/>
            <a:ext cx="1188720" cy="457200"/>
          </a:xfrm>
          <a:prstGeom prst="roundRect">
            <a:avLst>
              <a:gd name="adj" fmla="val 50000"/>
            </a:avLst>
          </a:prstGeom>
          <a:solidFill>
            <a:srgbClr val="DCE8FB"/>
          </a:solidFill>
          <a:ln w="12700">
            <a:solidFill>
              <a:srgbClr val="DCE8FB"/>
            </a:solidFill>
            <a:prstDash val="solid"/>
          </a:ln>
        </p:spPr>
      </p:sp>
      <p:sp>
        <p:nvSpPr>
          <p:cNvPr id="12" name="Text 10"/>
          <p:cNvSpPr txBox="1"/>
          <p:nvPr/>
        </p:nvSpPr>
        <p:spPr>
          <a:xfrm>
            <a:off x="3429000" y="4160520"/>
            <a:ext cx="1188720" cy="457200"/>
          </a:xfrm>
          <a:prstGeom prst="rect">
            <a:avLst/>
          </a:prstGeom>
          <a:noFill/>
          <a:ln/>
        </p:spPr>
        <p:txBody>
          <a:bodyPr wrap="square" lIns="0" tIns="0" rIns="0" bIns="0" rtlCol="0" anchor="ctr"/>
          <a:lstStyle/>
          <a:p>
            <a:pPr algn="ctr" indent="0" marL="0">
              <a:buNone/>
            </a:pPr>
            <a:r>
              <a:rPr lang="en-US" sz="1500" dirty="0">
                <a:solidFill>
                  <a:srgbClr val="1B4FA8"/>
                </a:solidFill>
                <a:latin typeface="Calibri" pitchFamily="34" charset="0"/>
                <a:ea typeface="Calibri" pitchFamily="34" charset="-122"/>
                <a:cs typeface="Calibri" pitchFamily="34" charset="-120"/>
              </a:rPr>
              <a:t>caring</a:t>
            </a:r>
            <a:endParaRPr lang="en-US" sz="1500" dirty="0"/>
          </a:p>
        </p:txBody>
      </p:sp>
      <p:sp>
        <p:nvSpPr>
          <p:cNvPr id="13" name="Text 11"/>
          <p:cNvSpPr txBox="1"/>
          <p:nvPr/>
        </p:nvSpPr>
        <p:spPr>
          <a:xfrm>
            <a:off x="868680" y="4892040"/>
            <a:ext cx="4754880" cy="822960"/>
          </a:xfrm>
          <a:prstGeom prst="rect">
            <a:avLst/>
          </a:prstGeom>
          <a:noFill/>
          <a:ln/>
        </p:spPr>
        <p:txBody>
          <a:bodyPr wrap="square" lIns="0" tIns="0" rIns="0" bIns="0" rtlCol="0" anchor="t"/>
          <a:lstStyle/>
          <a:p>
            <a:pPr indent="0" marL="0">
              <a:spcAft>
                <a:spcPts val="400"/>
              </a:spcAft>
              <a:buNone/>
            </a:pPr>
            <a:r>
              <a:rPr lang="en-US" sz="1300" dirty="0">
                <a:solidFill>
                  <a:srgbClr val="6B7688"/>
                </a:solidFill>
                <a:latin typeface="Calibri" pitchFamily="34" charset="0"/>
                <a:ea typeface="Calibri" pitchFamily="34" charset="-122"/>
                <a:cs typeface="Calibri" pitchFamily="34" charset="-120"/>
              </a:rPr>
              <a:t>Three labels at once: the model makes 28 independent yes/no decisions.</a:t>
            </a:r>
            <a:endParaRPr lang="en-US" sz="1300" dirty="0"/>
          </a:p>
        </p:txBody>
      </p:sp>
      <p:sp>
        <p:nvSpPr>
          <p:cNvPr id="14" name="Text 12"/>
          <p:cNvSpPr txBox="1"/>
          <p:nvPr/>
        </p:nvSpPr>
        <p:spPr>
          <a:xfrm>
            <a:off x="6400800" y="1691640"/>
            <a:ext cx="5239512" cy="1188720"/>
          </a:xfrm>
          <a:prstGeom prst="rect">
            <a:avLst/>
          </a:prstGeom>
          <a:noFill/>
          <a:ln/>
        </p:spPr>
        <p:txBody>
          <a:bodyPr wrap="square" lIns="0" tIns="0" rIns="0" bIns="0" rtlCol="0" anchor="t"/>
          <a:lstStyle/>
          <a:p>
            <a:pPr indent="0" marL="0">
              <a:spcAft>
                <a:spcPts val="500"/>
              </a:spcAft>
              <a:buNone/>
            </a:pPr>
            <a:r>
              <a:rPr lang="en-US" sz="1700" b="1" dirty="0">
                <a:solidFill>
                  <a:srgbClr val="14213D"/>
                </a:solidFill>
                <a:latin typeface="Calibri" pitchFamily="34" charset="0"/>
                <a:ea typeface="Calibri" pitchFamily="34" charset="-122"/>
                <a:cs typeface="Calibri" pitchFamily="34" charset="-120"/>
              </a:rPr>
              <a:t>28 independent yes/no decisions</a:t>
            </a:r>
            <a:endParaRPr lang="en-US" sz="1700" dirty="0"/>
          </a:p>
          <a:p>
            <a:pPr indent="0" marL="0">
              <a:spcAft>
                <a:spcPts val="500"/>
              </a:spcAft>
              <a:buNone/>
            </a:pPr>
            <a:r>
              <a:rPr lang="en-US" sz="1400" dirty="0">
                <a:solidFill>
                  <a:srgbClr val="3D4A5C"/>
                </a:solidFill>
                <a:latin typeface="Calibri" pitchFamily="34" charset="0"/>
                <a:ea typeface="Calibri" pitchFamily="34" charset="-122"/>
                <a:cs typeface="Calibri" pitchFamily="34" charset="-120"/>
              </a:rPr>
              <a:t>27 GoEmotions categories + neutral; one sigmoid per label, never a softmax.</a:t>
            </a:r>
            <a:endParaRPr lang="en-US" sz="1700" dirty="0"/>
          </a:p>
        </p:txBody>
      </p:sp>
      <p:sp>
        <p:nvSpPr>
          <p:cNvPr id="15" name="Text 13"/>
          <p:cNvSpPr txBox="1"/>
          <p:nvPr/>
        </p:nvSpPr>
        <p:spPr>
          <a:xfrm>
            <a:off x="6400800" y="3063240"/>
            <a:ext cx="5239512" cy="1371600"/>
          </a:xfrm>
          <a:prstGeom prst="rect">
            <a:avLst/>
          </a:prstGeom>
          <a:noFill/>
          <a:ln/>
        </p:spPr>
        <p:txBody>
          <a:bodyPr wrap="square" lIns="0" tIns="0" rIns="0" bIns="0" rtlCol="0" anchor="t"/>
          <a:lstStyle/>
          <a:p>
            <a:pPr indent="0" marL="0">
              <a:spcAft>
                <a:spcPts val="500"/>
              </a:spcAft>
              <a:buNone/>
            </a:pPr>
            <a:r>
              <a:rPr lang="en-US" sz="1700" b="1" dirty="0">
                <a:solidFill>
                  <a:srgbClr val="14213D"/>
                </a:solidFill>
                <a:latin typeface="Calibri" pitchFamily="34" charset="0"/>
                <a:ea typeface="Calibri" pitchFamily="34" charset="-122"/>
                <a:cs typeface="Calibri" pitchFamily="34" charset="-120"/>
              </a:rPr>
              <a:t>Headline metrics: Macro-F1 and Micro-F1</a:t>
            </a:r>
            <a:endParaRPr lang="en-US" sz="1700" dirty="0"/>
          </a:p>
          <a:p>
            <a:pPr indent="0" marL="0">
              <a:spcAft>
                <a:spcPts val="500"/>
              </a:spcAft>
              <a:buNone/>
            </a:pPr>
            <a:r>
              <a:rPr lang="en-US" sz="1400" dirty="0">
                <a:solidFill>
                  <a:srgbClr val="3D4A5C"/>
                </a:solidFill>
                <a:latin typeface="Calibri" pitchFamily="34" charset="0"/>
                <a:ea typeface="Calibri" pitchFamily="34" charset="-122"/>
                <a:cs typeface="Calibri" pitchFamily="34" charset="-120"/>
              </a:rPr>
              <a:t>Exact-match accuracy punishes any partial miss across 28 labels, so it is reported but not ranked on.</a:t>
            </a:r>
            <a:endParaRPr lang="en-US" sz="1700" dirty="0"/>
          </a:p>
        </p:txBody>
      </p:sp>
      <p:sp>
        <p:nvSpPr>
          <p:cNvPr id="16" name="Text 14"/>
          <p:cNvSpPr txBox="1"/>
          <p:nvPr/>
        </p:nvSpPr>
        <p:spPr>
          <a:xfrm>
            <a:off x="6400800" y="4617720"/>
            <a:ext cx="5239512" cy="1188720"/>
          </a:xfrm>
          <a:prstGeom prst="rect">
            <a:avLst/>
          </a:prstGeom>
          <a:noFill/>
          <a:ln/>
        </p:spPr>
        <p:txBody>
          <a:bodyPr wrap="square" lIns="0" tIns="0" rIns="0" bIns="0" rtlCol="0" anchor="t"/>
          <a:lstStyle/>
          <a:p>
            <a:pPr indent="0" marL="0">
              <a:spcAft>
                <a:spcPts val="500"/>
              </a:spcAft>
              <a:buNone/>
            </a:pPr>
            <a:r>
              <a:rPr lang="en-US" sz="1700" b="1" dirty="0">
                <a:solidFill>
                  <a:srgbClr val="14213D"/>
                </a:solidFill>
                <a:latin typeface="Calibri" pitchFamily="34" charset="0"/>
                <a:ea typeface="Calibri" pitchFamily="34" charset="-122"/>
                <a:cs typeface="Calibri" pitchFamily="34" charset="-120"/>
              </a:rPr>
              <a:t>Informal Vietnamese</a:t>
            </a:r>
            <a:endParaRPr lang="en-US" sz="1700" dirty="0"/>
          </a:p>
          <a:p>
            <a:pPr indent="0" marL="0">
              <a:spcAft>
                <a:spcPts val="500"/>
              </a:spcAft>
              <a:buNone/>
            </a:pPr>
            <a:r>
              <a:rPr lang="en-US" sz="1400" dirty="0">
                <a:solidFill>
                  <a:srgbClr val="3D4A5C"/>
                </a:solidFill>
                <a:latin typeface="Calibri" pitchFamily="34" charset="0"/>
                <a:ea typeface="Calibri" pitchFamily="34" charset="-122"/>
                <a:cs typeface="Calibri" pitchFamily="34" charset="-120"/>
              </a:rPr>
              <a:t>Teencode, slang, emoji and emoticons carry much of the emotional signal.</a:t>
            </a:r>
            <a:endParaRPr lang="en-US" sz="1700" dirty="0"/>
          </a:p>
        </p:txBody>
      </p:sp>
      <p:sp>
        <p:nvSpPr>
          <p:cNvPr id="17" name="Text 15"/>
          <p:cNvSpPr txBox="1"/>
          <p:nvPr/>
        </p:nvSpPr>
        <p:spPr>
          <a:xfrm>
            <a:off x="548640" y="6400800"/>
            <a:ext cx="9875520" cy="274320"/>
          </a:xfrm>
          <a:prstGeom prst="rect">
            <a:avLst/>
          </a:prstGeom>
          <a:noFill/>
          <a:ln/>
        </p:spPr>
        <p:txBody>
          <a:bodyPr wrap="square" lIns="0" tIns="0" rIns="0" bIns="0" rtlCol="0" anchor="ctr"/>
          <a:lstStyle/>
          <a:p>
            <a:pPr indent="0" marL="0">
              <a:buNone/>
            </a:pPr>
            <a:r>
              <a:rPr lang="en-US" sz="1000" dirty="0">
                <a:solidFill>
                  <a:srgbClr val="6B7688"/>
                </a:solidFill>
                <a:latin typeface="Calibri" pitchFamily="34" charset="0"/>
                <a:ea typeface="Calibri" pitchFamily="34" charset="-122"/>
                <a:cs typeface="Calibri" pitchFamily="34" charset="-120"/>
              </a:rPr>
              <a:t>ViGoEmotions · Midterm</a:t>
            </a:r>
            <a:endParaRPr lang="en-US" sz="1000" dirty="0"/>
          </a:p>
        </p:txBody>
      </p:sp>
      <p:sp>
        <p:nvSpPr>
          <p:cNvPr id="18" name="Text 16"/>
          <p:cNvSpPr txBox="1"/>
          <p:nvPr/>
        </p:nvSpPr>
        <p:spPr>
          <a:xfrm>
            <a:off x="11094415" y="6400800"/>
            <a:ext cx="548640" cy="274320"/>
          </a:xfrm>
          <a:prstGeom prst="rect">
            <a:avLst/>
          </a:prstGeom>
          <a:noFill/>
          <a:ln/>
        </p:spPr>
        <p:txBody>
          <a:bodyPr wrap="square" lIns="0" tIns="0" rIns="0" bIns="0" rtlCol="0" anchor="ctr"/>
          <a:lstStyle/>
          <a:p>
            <a:pPr algn="r" indent="0" marL="0">
              <a:buNone/>
            </a:pPr>
            <a:r>
              <a:rPr lang="en-US" sz="1000" dirty="0">
                <a:solidFill>
                  <a:srgbClr val="6B7688"/>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BF8"/>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292608"/>
          </a:xfrm>
          <a:prstGeom prst="rect">
            <a:avLst/>
          </a:prstGeom>
          <a:noFill/>
          <a:ln/>
        </p:spPr>
        <p:txBody>
          <a:bodyPr wrap="square" lIns="0" tIns="0" rIns="0" bIns="0" rtlCol="0" anchor="ctr"/>
          <a:lstStyle/>
          <a:p>
            <a:pPr indent="0" marL="0">
              <a:buNone/>
            </a:pPr>
            <a:r>
              <a:rPr lang="en-US" sz="1200" b="1" spc="200" kern="0" dirty="0">
                <a:solidFill>
                  <a:srgbClr val="C4650F"/>
                </a:solidFill>
                <a:latin typeface="Calibri" pitchFamily="34" charset="0"/>
                <a:ea typeface="Calibri" pitchFamily="34" charset="-122"/>
                <a:cs typeface="Calibri" pitchFamily="34" charset="-120"/>
              </a:rPr>
              <a:t>DATASET AND ACCESS PROTOCOL</a:t>
            </a:r>
            <a:endParaRPr lang="en-US" sz="1200" dirty="0"/>
          </a:p>
        </p:txBody>
      </p:sp>
      <p:sp>
        <p:nvSpPr>
          <p:cNvPr id="3" name="Text 1"/>
          <p:cNvSpPr txBox="1"/>
          <p:nvPr/>
        </p:nvSpPr>
        <p:spPr>
          <a:xfrm>
            <a:off x="548640" y="658368"/>
            <a:ext cx="11094415" cy="731520"/>
          </a:xfrm>
          <a:prstGeom prst="rect">
            <a:avLst/>
          </a:prstGeom>
          <a:noFill/>
          <a:ln/>
        </p:spPr>
        <p:txBody>
          <a:bodyPr wrap="square" lIns="0" tIns="0" rIns="0" bIns="0" rtlCol="0" anchor="t"/>
          <a:lstStyle/>
          <a:p>
            <a:pPr indent="0" marL="0">
              <a:buNone/>
            </a:pPr>
            <a:r>
              <a:rPr lang="en-US" sz="2800" b="1" dirty="0">
                <a:solidFill>
                  <a:srgbClr val="14213D"/>
                </a:solidFill>
                <a:latin typeface="Cambria" pitchFamily="34" charset="0"/>
                <a:ea typeface="Cambria" pitchFamily="34" charset="-122"/>
                <a:cs typeface="Cambria" pitchFamily="34" charset="-120"/>
              </a:rPr>
              <a:t>20,664 comments from six platforms</a:t>
            </a:r>
            <a:endParaRPr lang="en-US" sz="2800" dirty="0"/>
          </a:p>
        </p:txBody>
      </p:sp>
      <p:sp>
        <p:nvSpPr>
          <p:cNvPr id="4" name="Shape 2"/>
          <p:cNvSpPr/>
          <p:nvPr/>
        </p:nvSpPr>
        <p:spPr>
          <a:xfrm>
            <a:off x="548640" y="1554480"/>
            <a:ext cx="2602154" cy="1417320"/>
          </a:xfrm>
          <a:prstGeom prst="roundRect">
            <a:avLst>
              <a:gd name="adj" fmla="val 7742"/>
            </a:avLst>
          </a:prstGeom>
          <a:solidFill>
            <a:srgbClr val="E7F0FC"/>
          </a:solidFill>
          <a:ln w="9525">
            <a:solidFill>
              <a:srgbClr val="E7F0FC"/>
            </a:solidFill>
            <a:prstDash val="solid"/>
          </a:ln>
        </p:spPr>
      </p:sp>
      <p:sp>
        <p:nvSpPr>
          <p:cNvPr id="5" name="Text 3"/>
          <p:cNvSpPr txBox="1"/>
          <p:nvPr/>
        </p:nvSpPr>
        <p:spPr>
          <a:xfrm>
            <a:off x="777240" y="1645920"/>
            <a:ext cx="2144954" cy="731520"/>
          </a:xfrm>
          <a:prstGeom prst="rect">
            <a:avLst/>
          </a:prstGeom>
          <a:noFill/>
          <a:ln/>
        </p:spPr>
        <p:txBody>
          <a:bodyPr wrap="square" lIns="0" tIns="0" rIns="0" bIns="0" rtlCol="0" anchor="ctr"/>
          <a:lstStyle/>
          <a:p>
            <a:pPr indent="0" marL="0">
              <a:buNone/>
            </a:pPr>
            <a:r>
              <a:rPr lang="en-US" sz="3600" b="1" dirty="0">
                <a:solidFill>
                  <a:srgbClr val="1B4FA8"/>
                </a:solidFill>
                <a:latin typeface="Cambria" pitchFamily="34" charset="0"/>
                <a:ea typeface="Cambria" pitchFamily="34" charset="-122"/>
                <a:cs typeface="Cambria" pitchFamily="34" charset="-120"/>
              </a:rPr>
              <a:t>20,664</a:t>
            </a:r>
            <a:endParaRPr lang="en-US" sz="3600" dirty="0"/>
          </a:p>
        </p:txBody>
      </p:sp>
      <p:sp>
        <p:nvSpPr>
          <p:cNvPr id="6" name="Text 4"/>
          <p:cNvSpPr txBox="1"/>
          <p:nvPr/>
        </p:nvSpPr>
        <p:spPr>
          <a:xfrm>
            <a:off x="777240" y="2395728"/>
            <a:ext cx="2144954" cy="457200"/>
          </a:xfrm>
          <a:prstGeom prst="rect">
            <a:avLst/>
          </a:prstGeom>
          <a:noFill/>
          <a:ln/>
        </p:spPr>
        <p:txBody>
          <a:bodyPr wrap="square" lIns="0" tIns="0" rIns="0" bIns="0" rtlCol="0" anchor="t"/>
          <a:lstStyle/>
          <a:p>
            <a:pPr indent="0" marL="0">
              <a:spcAft>
                <a:spcPts val="400"/>
              </a:spcAft>
              <a:buNone/>
            </a:pPr>
            <a:r>
              <a:rPr lang="en-US" sz="1300" dirty="0">
                <a:solidFill>
                  <a:srgbClr val="3D4A5C"/>
                </a:solidFill>
                <a:latin typeface="Calibri" pitchFamily="34" charset="0"/>
                <a:ea typeface="Calibri" pitchFamily="34" charset="-122"/>
                <a:cs typeface="Calibri" pitchFamily="34" charset="-120"/>
              </a:rPr>
              <a:t>comments (16,531 / 2,066 / 2,067)</a:t>
            </a:r>
            <a:endParaRPr lang="en-US" sz="1300" dirty="0"/>
          </a:p>
        </p:txBody>
      </p:sp>
      <p:sp>
        <p:nvSpPr>
          <p:cNvPr id="7" name="Shape 5"/>
          <p:cNvSpPr/>
          <p:nvPr/>
        </p:nvSpPr>
        <p:spPr>
          <a:xfrm>
            <a:off x="3379394" y="1554480"/>
            <a:ext cx="2602154" cy="1417320"/>
          </a:xfrm>
          <a:prstGeom prst="roundRect">
            <a:avLst>
              <a:gd name="adj" fmla="val 7742"/>
            </a:avLst>
          </a:prstGeom>
          <a:solidFill>
            <a:srgbClr val="E7F0FC"/>
          </a:solidFill>
          <a:ln w="9525">
            <a:solidFill>
              <a:srgbClr val="E7F0FC"/>
            </a:solidFill>
            <a:prstDash val="solid"/>
          </a:ln>
        </p:spPr>
      </p:sp>
      <p:sp>
        <p:nvSpPr>
          <p:cNvPr id="8" name="Text 6"/>
          <p:cNvSpPr txBox="1"/>
          <p:nvPr/>
        </p:nvSpPr>
        <p:spPr>
          <a:xfrm>
            <a:off x="3607994" y="1645920"/>
            <a:ext cx="2144954" cy="731520"/>
          </a:xfrm>
          <a:prstGeom prst="rect">
            <a:avLst/>
          </a:prstGeom>
          <a:noFill/>
          <a:ln/>
        </p:spPr>
        <p:txBody>
          <a:bodyPr wrap="square" lIns="0" tIns="0" rIns="0" bIns="0" rtlCol="0" anchor="ctr"/>
          <a:lstStyle/>
          <a:p>
            <a:pPr indent="0" marL="0">
              <a:buNone/>
            </a:pPr>
            <a:r>
              <a:rPr lang="en-US" sz="3600" b="1" dirty="0">
                <a:solidFill>
                  <a:srgbClr val="1B4FA8"/>
                </a:solidFill>
                <a:latin typeface="Cambria" pitchFamily="34" charset="0"/>
                <a:ea typeface="Cambria" pitchFamily="34" charset="-122"/>
                <a:cs typeface="Cambria" pitchFamily="34" charset="-120"/>
              </a:rPr>
              <a:t>28</a:t>
            </a:r>
            <a:endParaRPr lang="en-US" sz="3600" dirty="0"/>
          </a:p>
        </p:txBody>
      </p:sp>
      <p:sp>
        <p:nvSpPr>
          <p:cNvPr id="9" name="Text 7"/>
          <p:cNvSpPr txBox="1"/>
          <p:nvPr/>
        </p:nvSpPr>
        <p:spPr>
          <a:xfrm>
            <a:off x="3607994" y="2395728"/>
            <a:ext cx="2144954" cy="457200"/>
          </a:xfrm>
          <a:prstGeom prst="rect">
            <a:avLst/>
          </a:prstGeom>
          <a:noFill/>
          <a:ln/>
        </p:spPr>
        <p:txBody>
          <a:bodyPr wrap="square" lIns="0" tIns="0" rIns="0" bIns="0" rtlCol="0" anchor="t"/>
          <a:lstStyle/>
          <a:p>
            <a:pPr indent="0" marL="0">
              <a:spcAft>
                <a:spcPts val="400"/>
              </a:spcAft>
              <a:buNone/>
            </a:pPr>
            <a:r>
              <a:rPr lang="en-US" sz="1300" dirty="0">
                <a:solidFill>
                  <a:srgbClr val="3D4A5C"/>
                </a:solidFill>
                <a:latin typeface="Calibri" pitchFamily="34" charset="0"/>
                <a:ea typeface="Calibri" pitchFamily="34" charset="-122"/>
                <a:cs typeface="Calibri" pitchFamily="34" charset="-120"/>
              </a:rPr>
              <a:t>labels: 27 emotions + neutral</a:t>
            </a:r>
            <a:endParaRPr lang="en-US" sz="1300" dirty="0"/>
          </a:p>
        </p:txBody>
      </p:sp>
      <p:sp>
        <p:nvSpPr>
          <p:cNvPr id="10" name="Shape 8"/>
          <p:cNvSpPr/>
          <p:nvPr/>
        </p:nvSpPr>
        <p:spPr>
          <a:xfrm>
            <a:off x="6210148" y="1554480"/>
            <a:ext cx="2602154" cy="1417320"/>
          </a:xfrm>
          <a:prstGeom prst="roundRect">
            <a:avLst>
              <a:gd name="adj" fmla="val 7742"/>
            </a:avLst>
          </a:prstGeom>
          <a:solidFill>
            <a:srgbClr val="E7F0FC"/>
          </a:solidFill>
          <a:ln w="9525">
            <a:solidFill>
              <a:srgbClr val="E7F0FC"/>
            </a:solidFill>
            <a:prstDash val="solid"/>
          </a:ln>
        </p:spPr>
      </p:sp>
      <p:sp>
        <p:nvSpPr>
          <p:cNvPr id="11" name="Text 9"/>
          <p:cNvSpPr txBox="1"/>
          <p:nvPr/>
        </p:nvSpPr>
        <p:spPr>
          <a:xfrm>
            <a:off x="6438748" y="1645920"/>
            <a:ext cx="2144954" cy="731520"/>
          </a:xfrm>
          <a:prstGeom prst="rect">
            <a:avLst/>
          </a:prstGeom>
          <a:noFill/>
          <a:ln/>
        </p:spPr>
        <p:txBody>
          <a:bodyPr wrap="square" lIns="0" tIns="0" rIns="0" bIns="0" rtlCol="0" anchor="ctr"/>
          <a:lstStyle/>
          <a:p>
            <a:pPr indent="0" marL="0">
              <a:buNone/>
            </a:pPr>
            <a:r>
              <a:rPr lang="en-US" sz="3600" b="1" dirty="0">
                <a:solidFill>
                  <a:srgbClr val="1B4FA8"/>
                </a:solidFill>
                <a:latin typeface="Cambria" pitchFamily="34" charset="0"/>
                <a:ea typeface="Cambria" pitchFamily="34" charset="-122"/>
                <a:cs typeface="Cambria" pitchFamily="34" charset="-120"/>
              </a:rPr>
              <a:t>1.91</a:t>
            </a:r>
            <a:endParaRPr lang="en-US" sz="3600" dirty="0"/>
          </a:p>
        </p:txBody>
      </p:sp>
      <p:sp>
        <p:nvSpPr>
          <p:cNvPr id="12" name="Text 10"/>
          <p:cNvSpPr txBox="1"/>
          <p:nvPr/>
        </p:nvSpPr>
        <p:spPr>
          <a:xfrm>
            <a:off x="6438748" y="2395728"/>
            <a:ext cx="2144954" cy="457200"/>
          </a:xfrm>
          <a:prstGeom prst="rect">
            <a:avLst/>
          </a:prstGeom>
          <a:noFill/>
          <a:ln/>
        </p:spPr>
        <p:txBody>
          <a:bodyPr wrap="square" lIns="0" tIns="0" rIns="0" bIns="0" rtlCol="0" anchor="t"/>
          <a:lstStyle/>
          <a:p>
            <a:pPr indent="0" marL="0">
              <a:spcAft>
                <a:spcPts val="400"/>
              </a:spcAft>
              <a:buNone/>
            </a:pPr>
            <a:r>
              <a:rPr lang="en-US" sz="1300" dirty="0">
                <a:solidFill>
                  <a:srgbClr val="3D4A5C"/>
                </a:solidFill>
                <a:latin typeface="Calibri" pitchFamily="34" charset="0"/>
                <a:ea typeface="Calibri" pitchFamily="34" charset="-122"/>
                <a:cs typeface="Calibri" pitchFamily="34" charset="-120"/>
              </a:rPr>
              <a:t>labels per comment on average</a:t>
            </a:r>
            <a:endParaRPr lang="en-US" sz="1300" dirty="0"/>
          </a:p>
        </p:txBody>
      </p:sp>
      <p:sp>
        <p:nvSpPr>
          <p:cNvPr id="13" name="Shape 11"/>
          <p:cNvSpPr/>
          <p:nvPr/>
        </p:nvSpPr>
        <p:spPr>
          <a:xfrm>
            <a:off x="9040901" y="1554480"/>
            <a:ext cx="2602154" cy="1417320"/>
          </a:xfrm>
          <a:prstGeom prst="roundRect">
            <a:avLst>
              <a:gd name="adj" fmla="val 7742"/>
            </a:avLst>
          </a:prstGeom>
          <a:solidFill>
            <a:srgbClr val="E7F0FC"/>
          </a:solidFill>
          <a:ln w="9525">
            <a:solidFill>
              <a:srgbClr val="E7F0FC"/>
            </a:solidFill>
            <a:prstDash val="solid"/>
          </a:ln>
        </p:spPr>
      </p:sp>
      <p:sp>
        <p:nvSpPr>
          <p:cNvPr id="14" name="Text 12"/>
          <p:cNvSpPr txBox="1"/>
          <p:nvPr/>
        </p:nvSpPr>
        <p:spPr>
          <a:xfrm>
            <a:off x="9269501" y="1645920"/>
            <a:ext cx="2144954" cy="731520"/>
          </a:xfrm>
          <a:prstGeom prst="rect">
            <a:avLst/>
          </a:prstGeom>
          <a:noFill/>
          <a:ln/>
        </p:spPr>
        <p:txBody>
          <a:bodyPr wrap="square" lIns="0" tIns="0" rIns="0" bIns="0" rtlCol="0" anchor="ctr"/>
          <a:lstStyle/>
          <a:p>
            <a:pPr indent="0" marL="0">
              <a:buNone/>
            </a:pPr>
            <a:r>
              <a:rPr lang="en-US" sz="3600" b="1" dirty="0">
                <a:solidFill>
                  <a:srgbClr val="1B4FA8"/>
                </a:solidFill>
                <a:latin typeface="Cambria" pitchFamily="34" charset="0"/>
                <a:ea typeface="Cambria" pitchFamily="34" charset="-122"/>
                <a:cs typeface="Cambria" pitchFamily="34" charset="-120"/>
              </a:rPr>
              <a:t>1,485</a:t>
            </a:r>
            <a:endParaRPr lang="en-US" sz="3600" dirty="0"/>
          </a:p>
        </p:txBody>
      </p:sp>
      <p:sp>
        <p:nvSpPr>
          <p:cNvPr id="15" name="Text 13"/>
          <p:cNvSpPr txBox="1"/>
          <p:nvPr/>
        </p:nvSpPr>
        <p:spPr>
          <a:xfrm>
            <a:off x="9269501" y="2395728"/>
            <a:ext cx="2144954" cy="457200"/>
          </a:xfrm>
          <a:prstGeom prst="rect">
            <a:avLst/>
          </a:prstGeom>
          <a:noFill/>
          <a:ln/>
        </p:spPr>
        <p:txBody>
          <a:bodyPr wrap="square" lIns="0" tIns="0" rIns="0" bIns="0" rtlCol="0" anchor="t"/>
          <a:lstStyle/>
          <a:p>
            <a:pPr indent="0" marL="0">
              <a:spcAft>
                <a:spcPts val="400"/>
              </a:spcAft>
              <a:buNone/>
            </a:pPr>
            <a:r>
              <a:rPr lang="en-US" sz="1300" dirty="0">
                <a:solidFill>
                  <a:srgbClr val="3D4A5C"/>
                </a:solidFill>
                <a:latin typeface="Calibri" pitchFamily="34" charset="0"/>
                <a:ea typeface="Calibri" pitchFamily="34" charset="-122"/>
                <a:cs typeface="Calibri" pitchFamily="34" charset="-120"/>
              </a:rPr>
              <a:t>distinct label combinations</a:t>
            </a:r>
            <a:endParaRPr lang="en-US" sz="13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3291840"/>
          <a:ext cx="5852160" cy="914400"/>
        </p:xfrm>
        <a:graphic>
          <a:graphicData uri="http://schemas.openxmlformats.org/drawingml/2006/table">
            <a:tbl>
              <a:tblPr/>
              <a:tblGrid>
                <a:gridCol w="3453734"/>
                <a:gridCol w="1343119"/>
                <a:gridCol w="1055308"/>
              </a:tblGrid>
              <a:tr h="0">
                <a:tc>
                  <a:txBody>
                    <a:bodyPr/>
                    <a:lstStyle/>
                    <a:p>
                      <a:pPr algn="l" indent="0" marL="0">
                        <a:buNone/>
                      </a:pPr>
                      <a:r>
                        <a:rPr lang="en-US" sz="1300" b="1" dirty="0">
                          <a:solidFill>
                            <a:srgbClr val="14213D"/>
                          </a:solidFill>
                          <a:latin typeface="Calibri" pitchFamily="34" charset="0"/>
                          <a:ea typeface="Calibri" pitchFamily="34" charset="-122"/>
                          <a:cs typeface="Calibri" pitchFamily="34" charset="-120"/>
                        </a:rPr>
                        <a:t>Source (from sample id)</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DCE8FB"/>
                    </a:solidFill>
                  </a:tcPr>
                </a:tc>
                <a:tc>
                  <a:txBody>
                    <a:bodyPr/>
                    <a:lstStyle/>
                    <a:p>
                      <a:pPr algn="r" indent="0" marL="0">
                        <a:buNone/>
                      </a:pPr>
                      <a:r>
                        <a:rPr lang="en-US" sz="1300" b="1" dirty="0">
                          <a:solidFill>
                            <a:srgbClr val="14213D"/>
                          </a:solidFill>
                          <a:latin typeface="Calibri" pitchFamily="34" charset="0"/>
                          <a:ea typeface="Calibri" pitchFamily="34" charset="-122"/>
                          <a:cs typeface="Calibri" pitchFamily="34" charset="-120"/>
                        </a:rPr>
                        <a:t>Comments</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DCE8FB"/>
                    </a:solidFill>
                  </a:tcPr>
                </a:tc>
                <a:tc>
                  <a:txBody>
                    <a:bodyPr/>
                    <a:lstStyle/>
                    <a:p>
                      <a:pPr algn="r" indent="0" marL="0">
                        <a:buNone/>
                      </a:pPr>
                      <a:r>
                        <a:rPr lang="en-US" sz="1300" b="1" dirty="0">
                          <a:solidFill>
                            <a:srgbClr val="14213D"/>
                          </a:solidFill>
                          <a:latin typeface="Calibri" pitchFamily="34" charset="0"/>
                          <a:ea typeface="Calibri" pitchFamily="34" charset="-122"/>
                          <a:cs typeface="Calibri" pitchFamily="34" charset="-120"/>
                        </a:rPr>
                        <a:t>Share</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DCE8FB"/>
                    </a:solidFill>
                  </a:tcPr>
                </a:tc>
              </a:tr>
              <a:tr h="0">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Facebook (numeric id, incl. UIT-VSMEC)</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13,444</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65.1%</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r>
              <a:tr h="0">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TikTok</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5F7FA"/>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4,508</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5F7FA"/>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21.8%</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5F7FA"/>
                    </a:solidFill>
                  </a:tcPr>
                </a:tc>
              </a:tr>
              <a:tr h="0">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YouTube</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1,960</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9.5%</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r>
              <a:tr h="0">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X · Reddit · Threads</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5F7FA"/>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752</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5F7FA"/>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3.6%</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5F7FA"/>
                    </a:solidFill>
                  </a:tcPr>
                </a:tc>
              </a:tr>
            </a:tbl>
          </a:graphicData>
        </a:graphic>
      </p:graphicFrame>
      <p:sp>
        <p:nvSpPr>
          <p:cNvPr id="17" name="Shape 14"/>
          <p:cNvSpPr/>
          <p:nvPr/>
        </p:nvSpPr>
        <p:spPr>
          <a:xfrm>
            <a:off x="6720840" y="3291840"/>
            <a:ext cx="4922215" cy="2514600"/>
          </a:xfrm>
          <a:prstGeom prst="roundRect">
            <a:avLst>
              <a:gd name="adj" fmla="val 4364"/>
            </a:avLst>
          </a:prstGeom>
          <a:solidFill>
            <a:srgbClr val="FFF4E8"/>
          </a:solidFill>
          <a:ln w="9525">
            <a:solidFill>
              <a:srgbClr val="FFF4E8"/>
            </a:solidFill>
            <a:prstDash val="solid"/>
          </a:ln>
        </p:spPr>
      </p:sp>
      <p:sp>
        <p:nvSpPr>
          <p:cNvPr id="18" name="Text 15"/>
          <p:cNvSpPr txBox="1"/>
          <p:nvPr/>
        </p:nvSpPr>
        <p:spPr>
          <a:xfrm>
            <a:off x="6995160" y="3520440"/>
            <a:ext cx="4373575" cy="2103120"/>
          </a:xfrm>
          <a:prstGeom prst="rect">
            <a:avLst/>
          </a:prstGeom>
          <a:noFill/>
          <a:ln/>
        </p:spPr>
        <p:txBody>
          <a:bodyPr wrap="square" lIns="0" tIns="0" rIns="0" bIns="0" rtlCol="0" anchor="t"/>
          <a:lstStyle/>
          <a:p>
            <a:pPr indent="0" marL="0">
              <a:spcAft>
                <a:spcPts val="500"/>
              </a:spcAft>
              <a:buNone/>
            </a:pPr>
            <a:r>
              <a:rPr lang="en-US" sz="1700" b="1" dirty="0">
                <a:solidFill>
                  <a:srgbClr val="8A4508"/>
                </a:solidFill>
                <a:latin typeface="Calibri" pitchFamily="34" charset="0"/>
                <a:ea typeface="Calibri" pitchFamily="34" charset="-122"/>
                <a:cs typeface="Calibri" pitchFamily="34" charset="-120"/>
              </a:rPr>
              <a:t>Licence and access</a:t>
            </a:r>
            <a:endParaRPr lang="en-US" sz="1700" dirty="0"/>
          </a:p>
          <a:p>
            <a:pPr indent="0" marL="0">
              <a:spcAft>
                <a:spcPts val="500"/>
              </a:spcAft>
              <a:buNone/>
            </a:pPr>
            <a:r>
              <a:rPr lang="en-US" sz="1400" dirty="0">
                <a:solidFill>
                  <a:srgbClr val="3D4A5C"/>
                </a:solidFill>
                <a:latin typeface="Calibri" pitchFamily="34" charset="0"/>
                <a:ea typeface="Calibri" pitchFamily="34" charset="-122"/>
                <a:cs typeface="Calibri" pitchFamily="34" charset="-120"/>
              </a:rPr>
              <a:t>Gated Hugging Face dataset uitnlp/vigoemotions (Hung et al., EACL 2026). Non-commercial research only, no redistribution: our repository holds code, split ids, aggregates and probabilities — never raw comments.</a:t>
            </a:r>
            <a:endParaRPr lang="en-US" sz="1700" dirty="0"/>
          </a:p>
        </p:txBody>
      </p:sp>
      <p:sp>
        <p:nvSpPr>
          <p:cNvPr id="19" name="Text 16"/>
          <p:cNvSpPr txBox="1"/>
          <p:nvPr/>
        </p:nvSpPr>
        <p:spPr>
          <a:xfrm>
            <a:off x="548640" y="6400800"/>
            <a:ext cx="9875520" cy="274320"/>
          </a:xfrm>
          <a:prstGeom prst="rect">
            <a:avLst/>
          </a:prstGeom>
          <a:noFill/>
          <a:ln/>
        </p:spPr>
        <p:txBody>
          <a:bodyPr wrap="square" lIns="0" tIns="0" rIns="0" bIns="0" rtlCol="0" anchor="ctr"/>
          <a:lstStyle/>
          <a:p>
            <a:pPr indent="0" marL="0">
              <a:buNone/>
            </a:pPr>
            <a:r>
              <a:rPr lang="en-US" sz="1000" dirty="0">
                <a:solidFill>
                  <a:srgbClr val="6B7688"/>
                </a:solidFill>
                <a:latin typeface="Calibri" pitchFamily="34" charset="0"/>
                <a:ea typeface="Calibri" pitchFamily="34" charset="-122"/>
                <a:cs typeface="Calibri" pitchFamily="34" charset="-120"/>
              </a:rPr>
              <a:t>ViGoEmotions · Midterm · results/tables/dataset_summary.csv, source_distribution.csv</a:t>
            </a:r>
            <a:endParaRPr lang="en-US" sz="1000" dirty="0"/>
          </a:p>
        </p:txBody>
      </p:sp>
      <p:sp>
        <p:nvSpPr>
          <p:cNvPr id="20" name="Text 17"/>
          <p:cNvSpPr txBox="1"/>
          <p:nvPr/>
        </p:nvSpPr>
        <p:spPr>
          <a:xfrm>
            <a:off x="11094415" y="6400800"/>
            <a:ext cx="548640" cy="274320"/>
          </a:xfrm>
          <a:prstGeom prst="rect">
            <a:avLst/>
          </a:prstGeom>
          <a:noFill/>
          <a:ln/>
        </p:spPr>
        <p:txBody>
          <a:bodyPr wrap="square" lIns="0" tIns="0" rIns="0" bIns="0" rtlCol="0" anchor="ctr"/>
          <a:lstStyle/>
          <a:p>
            <a:pPr algn="r" indent="0" marL="0">
              <a:buNone/>
            </a:pPr>
            <a:r>
              <a:rPr lang="en-US" sz="1000" dirty="0">
                <a:solidFill>
                  <a:srgbClr val="6B7688"/>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BF8"/>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292608"/>
          </a:xfrm>
          <a:prstGeom prst="rect">
            <a:avLst/>
          </a:prstGeom>
          <a:noFill/>
          <a:ln/>
        </p:spPr>
        <p:txBody>
          <a:bodyPr wrap="square" lIns="0" tIns="0" rIns="0" bIns="0" rtlCol="0" anchor="ctr"/>
          <a:lstStyle/>
          <a:p>
            <a:pPr indent="0" marL="0">
              <a:buNone/>
            </a:pPr>
            <a:r>
              <a:rPr lang="en-US" sz="1200" b="1" spc="200" kern="0" dirty="0">
                <a:solidFill>
                  <a:srgbClr val="C4650F"/>
                </a:solidFill>
                <a:latin typeface="Calibri" pitchFamily="34" charset="0"/>
                <a:ea typeface="Calibri" pitchFamily="34" charset="-122"/>
                <a:cs typeface="Calibri" pitchFamily="34" charset="-120"/>
              </a:rPr>
              <a:t>CLASS IMBALANCE</a:t>
            </a:r>
            <a:endParaRPr lang="en-US" sz="1200" dirty="0"/>
          </a:p>
        </p:txBody>
      </p:sp>
      <p:sp>
        <p:nvSpPr>
          <p:cNvPr id="3" name="Text 1"/>
          <p:cNvSpPr txBox="1"/>
          <p:nvPr/>
        </p:nvSpPr>
        <p:spPr>
          <a:xfrm>
            <a:off x="548640" y="658368"/>
            <a:ext cx="11094415" cy="731520"/>
          </a:xfrm>
          <a:prstGeom prst="rect">
            <a:avLst/>
          </a:prstGeom>
          <a:noFill/>
          <a:ln/>
        </p:spPr>
        <p:txBody>
          <a:bodyPr wrap="square" lIns="0" tIns="0" rIns="0" bIns="0" rtlCol="0" anchor="t"/>
          <a:lstStyle/>
          <a:p>
            <a:pPr indent="0" marL="0">
              <a:buNone/>
            </a:pPr>
            <a:r>
              <a:rPr lang="en-US" sz="2800" b="1" dirty="0">
                <a:solidFill>
                  <a:srgbClr val="14213D"/>
                </a:solidFill>
                <a:latin typeface="Cambria" pitchFamily="34" charset="0"/>
                <a:ea typeface="Cambria" pitchFamily="34" charset="-122"/>
                <a:cs typeface="Cambria" pitchFamily="34" charset="-120"/>
              </a:rPr>
              <a:t>Three head labels dominate; the imbalance is only 4.5×</a:t>
            </a:r>
            <a:endParaRPr lang="en-US" sz="2800" dirty="0"/>
          </a:p>
        </p:txBody>
      </p:sp>
      <p:sp>
        <p:nvSpPr>
          <p:cNvPr id="4" name="Shape 2"/>
          <p:cNvSpPr/>
          <p:nvPr/>
        </p:nvSpPr>
        <p:spPr>
          <a:xfrm>
            <a:off x="548640" y="1463040"/>
            <a:ext cx="11094415" cy="3886200"/>
          </a:xfrm>
          <a:prstGeom prst="roundRect">
            <a:avLst>
              <a:gd name="adj" fmla="val 2824"/>
            </a:avLst>
          </a:prstGeom>
          <a:solidFill>
            <a:srgbClr val="FFFFFF"/>
          </a:solidFill>
          <a:ln w="9525">
            <a:solidFill>
              <a:srgbClr val="D5DCE5"/>
            </a:solidFill>
            <a:prstDash val="solid"/>
          </a:ln>
        </p:spPr>
      </p:sp>
      <p:pic>
        <p:nvPicPr>
          <p:cNvPr id="5" name="Image 0" descr="Training positives per label coloured by head, mid and tail tier">    </p:cNvPr>
          <p:cNvPicPr>
            <a:picLocks noChangeAspect="1"/>
          </p:cNvPicPr>
          <p:nvPr/>
        </p:nvPicPr>
        <p:blipFill>
          <a:blip r:embed="rId1"/>
          <a:stretch>
            <a:fillRect/>
          </a:stretch>
        </p:blipFill>
        <p:spPr>
          <a:xfrm>
            <a:off x="1109320" y="1536192"/>
            <a:ext cx="9973056" cy="3739896"/>
          </a:xfrm>
          <a:prstGeom prst="rect">
            <a:avLst/>
          </a:prstGeom>
        </p:spPr>
      </p:pic>
      <p:sp>
        <p:nvSpPr>
          <p:cNvPr id="6" name="Text 3"/>
          <p:cNvSpPr txBox="1"/>
          <p:nvPr/>
        </p:nvSpPr>
        <p:spPr>
          <a:xfrm>
            <a:off x="548640" y="5486400"/>
            <a:ext cx="3515258" cy="822960"/>
          </a:xfrm>
          <a:prstGeom prst="rect">
            <a:avLst/>
          </a:prstGeom>
          <a:noFill/>
          <a:ln/>
        </p:spPr>
        <p:txBody>
          <a:bodyPr wrap="square" lIns="0" tIns="0" rIns="0" bIns="0" rtlCol="0" anchor="t"/>
          <a:lstStyle/>
          <a:p>
            <a:pPr indent="0" marL="0">
              <a:spcAft>
                <a:spcPts val="500"/>
              </a:spcAft>
              <a:buNone/>
            </a:pPr>
            <a:r>
              <a:rPr lang="en-US" sz="1500" b="1" dirty="0">
                <a:solidFill>
                  <a:srgbClr val="1B4FA8"/>
                </a:solidFill>
                <a:latin typeface="Calibri" pitchFamily="34" charset="0"/>
                <a:ea typeface="Calibri" pitchFamily="34" charset="-122"/>
                <a:cs typeface="Calibri" pitchFamily="34" charset="-120"/>
              </a:rPr>
              <a:t>Head (9)</a:t>
            </a:r>
            <a:endParaRPr lang="en-US" sz="1500" dirty="0"/>
          </a:p>
          <a:p>
            <a:pPr indent="0" marL="0">
              <a:spcAft>
                <a:spcPts val="500"/>
              </a:spcAft>
              <a:buNone/>
            </a:pPr>
            <a:r>
              <a:rPr lang="en-US" sz="1300" dirty="0">
                <a:solidFill>
                  <a:srgbClr val="3D4A5C"/>
                </a:solidFill>
                <a:latin typeface="Calibri" pitchFamily="34" charset="0"/>
                <a:ea typeface="Calibri" pitchFamily="34" charset="-122"/>
                <a:cs typeface="Calibri" pitchFamily="34" charset="-120"/>
              </a:rPr>
              <a:t>1,062–2,868 training positives: amusement, sadness, annoyance lead.</a:t>
            </a:r>
            <a:endParaRPr lang="en-US" sz="1500" dirty="0"/>
          </a:p>
        </p:txBody>
      </p:sp>
      <p:sp>
        <p:nvSpPr>
          <p:cNvPr id="7" name="Text 4"/>
          <p:cNvSpPr txBox="1"/>
          <p:nvPr/>
        </p:nvSpPr>
        <p:spPr>
          <a:xfrm>
            <a:off x="4338218" y="5486400"/>
            <a:ext cx="3515258" cy="822960"/>
          </a:xfrm>
          <a:prstGeom prst="rect">
            <a:avLst/>
          </a:prstGeom>
          <a:noFill/>
          <a:ln/>
        </p:spPr>
        <p:txBody>
          <a:bodyPr wrap="square" lIns="0" tIns="0" rIns="0" bIns="0" rtlCol="0" anchor="t"/>
          <a:lstStyle/>
          <a:p>
            <a:pPr indent="0" marL="0">
              <a:spcAft>
                <a:spcPts val="500"/>
              </a:spcAft>
              <a:buNone/>
            </a:pPr>
            <a:r>
              <a:rPr lang="en-US" sz="1500" b="1" dirty="0">
                <a:solidFill>
                  <a:srgbClr val="8A5A12"/>
                </a:solidFill>
                <a:latin typeface="Calibri" pitchFamily="34" charset="0"/>
                <a:ea typeface="Calibri" pitchFamily="34" charset="-122"/>
                <a:cs typeface="Calibri" pitchFamily="34" charset="-120"/>
              </a:rPr>
              <a:t>Mid (10)</a:t>
            </a:r>
            <a:endParaRPr lang="en-US" sz="1500" dirty="0"/>
          </a:p>
          <a:p>
            <a:pPr indent="0" marL="0">
              <a:spcAft>
                <a:spcPts val="500"/>
              </a:spcAft>
              <a:buNone/>
            </a:pPr>
            <a:r>
              <a:rPr lang="en-US" sz="1300" dirty="0">
                <a:solidFill>
                  <a:srgbClr val="3D4A5C"/>
                </a:solidFill>
                <a:latin typeface="Calibri" pitchFamily="34" charset="0"/>
                <a:ea typeface="Calibri" pitchFamily="34" charset="-122"/>
                <a:cs typeface="Calibri" pitchFamily="34" charset="-120"/>
              </a:rPr>
              <a:t>765–1,046, including neutral.</a:t>
            </a:r>
            <a:endParaRPr lang="en-US" sz="1500" dirty="0"/>
          </a:p>
        </p:txBody>
      </p:sp>
      <p:sp>
        <p:nvSpPr>
          <p:cNvPr id="8" name="Text 5"/>
          <p:cNvSpPr txBox="1"/>
          <p:nvPr/>
        </p:nvSpPr>
        <p:spPr>
          <a:xfrm>
            <a:off x="8127797" y="5486400"/>
            <a:ext cx="3515258" cy="822960"/>
          </a:xfrm>
          <a:prstGeom prst="rect">
            <a:avLst/>
          </a:prstGeom>
          <a:noFill/>
          <a:ln/>
        </p:spPr>
        <p:txBody>
          <a:bodyPr wrap="square" lIns="0" tIns="0" rIns="0" bIns="0" rtlCol="0" anchor="t"/>
          <a:lstStyle/>
          <a:p>
            <a:pPr indent="0" marL="0">
              <a:spcAft>
                <a:spcPts val="500"/>
              </a:spcAft>
              <a:buNone/>
            </a:pPr>
            <a:r>
              <a:rPr lang="en-US" sz="1500" b="1" dirty="0">
                <a:solidFill>
                  <a:srgbClr val="A52F3E"/>
                </a:solidFill>
                <a:latin typeface="Calibri" pitchFamily="34" charset="0"/>
                <a:ea typeface="Calibri" pitchFamily="34" charset="-122"/>
                <a:cs typeface="Calibri" pitchFamily="34" charset="-120"/>
              </a:rPr>
              <a:t>Tail (9)</a:t>
            </a:r>
            <a:endParaRPr lang="en-US" sz="1500" dirty="0"/>
          </a:p>
          <a:p>
            <a:pPr indent="0" marL="0">
              <a:spcAft>
                <a:spcPts val="500"/>
              </a:spcAft>
              <a:buNone/>
            </a:pPr>
            <a:r>
              <a:rPr lang="en-US" sz="1300" dirty="0">
                <a:solidFill>
                  <a:srgbClr val="3D4A5C"/>
                </a:solidFill>
                <a:latin typeface="Calibri" pitchFamily="34" charset="0"/>
                <a:ea typeface="Calibri" pitchFamily="34" charset="-122"/>
                <a:cs typeface="Calibri" pitchFamily="34" charset="-120"/>
              </a:rPr>
              <a:t>635–762: desire … surprise, relief.</a:t>
            </a:r>
            <a:endParaRPr lang="en-US" sz="1500" dirty="0"/>
          </a:p>
        </p:txBody>
      </p:sp>
      <p:sp>
        <p:nvSpPr>
          <p:cNvPr id="9" name="Text 6"/>
          <p:cNvSpPr txBox="1"/>
          <p:nvPr/>
        </p:nvSpPr>
        <p:spPr>
          <a:xfrm>
            <a:off x="548640" y="6400800"/>
            <a:ext cx="9875520" cy="274320"/>
          </a:xfrm>
          <a:prstGeom prst="rect">
            <a:avLst/>
          </a:prstGeom>
          <a:noFill/>
          <a:ln/>
        </p:spPr>
        <p:txBody>
          <a:bodyPr wrap="square" lIns="0" tIns="0" rIns="0" bIns="0" rtlCol="0" anchor="ctr"/>
          <a:lstStyle/>
          <a:p>
            <a:pPr indent="0" marL="0">
              <a:buNone/>
            </a:pPr>
            <a:r>
              <a:rPr lang="en-US" sz="1000" dirty="0">
                <a:solidFill>
                  <a:srgbClr val="6B7688"/>
                </a:solidFill>
                <a:latin typeface="Calibri" pitchFamily="34" charset="0"/>
                <a:ea typeface="Calibri" pitchFamily="34" charset="-122"/>
                <a:cs typeface="Calibri" pitchFamily="34" charset="-120"/>
              </a:rPr>
              <a:t>Tier rule fixed before any evaluation: tertiles of TRAINING positive counts · results/tables/label_tiers.csv</a:t>
            </a:r>
            <a:endParaRPr lang="en-US" sz="1000" dirty="0"/>
          </a:p>
        </p:txBody>
      </p:sp>
      <p:sp>
        <p:nvSpPr>
          <p:cNvPr id="10" name="Text 7"/>
          <p:cNvSpPr txBox="1"/>
          <p:nvPr/>
        </p:nvSpPr>
        <p:spPr>
          <a:xfrm>
            <a:off x="11094415" y="6400800"/>
            <a:ext cx="548640" cy="274320"/>
          </a:xfrm>
          <a:prstGeom prst="rect">
            <a:avLst/>
          </a:prstGeom>
          <a:noFill/>
          <a:ln/>
        </p:spPr>
        <p:txBody>
          <a:bodyPr wrap="square" lIns="0" tIns="0" rIns="0" bIns="0" rtlCol="0" anchor="ctr"/>
          <a:lstStyle/>
          <a:p>
            <a:pPr algn="r" indent="0" marL="0">
              <a:buNone/>
            </a:pPr>
            <a:r>
              <a:rPr lang="en-US" sz="1000" dirty="0">
                <a:solidFill>
                  <a:srgbClr val="6B7688"/>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BF8"/>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292608"/>
          </a:xfrm>
          <a:prstGeom prst="rect">
            <a:avLst/>
          </a:prstGeom>
          <a:noFill/>
          <a:ln/>
        </p:spPr>
        <p:txBody>
          <a:bodyPr wrap="square" lIns="0" tIns="0" rIns="0" bIns="0" rtlCol="0" anchor="ctr"/>
          <a:lstStyle/>
          <a:p>
            <a:pPr indent="0" marL="0">
              <a:buNone/>
            </a:pPr>
            <a:r>
              <a:rPr lang="en-US" sz="1200" b="1" spc="200" kern="0" dirty="0">
                <a:solidFill>
                  <a:srgbClr val="C4650F"/>
                </a:solidFill>
                <a:latin typeface="Calibri" pitchFamily="34" charset="0"/>
                <a:ea typeface="Calibri" pitchFamily="34" charset="-122"/>
                <a:cs typeface="Calibri" pitchFamily="34" charset="-120"/>
              </a:rPr>
              <a:t>LABEL CARDINALITY AND CO-OCCURRENCE</a:t>
            </a:r>
            <a:endParaRPr lang="en-US" sz="1200" dirty="0"/>
          </a:p>
        </p:txBody>
      </p:sp>
      <p:sp>
        <p:nvSpPr>
          <p:cNvPr id="3" name="Text 1"/>
          <p:cNvSpPr txBox="1"/>
          <p:nvPr/>
        </p:nvSpPr>
        <p:spPr>
          <a:xfrm>
            <a:off x="548640" y="658368"/>
            <a:ext cx="11094415" cy="731520"/>
          </a:xfrm>
          <a:prstGeom prst="rect">
            <a:avLst/>
          </a:prstGeom>
          <a:noFill/>
          <a:ln/>
        </p:spPr>
        <p:txBody>
          <a:bodyPr wrap="square" lIns="0" tIns="0" rIns="0" bIns="0" rtlCol="0" anchor="t"/>
          <a:lstStyle/>
          <a:p>
            <a:pPr indent="0" marL="0">
              <a:buNone/>
            </a:pPr>
            <a:r>
              <a:rPr lang="en-US" sz="2800" b="1" dirty="0">
                <a:solidFill>
                  <a:srgbClr val="14213D"/>
                </a:solidFill>
                <a:latin typeface="Cambria" pitchFamily="34" charset="0"/>
                <a:ea typeface="Cambria" pitchFamily="34" charset="-122"/>
                <a:cs typeface="Cambria" pitchFamily="34" charset="-120"/>
              </a:rPr>
              <a:t>Two labels per comment is the norm, not the exception</a:t>
            </a:r>
            <a:endParaRPr lang="en-US" sz="2800" dirty="0"/>
          </a:p>
        </p:txBody>
      </p:sp>
      <p:sp>
        <p:nvSpPr>
          <p:cNvPr id="4" name="Shape 2"/>
          <p:cNvSpPr/>
          <p:nvPr/>
        </p:nvSpPr>
        <p:spPr>
          <a:xfrm>
            <a:off x="548640" y="1508760"/>
            <a:ext cx="5394960" cy="3429000"/>
          </a:xfrm>
          <a:prstGeom prst="roundRect">
            <a:avLst>
              <a:gd name="adj" fmla="val 3200"/>
            </a:avLst>
          </a:prstGeom>
          <a:solidFill>
            <a:srgbClr val="FFFFFF"/>
          </a:solidFill>
          <a:ln w="9525">
            <a:solidFill>
              <a:srgbClr val="D5DCE5"/>
            </a:solidFill>
            <a:prstDash val="solid"/>
          </a:ln>
        </p:spPr>
      </p:sp>
      <p:pic>
        <p:nvPicPr>
          <p:cNvPr id="5" name="Image 0" descr="Label cardinality distribution per split">    </p:cNvPr>
          <p:cNvPicPr>
            <a:picLocks noChangeAspect="1"/>
          </p:cNvPicPr>
          <p:nvPr/>
        </p:nvPicPr>
        <p:blipFill>
          <a:blip r:embed="rId1"/>
          <a:stretch>
            <a:fillRect/>
          </a:stretch>
        </p:blipFill>
        <p:spPr>
          <a:xfrm>
            <a:off x="654518" y="1581912"/>
            <a:ext cx="5183204" cy="3282696"/>
          </a:xfrm>
          <a:prstGeom prst="rect">
            <a:avLst/>
          </a:prstGeom>
        </p:spPr>
      </p:pic>
      <p:sp>
        <p:nvSpPr>
          <p:cNvPr id="6" name="Text 3"/>
          <p:cNvSpPr txBox="1"/>
          <p:nvPr/>
        </p:nvSpPr>
        <p:spPr>
          <a:xfrm>
            <a:off x="548640" y="5074920"/>
            <a:ext cx="5394960" cy="822960"/>
          </a:xfrm>
          <a:prstGeom prst="rect">
            <a:avLst/>
          </a:prstGeom>
          <a:noFill/>
          <a:ln/>
        </p:spPr>
        <p:txBody>
          <a:bodyPr wrap="square" lIns="0" tIns="0" rIns="0" bIns="0" rtlCol="0" anchor="t"/>
          <a:lstStyle/>
          <a:p>
            <a:pPr indent="0" marL="0">
              <a:spcAft>
                <a:spcPts val="400"/>
              </a:spcAft>
              <a:buNone/>
            </a:pPr>
            <a:r>
              <a:rPr lang="en-US" sz="1400" dirty="0">
                <a:solidFill>
                  <a:srgbClr val="3D4A5C"/>
                </a:solidFill>
                <a:latin typeface="Calibri" pitchFamily="34" charset="0"/>
                <a:ea typeface="Calibri" pitchFamily="34" charset="-122"/>
                <a:cs typeface="Calibri" pitchFamily="34" charset="-120"/>
              </a:rPr>
              <a:t>|Y| = 1: 32.9% · 2: 46.6% · 3: 17.6% · ≥4: 2.9% (train). Only 3.5% are neutral-only.</a:t>
            </a:r>
            <a:endParaRPr lang="en-US" sz="1400" dirty="0"/>
          </a:p>
        </p:txBody>
      </p:sp>
      <p:sp>
        <p:nvSpPr>
          <p:cNvPr id="7" name="Text 4"/>
          <p:cNvSpPr txBox="1"/>
          <p:nvPr/>
        </p:nvSpPr>
        <p:spPr>
          <a:xfrm>
            <a:off x="6309360" y="1508760"/>
            <a:ext cx="5333695" cy="365760"/>
          </a:xfrm>
          <a:prstGeom prst="rect">
            <a:avLst/>
          </a:prstGeom>
          <a:noFill/>
          <a:ln/>
        </p:spPr>
        <p:txBody>
          <a:bodyPr wrap="square" lIns="0" tIns="0" rIns="0" bIns="0" rtlCol="0" anchor="t"/>
          <a:lstStyle/>
          <a:p>
            <a:pPr indent="0" marL="0">
              <a:spcAft>
                <a:spcPts val="400"/>
              </a:spcAft>
              <a:buNone/>
            </a:pPr>
            <a:r>
              <a:rPr lang="en-US" sz="1700" b="1" dirty="0">
                <a:solidFill>
                  <a:srgbClr val="14213D"/>
                </a:solidFill>
                <a:latin typeface="Calibri" pitchFamily="34" charset="0"/>
                <a:ea typeface="Calibri" pitchFamily="34" charset="-122"/>
                <a:cs typeface="Calibri" pitchFamily="34" charset="-120"/>
              </a:rPr>
              <a:t>Most frequent pairs (train)</a:t>
            </a:r>
            <a:endParaRPr lang="en-US" sz="17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309360" y="1920240"/>
          <a:ext cx="5333695" cy="914400"/>
        </p:xfrm>
        <a:graphic>
          <a:graphicData uri="http://schemas.openxmlformats.org/drawingml/2006/table">
            <a:tbl>
              <a:tblPr/>
              <a:tblGrid>
                <a:gridCol w="2752875"/>
                <a:gridCol w="860273"/>
                <a:gridCol w="860273"/>
                <a:gridCol w="860273"/>
              </a:tblGrid>
              <a:tr h="0">
                <a:tc>
                  <a:txBody>
                    <a:bodyPr/>
                    <a:lstStyle/>
                    <a:p>
                      <a:pPr algn="l" indent="0" marL="0">
                        <a:buNone/>
                      </a:pPr>
                      <a:r>
                        <a:rPr lang="en-US" sz="1300" b="1" dirty="0">
                          <a:solidFill>
                            <a:srgbClr val="14213D"/>
                          </a:solidFill>
                          <a:latin typeface="Calibri" pitchFamily="34" charset="0"/>
                          <a:ea typeface="Calibri" pitchFamily="34" charset="-122"/>
                          <a:cs typeface="Calibri" pitchFamily="34" charset="-120"/>
                        </a:rPr>
                        <a:t>Pair</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DCE8FB"/>
                    </a:solidFill>
                  </a:tcPr>
                </a:tc>
                <a:tc>
                  <a:txBody>
                    <a:bodyPr/>
                    <a:lstStyle/>
                    <a:p>
                      <a:pPr algn="r" indent="0" marL="0">
                        <a:buNone/>
                      </a:pPr>
                      <a:r>
                        <a:rPr lang="en-US" sz="1300" b="1" dirty="0">
                          <a:solidFill>
                            <a:srgbClr val="14213D"/>
                          </a:solidFill>
                          <a:latin typeface="Calibri" pitchFamily="34" charset="0"/>
                          <a:ea typeface="Calibri" pitchFamily="34" charset="-122"/>
                          <a:cs typeface="Calibri" pitchFamily="34" charset="-120"/>
                        </a:rPr>
                        <a:t>Count</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DCE8FB"/>
                    </a:solidFill>
                  </a:tcPr>
                </a:tc>
                <a:tc>
                  <a:txBody>
                    <a:bodyPr/>
                    <a:lstStyle/>
                    <a:p>
                      <a:pPr algn="r" indent="0" marL="0">
                        <a:buNone/>
                      </a:pPr>
                      <a:r>
                        <a:rPr lang="en-US" sz="1300" b="1" dirty="0">
                          <a:solidFill>
                            <a:srgbClr val="14213D"/>
                          </a:solidFill>
                          <a:latin typeface="Calibri" pitchFamily="34" charset="0"/>
                          <a:ea typeface="Calibri" pitchFamily="34" charset="-122"/>
                          <a:cs typeface="Calibri" pitchFamily="34" charset="-120"/>
                        </a:rPr>
                        <a:t>P(b|a)</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DCE8FB"/>
                    </a:solidFill>
                  </a:tcPr>
                </a:tc>
                <a:tc>
                  <a:txBody>
                    <a:bodyPr/>
                    <a:lstStyle/>
                    <a:p>
                      <a:pPr algn="r" indent="0" marL="0">
                        <a:buNone/>
                      </a:pPr>
                      <a:r>
                        <a:rPr lang="en-US" sz="1300" b="1" dirty="0">
                          <a:solidFill>
                            <a:srgbClr val="14213D"/>
                          </a:solidFill>
                          <a:latin typeface="Calibri" pitchFamily="34" charset="0"/>
                          <a:ea typeface="Calibri" pitchFamily="34" charset="-122"/>
                          <a:cs typeface="Calibri" pitchFamily="34" charset="-120"/>
                        </a:rPr>
                        <a:t>phi</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DCE8FB"/>
                    </a:solidFill>
                  </a:tcPr>
                </a:tc>
              </a:tr>
              <a:tr h="0">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disappointment + sadness</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904</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0.59</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0.36</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r>
              <a:tr h="0">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anger + annoyance</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5F7FA"/>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699</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5F7FA"/>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0.44</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5F7FA"/>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0.25</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5F7FA"/>
                    </a:solidFill>
                  </a:tcPr>
                </a:tc>
              </a:tr>
              <a:tr h="0">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sadness + grief</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620</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0.22</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0.38</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r>
              <a:tr h="0">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amusement + joy</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5F7FA"/>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568</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5F7FA"/>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0.20</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5F7FA"/>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0.15</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5F7FA"/>
                    </a:solidFill>
                  </a:tcPr>
                </a:tc>
              </a:tr>
              <a:tr h="0">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annoyance + disapproval</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469</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0.18</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0.22</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r>
              <a:tr h="0">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joy + love</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5F7FA"/>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395</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5F7FA"/>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0.24</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5F7FA"/>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0.22</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5F7FA"/>
                    </a:solidFill>
                  </a:tcPr>
                </a:tc>
              </a:tr>
              <a:tr h="0">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disgust + anger</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379</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0.31</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0.21</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r>
              <a:tr h="0">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embarrassment + sadness</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5F7FA"/>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366</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5F7FA"/>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0.41</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5F7FA"/>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0.16</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5F7FA"/>
                    </a:solidFill>
                  </a:tcPr>
                </a:tc>
              </a:tr>
            </a:tbl>
          </a:graphicData>
        </a:graphic>
      </p:graphicFrame>
      <p:sp>
        <p:nvSpPr>
          <p:cNvPr id="9" name="Text 5"/>
          <p:cNvSpPr txBox="1"/>
          <p:nvPr/>
        </p:nvSpPr>
        <p:spPr>
          <a:xfrm>
            <a:off x="6309360" y="5257800"/>
            <a:ext cx="5333695" cy="457200"/>
          </a:xfrm>
          <a:prstGeom prst="rect">
            <a:avLst/>
          </a:prstGeom>
          <a:noFill/>
          <a:ln/>
        </p:spPr>
        <p:txBody>
          <a:bodyPr wrap="square" lIns="0" tIns="0" rIns="0" bIns="0" rtlCol="0" anchor="t"/>
          <a:lstStyle/>
          <a:p>
            <a:pPr indent="0" marL="0">
              <a:spcAft>
                <a:spcPts val="400"/>
              </a:spcAft>
              <a:buNone/>
            </a:pPr>
            <a:r>
              <a:rPr lang="en-US" sz="1300" dirty="0">
                <a:solidFill>
                  <a:srgbClr val="6B7688"/>
                </a:solidFill>
                <a:latin typeface="Calibri" pitchFamily="34" charset="0"/>
                <a:ea typeface="Calibri" pitchFamily="34" charset="-122"/>
                <a:cs typeface="Calibri" pitchFamily="34" charset="-120"/>
              </a:rPr>
              <a:t>83% of grief comments are also labelled sadness.</a:t>
            </a:r>
            <a:endParaRPr lang="en-US" sz="1300" dirty="0"/>
          </a:p>
        </p:txBody>
      </p:sp>
      <p:sp>
        <p:nvSpPr>
          <p:cNvPr id="10" name="Text 6"/>
          <p:cNvSpPr txBox="1"/>
          <p:nvPr/>
        </p:nvSpPr>
        <p:spPr>
          <a:xfrm>
            <a:off x="548640" y="6400800"/>
            <a:ext cx="9875520" cy="274320"/>
          </a:xfrm>
          <a:prstGeom prst="rect">
            <a:avLst/>
          </a:prstGeom>
          <a:noFill/>
          <a:ln/>
        </p:spPr>
        <p:txBody>
          <a:bodyPr wrap="square" lIns="0" tIns="0" rIns="0" bIns="0" rtlCol="0" anchor="ctr"/>
          <a:lstStyle/>
          <a:p>
            <a:pPr indent="0" marL="0">
              <a:buNone/>
            </a:pPr>
            <a:r>
              <a:rPr lang="en-US" sz="1000" dirty="0">
                <a:solidFill>
                  <a:srgbClr val="6B7688"/>
                </a:solidFill>
                <a:latin typeface="Calibri" pitchFamily="34" charset="0"/>
                <a:ea typeface="Calibri" pitchFamily="34" charset="-122"/>
                <a:cs typeface="Calibri" pitchFamily="34" charset="-120"/>
              </a:rPr>
              <a:t>Computed on training labels only · cardinality_summary.csv, top_pairs.csv</a:t>
            </a:r>
            <a:endParaRPr lang="en-US" sz="1000" dirty="0"/>
          </a:p>
        </p:txBody>
      </p:sp>
      <p:sp>
        <p:nvSpPr>
          <p:cNvPr id="11" name="Text 7"/>
          <p:cNvSpPr txBox="1"/>
          <p:nvPr/>
        </p:nvSpPr>
        <p:spPr>
          <a:xfrm>
            <a:off x="11094415" y="6400800"/>
            <a:ext cx="548640" cy="274320"/>
          </a:xfrm>
          <a:prstGeom prst="rect">
            <a:avLst/>
          </a:prstGeom>
          <a:noFill/>
          <a:ln/>
        </p:spPr>
        <p:txBody>
          <a:bodyPr wrap="square" lIns="0" tIns="0" rIns="0" bIns="0" rtlCol="0" anchor="ctr"/>
          <a:lstStyle/>
          <a:p>
            <a:pPr algn="r" indent="0" marL="0">
              <a:buNone/>
            </a:pPr>
            <a:r>
              <a:rPr lang="en-US" sz="1000" dirty="0">
                <a:solidFill>
                  <a:srgbClr val="6B7688"/>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BF8"/>
        </a:solidFill>
      </p:bgPr>
    </p:bg>
    <p:spTree>
      <p:nvGrpSpPr>
        <p:cNvPr id="1" name=""/>
        <p:cNvGrpSpPr/>
        <p:nvPr/>
      </p:nvGrpSpPr>
      <p:grpSpPr>
        <a:xfrm>
          <a:off x="0" y="0"/>
          <a:ext cx="0" cy="0"/>
          <a:chOff x="0" y="0"/>
          <a:chExt cx="0" cy="0"/>
        </a:xfrm>
      </p:grpSpPr>
      <p:sp>
        <p:nvSpPr>
          <p:cNvPr id="2" name="Shape 0"/>
          <p:cNvSpPr/>
          <p:nvPr/>
        </p:nvSpPr>
        <p:spPr>
          <a:xfrm>
            <a:off x="548640" y="411480"/>
            <a:ext cx="5943600" cy="5852160"/>
          </a:xfrm>
          <a:prstGeom prst="roundRect">
            <a:avLst>
              <a:gd name="adj" fmla="val 1875"/>
            </a:avLst>
          </a:prstGeom>
          <a:solidFill>
            <a:srgbClr val="FFFFFF"/>
          </a:solidFill>
          <a:ln w="9525">
            <a:solidFill>
              <a:srgbClr val="D5DCE5"/>
            </a:solidFill>
            <a:prstDash val="solid"/>
          </a:ln>
        </p:spPr>
      </p:sp>
      <p:pic>
        <p:nvPicPr>
          <p:cNvPr id="3" name="Image 0" descr="Pairwise phi correlation heatmap of the 28 labels (train)">    </p:cNvPr>
          <p:cNvPicPr>
            <a:picLocks noChangeAspect="1"/>
          </p:cNvPicPr>
          <p:nvPr/>
        </p:nvPicPr>
        <p:blipFill>
          <a:blip r:embed="rId1"/>
          <a:stretch>
            <a:fillRect/>
          </a:stretch>
        </p:blipFill>
        <p:spPr>
          <a:xfrm>
            <a:off x="621792" y="965939"/>
            <a:ext cx="5797296" cy="4743242"/>
          </a:xfrm>
          <a:prstGeom prst="rect">
            <a:avLst/>
          </a:prstGeom>
        </p:spPr>
      </p:pic>
      <p:sp>
        <p:nvSpPr>
          <p:cNvPr id="4" name="Text 1"/>
          <p:cNvSpPr txBox="1"/>
          <p:nvPr/>
        </p:nvSpPr>
        <p:spPr>
          <a:xfrm>
            <a:off x="6812280" y="347472"/>
            <a:ext cx="4830775" cy="292608"/>
          </a:xfrm>
          <a:prstGeom prst="rect">
            <a:avLst/>
          </a:prstGeom>
          <a:noFill/>
          <a:ln/>
        </p:spPr>
        <p:txBody>
          <a:bodyPr wrap="square" lIns="0" tIns="0" rIns="0" bIns="0" rtlCol="0" anchor="ctr"/>
          <a:lstStyle/>
          <a:p>
            <a:pPr indent="0" marL="0">
              <a:buNone/>
            </a:pPr>
            <a:r>
              <a:rPr lang="en-US" sz="1200" b="1" spc="200" kern="0" dirty="0">
                <a:solidFill>
                  <a:srgbClr val="C4650F"/>
                </a:solidFill>
                <a:latin typeface="Calibri" pitchFamily="34" charset="0"/>
                <a:ea typeface="Calibri" pitchFamily="34" charset="-122"/>
                <a:cs typeface="Calibri" pitchFamily="34" charset="-120"/>
              </a:rPr>
              <a:t>PAIRWISE CORRELATION (PHI)</a:t>
            </a:r>
            <a:endParaRPr lang="en-US" sz="1200" dirty="0"/>
          </a:p>
        </p:txBody>
      </p:sp>
      <p:sp>
        <p:nvSpPr>
          <p:cNvPr id="5" name="Text 2"/>
          <p:cNvSpPr txBox="1"/>
          <p:nvPr/>
        </p:nvSpPr>
        <p:spPr>
          <a:xfrm>
            <a:off x="6812280" y="658368"/>
            <a:ext cx="4830775" cy="914400"/>
          </a:xfrm>
          <a:prstGeom prst="rect">
            <a:avLst/>
          </a:prstGeom>
          <a:noFill/>
          <a:ln/>
        </p:spPr>
        <p:txBody>
          <a:bodyPr wrap="square" lIns="0" tIns="0" rIns="0" bIns="0" rtlCol="0" anchor="t"/>
          <a:lstStyle/>
          <a:p>
            <a:pPr indent="0" marL="0">
              <a:buNone/>
            </a:pPr>
            <a:r>
              <a:rPr lang="en-US" sz="2600" b="1" dirty="0">
                <a:solidFill>
                  <a:srgbClr val="14213D"/>
                </a:solidFill>
                <a:latin typeface="Cambria" pitchFamily="34" charset="0"/>
                <a:ea typeface="Cambria" pitchFamily="34" charset="-122"/>
                <a:cs typeface="Cambria" pitchFamily="34" charset="-120"/>
              </a:rPr>
              <a:t>Emotions cluster into families</a:t>
            </a:r>
            <a:endParaRPr lang="en-US" sz="2600" dirty="0"/>
          </a:p>
        </p:txBody>
      </p:sp>
      <p:sp>
        <p:nvSpPr>
          <p:cNvPr id="6" name="Text 3"/>
          <p:cNvSpPr txBox="1"/>
          <p:nvPr/>
        </p:nvSpPr>
        <p:spPr>
          <a:xfrm>
            <a:off x="6812280" y="1828800"/>
            <a:ext cx="4830775" cy="822960"/>
          </a:xfrm>
          <a:prstGeom prst="rect">
            <a:avLst/>
          </a:prstGeom>
          <a:noFill/>
          <a:ln/>
        </p:spPr>
        <p:txBody>
          <a:bodyPr wrap="square" lIns="0" tIns="0" rIns="0" bIns="0" rtlCol="0" anchor="t"/>
          <a:lstStyle/>
          <a:p>
            <a:pPr indent="0" marL="0">
              <a:spcAft>
                <a:spcPts val="500"/>
              </a:spcAft>
              <a:buNone/>
            </a:pPr>
            <a:r>
              <a:rPr lang="en-US" sz="1600" b="1" dirty="0">
                <a:solidFill>
                  <a:srgbClr val="14213D"/>
                </a:solidFill>
                <a:latin typeface="Calibri" pitchFamily="34" charset="0"/>
                <a:ea typeface="Calibri" pitchFamily="34" charset="-122"/>
                <a:cs typeface="Calibri" pitchFamily="34" charset="-120"/>
              </a:rPr>
              <a:t>Sadness family</a:t>
            </a:r>
            <a:endParaRPr lang="en-US" sz="1600" dirty="0"/>
          </a:p>
          <a:p>
            <a:pPr indent="0" marL="0">
              <a:spcAft>
                <a:spcPts val="500"/>
              </a:spcAft>
              <a:buNone/>
            </a:pPr>
            <a:r>
              <a:rPr lang="en-US" sz="1400" dirty="0">
                <a:solidFill>
                  <a:srgbClr val="3D4A5C"/>
                </a:solidFill>
                <a:latin typeface="Calibri" pitchFamily="34" charset="0"/>
                <a:ea typeface="Calibri" pitchFamily="34" charset="-122"/>
                <a:cs typeface="Calibri" pitchFamily="34" charset="-120"/>
              </a:rPr>
              <a:t>sadness – grief 0.38, disappointment – sadness 0.36</a:t>
            </a:r>
            <a:endParaRPr lang="en-US" sz="1600" dirty="0"/>
          </a:p>
        </p:txBody>
      </p:sp>
      <p:sp>
        <p:nvSpPr>
          <p:cNvPr id="7" name="Text 4"/>
          <p:cNvSpPr txBox="1"/>
          <p:nvPr/>
        </p:nvSpPr>
        <p:spPr>
          <a:xfrm>
            <a:off x="6812280" y="2715768"/>
            <a:ext cx="4830775" cy="822960"/>
          </a:xfrm>
          <a:prstGeom prst="rect">
            <a:avLst/>
          </a:prstGeom>
          <a:noFill/>
          <a:ln/>
        </p:spPr>
        <p:txBody>
          <a:bodyPr wrap="square" lIns="0" tIns="0" rIns="0" bIns="0" rtlCol="0" anchor="t"/>
          <a:lstStyle/>
          <a:p>
            <a:pPr indent="0" marL="0">
              <a:spcAft>
                <a:spcPts val="500"/>
              </a:spcAft>
              <a:buNone/>
            </a:pPr>
            <a:r>
              <a:rPr lang="en-US" sz="1600" b="1" dirty="0">
                <a:solidFill>
                  <a:srgbClr val="14213D"/>
                </a:solidFill>
                <a:latin typeface="Calibri" pitchFamily="34" charset="0"/>
                <a:ea typeface="Calibri" pitchFamily="34" charset="-122"/>
                <a:cs typeface="Calibri" pitchFamily="34" charset="-120"/>
              </a:rPr>
              <a:t>Anxiety</a:t>
            </a:r>
            <a:endParaRPr lang="en-US" sz="1600" dirty="0"/>
          </a:p>
          <a:p>
            <a:pPr indent="0" marL="0">
              <a:spcAft>
                <a:spcPts val="500"/>
              </a:spcAft>
              <a:buNone/>
            </a:pPr>
            <a:r>
              <a:rPr lang="en-US" sz="1400" dirty="0">
                <a:solidFill>
                  <a:srgbClr val="3D4A5C"/>
                </a:solidFill>
                <a:latin typeface="Calibri" pitchFamily="34" charset="0"/>
                <a:ea typeface="Calibri" pitchFamily="34" charset="-122"/>
                <a:cs typeface="Calibri" pitchFamily="34" charset="-120"/>
              </a:rPr>
              <a:t>fear – nervousness 0.41 (strongest)</a:t>
            </a:r>
            <a:endParaRPr lang="en-US" sz="1600" dirty="0"/>
          </a:p>
        </p:txBody>
      </p:sp>
      <p:sp>
        <p:nvSpPr>
          <p:cNvPr id="8" name="Text 5"/>
          <p:cNvSpPr txBox="1"/>
          <p:nvPr/>
        </p:nvSpPr>
        <p:spPr>
          <a:xfrm>
            <a:off x="6812280" y="3602736"/>
            <a:ext cx="4830775" cy="822960"/>
          </a:xfrm>
          <a:prstGeom prst="rect">
            <a:avLst/>
          </a:prstGeom>
          <a:noFill/>
          <a:ln/>
        </p:spPr>
        <p:txBody>
          <a:bodyPr wrap="square" lIns="0" tIns="0" rIns="0" bIns="0" rtlCol="0" anchor="t"/>
          <a:lstStyle/>
          <a:p>
            <a:pPr indent="0" marL="0">
              <a:spcAft>
                <a:spcPts val="500"/>
              </a:spcAft>
              <a:buNone/>
            </a:pPr>
            <a:r>
              <a:rPr lang="en-US" sz="1600" b="1" dirty="0">
                <a:solidFill>
                  <a:srgbClr val="14213D"/>
                </a:solidFill>
                <a:latin typeface="Calibri" pitchFamily="34" charset="0"/>
                <a:ea typeface="Calibri" pitchFamily="34" charset="-122"/>
                <a:cs typeface="Calibri" pitchFamily="34" charset="-120"/>
              </a:rPr>
              <a:t>Positive</a:t>
            </a:r>
            <a:endParaRPr lang="en-US" sz="1600" dirty="0"/>
          </a:p>
          <a:p>
            <a:pPr indent="0" marL="0">
              <a:spcAft>
                <a:spcPts val="500"/>
              </a:spcAft>
              <a:buNone/>
            </a:pPr>
            <a:r>
              <a:rPr lang="en-US" sz="1400" dirty="0">
                <a:solidFill>
                  <a:srgbClr val="3D4A5C"/>
                </a:solidFill>
                <a:latin typeface="Calibri" pitchFamily="34" charset="0"/>
                <a:ea typeface="Calibri" pitchFamily="34" charset="-122"/>
                <a:cs typeface="Calibri" pitchFamily="34" charset="-120"/>
              </a:rPr>
              <a:t>excitement – joy, joy – love, optimism – caring, gratitude – relief</a:t>
            </a:r>
            <a:endParaRPr lang="en-US" sz="1600" dirty="0"/>
          </a:p>
        </p:txBody>
      </p:sp>
      <p:sp>
        <p:nvSpPr>
          <p:cNvPr id="9" name="Text 6"/>
          <p:cNvSpPr txBox="1"/>
          <p:nvPr/>
        </p:nvSpPr>
        <p:spPr>
          <a:xfrm>
            <a:off x="6812280" y="4489704"/>
            <a:ext cx="4830775" cy="822960"/>
          </a:xfrm>
          <a:prstGeom prst="rect">
            <a:avLst/>
          </a:prstGeom>
          <a:noFill/>
          <a:ln/>
        </p:spPr>
        <p:txBody>
          <a:bodyPr wrap="square" lIns="0" tIns="0" rIns="0" bIns="0" rtlCol="0" anchor="t"/>
          <a:lstStyle/>
          <a:p>
            <a:pPr indent="0" marL="0">
              <a:spcAft>
                <a:spcPts val="500"/>
              </a:spcAft>
              <a:buNone/>
            </a:pPr>
            <a:r>
              <a:rPr lang="en-US" sz="1600" b="1" dirty="0">
                <a:solidFill>
                  <a:srgbClr val="14213D"/>
                </a:solidFill>
                <a:latin typeface="Calibri" pitchFamily="34" charset="0"/>
                <a:ea typeface="Calibri" pitchFamily="34" charset="-122"/>
                <a:cs typeface="Calibri" pitchFamily="34" charset="-120"/>
              </a:rPr>
              <a:t>Hostile</a:t>
            </a:r>
            <a:endParaRPr lang="en-US" sz="1600" dirty="0"/>
          </a:p>
          <a:p>
            <a:pPr indent="0" marL="0">
              <a:spcAft>
                <a:spcPts val="500"/>
              </a:spcAft>
              <a:buNone/>
            </a:pPr>
            <a:r>
              <a:rPr lang="en-US" sz="1400" dirty="0">
                <a:solidFill>
                  <a:srgbClr val="3D4A5C"/>
                </a:solidFill>
                <a:latin typeface="Calibri" pitchFamily="34" charset="0"/>
                <a:ea typeface="Calibri" pitchFamily="34" charset="-122"/>
                <a:cs typeface="Calibri" pitchFamily="34" charset="-120"/>
              </a:rPr>
              <a:t>anger – annoyance – disapproval, disgust – anger</a:t>
            </a:r>
            <a:endParaRPr lang="en-US" sz="1600" dirty="0"/>
          </a:p>
        </p:txBody>
      </p:sp>
      <p:sp>
        <p:nvSpPr>
          <p:cNvPr id="10" name="Text 7"/>
          <p:cNvSpPr txBox="1"/>
          <p:nvPr/>
        </p:nvSpPr>
        <p:spPr>
          <a:xfrm>
            <a:off x="6812280" y="5376672"/>
            <a:ext cx="4830775" cy="822960"/>
          </a:xfrm>
          <a:prstGeom prst="rect">
            <a:avLst/>
          </a:prstGeom>
          <a:noFill/>
          <a:ln/>
        </p:spPr>
        <p:txBody>
          <a:bodyPr wrap="square" lIns="0" tIns="0" rIns="0" bIns="0" rtlCol="0" anchor="t"/>
          <a:lstStyle/>
          <a:p>
            <a:pPr indent="0" marL="0">
              <a:spcAft>
                <a:spcPts val="500"/>
              </a:spcAft>
              <a:buNone/>
            </a:pPr>
            <a:r>
              <a:rPr lang="en-US" sz="1600" b="1" dirty="0">
                <a:solidFill>
                  <a:srgbClr val="14213D"/>
                </a:solidFill>
                <a:latin typeface="Calibri" pitchFamily="34" charset="0"/>
                <a:ea typeface="Calibri" pitchFamily="34" charset="-122"/>
                <a:cs typeface="Calibri" pitchFamily="34" charset="-120"/>
              </a:rPr>
              <a:t>Opposites</a:t>
            </a:r>
            <a:endParaRPr lang="en-US" sz="1600" dirty="0"/>
          </a:p>
          <a:p>
            <a:pPr indent="0" marL="0">
              <a:spcAft>
                <a:spcPts val="500"/>
              </a:spcAft>
              <a:buNone/>
            </a:pPr>
            <a:r>
              <a:rPr lang="en-US" sz="1400" dirty="0">
                <a:solidFill>
                  <a:srgbClr val="3D4A5C"/>
                </a:solidFill>
                <a:latin typeface="Calibri" pitchFamily="34" charset="0"/>
                <a:ea typeface="Calibri" pitchFamily="34" charset="-122"/>
                <a:cs typeface="Calibri" pitchFamily="34" charset="-120"/>
              </a:rPr>
              <a:t>amusement is negatively correlated with sadness</a:t>
            </a:r>
            <a:endParaRPr lang="en-US" sz="1600" dirty="0"/>
          </a:p>
        </p:txBody>
      </p:sp>
      <p:sp>
        <p:nvSpPr>
          <p:cNvPr id="11" name="Text 8"/>
          <p:cNvSpPr txBox="1"/>
          <p:nvPr/>
        </p:nvSpPr>
        <p:spPr>
          <a:xfrm>
            <a:off x="548640" y="6400800"/>
            <a:ext cx="9875520" cy="274320"/>
          </a:xfrm>
          <a:prstGeom prst="rect">
            <a:avLst/>
          </a:prstGeom>
          <a:noFill/>
          <a:ln/>
        </p:spPr>
        <p:txBody>
          <a:bodyPr wrap="square" lIns="0" tIns="0" rIns="0" bIns="0" rtlCol="0" anchor="ctr"/>
          <a:lstStyle/>
          <a:p>
            <a:pPr indent="0" marL="0">
              <a:buNone/>
            </a:pPr>
            <a:r>
              <a:rPr lang="en-US" sz="1000" dirty="0">
                <a:solidFill>
                  <a:srgbClr val="6B7688"/>
                </a:solidFill>
                <a:latin typeface="Calibri" pitchFamily="34" charset="0"/>
                <a:ea typeface="Calibri" pitchFamily="34" charset="-122"/>
                <a:cs typeface="Calibri" pitchFamily="34" charset="-120"/>
              </a:rPr>
              <a:t>Training labels only · correlation_matrix_train.csv</a:t>
            </a:r>
            <a:endParaRPr lang="en-US" sz="1000" dirty="0"/>
          </a:p>
        </p:txBody>
      </p:sp>
      <p:sp>
        <p:nvSpPr>
          <p:cNvPr id="12" name="Text 9"/>
          <p:cNvSpPr txBox="1"/>
          <p:nvPr/>
        </p:nvSpPr>
        <p:spPr>
          <a:xfrm>
            <a:off x="11094415" y="6400800"/>
            <a:ext cx="548640" cy="274320"/>
          </a:xfrm>
          <a:prstGeom prst="rect">
            <a:avLst/>
          </a:prstGeom>
          <a:noFill/>
          <a:ln/>
        </p:spPr>
        <p:txBody>
          <a:bodyPr wrap="square" lIns="0" tIns="0" rIns="0" bIns="0" rtlCol="0" anchor="ctr"/>
          <a:lstStyle/>
          <a:p>
            <a:pPr algn="r" indent="0" marL="0">
              <a:buNone/>
            </a:pPr>
            <a:r>
              <a:rPr lang="en-US" sz="1000" dirty="0">
                <a:solidFill>
                  <a:srgbClr val="6B7688"/>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BF8"/>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292608"/>
          </a:xfrm>
          <a:prstGeom prst="rect">
            <a:avLst/>
          </a:prstGeom>
          <a:noFill/>
          <a:ln/>
        </p:spPr>
        <p:txBody>
          <a:bodyPr wrap="square" lIns="0" tIns="0" rIns="0" bIns="0" rtlCol="0" anchor="ctr"/>
          <a:lstStyle/>
          <a:p>
            <a:pPr indent="0" marL="0">
              <a:buNone/>
            </a:pPr>
            <a:r>
              <a:rPr lang="en-US" sz="1200" b="1" spc="200" kern="0" dirty="0">
                <a:solidFill>
                  <a:srgbClr val="C4650F"/>
                </a:solidFill>
                <a:latin typeface="Calibri" pitchFamily="34" charset="0"/>
                <a:ea typeface="Calibri" pitchFamily="34" charset="-122"/>
                <a:cs typeface="Calibri" pitchFamily="34" charset="-120"/>
              </a:rPr>
              <a:t>TEXT LENGTH AND INFORMAL VIETNAMESE</a:t>
            </a:r>
            <a:endParaRPr lang="en-US" sz="1200" dirty="0"/>
          </a:p>
        </p:txBody>
      </p:sp>
      <p:sp>
        <p:nvSpPr>
          <p:cNvPr id="3" name="Text 1"/>
          <p:cNvSpPr txBox="1"/>
          <p:nvPr/>
        </p:nvSpPr>
        <p:spPr>
          <a:xfrm>
            <a:off x="548640" y="658368"/>
            <a:ext cx="11094415" cy="731520"/>
          </a:xfrm>
          <a:prstGeom prst="rect">
            <a:avLst/>
          </a:prstGeom>
          <a:noFill/>
          <a:ln/>
        </p:spPr>
        <p:txBody>
          <a:bodyPr wrap="square" lIns="0" tIns="0" rIns="0" bIns="0" rtlCol="0" anchor="t"/>
          <a:lstStyle/>
          <a:p>
            <a:pPr indent="0" marL="0">
              <a:buNone/>
            </a:pPr>
            <a:r>
              <a:rPr lang="en-US" sz="2800" b="1" dirty="0">
                <a:solidFill>
                  <a:srgbClr val="14213D"/>
                </a:solidFill>
                <a:latin typeface="Cambria" pitchFamily="34" charset="0"/>
                <a:ea typeface="Cambria" pitchFamily="34" charset="-122"/>
                <a:cs typeface="Cambria" pitchFamily="34" charset="-120"/>
              </a:rPr>
              <a:t>Short, noisy text: a third uses teencode, a quarter uses emoji</a:t>
            </a:r>
            <a:endParaRPr lang="en-US" sz="2800" dirty="0"/>
          </a:p>
        </p:txBody>
      </p:sp>
      <p:sp>
        <p:nvSpPr>
          <p:cNvPr id="4" name="Shape 2"/>
          <p:cNvSpPr/>
          <p:nvPr/>
        </p:nvSpPr>
        <p:spPr>
          <a:xfrm>
            <a:off x="548640" y="1508760"/>
            <a:ext cx="5410048" cy="3063240"/>
          </a:xfrm>
          <a:prstGeom prst="roundRect">
            <a:avLst>
              <a:gd name="adj" fmla="val 3582"/>
            </a:avLst>
          </a:prstGeom>
          <a:solidFill>
            <a:srgbClr val="FFFFFF"/>
          </a:solidFill>
          <a:ln w="9525">
            <a:solidFill>
              <a:srgbClr val="D5DCE5"/>
            </a:solidFill>
            <a:prstDash val="solid"/>
          </a:ln>
        </p:spPr>
      </p:sp>
      <p:pic>
        <p:nvPicPr>
          <p:cNvPr id="5" name="Image 0" descr="Histogram of whitespace tokens per comment">    </p:cNvPr>
          <p:cNvPicPr>
            <a:picLocks noChangeAspect="1"/>
          </p:cNvPicPr>
          <p:nvPr/>
        </p:nvPicPr>
        <p:blipFill>
          <a:blip r:embed="rId1"/>
          <a:stretch>
            <a:fillRect/>
          </a:stretch>
        </p:blipFill>
        <p:spPr>
          <a:xfrm>
            <a:off x="621792" y="1686846"/>
            <a:ext cx="5263744" cy="2707068"/>
          </a:xfrm>
          <a:prstGeom prst="rect">
            <a:avLst/>
          </a:prstGeom>
        </p:spPr>
      </p:pic>
      <p:sp>
        <p:nvSpPr>
          <p:cNvPr id="6" name="Shape 3"/>
          <p:cNvSpPr/>
          <p:nvPr/>
        </p:nvSpPr>
        <p:spPr>
          <a:xfrm>
            <a:off x="6233008" y="1508760"/>
            <a:ext cx="5410048" cy="3063240"/>
          </a:xfrm>
          <a:prstGeom prst="roundRect">
            <a:avLst>
              <a:gd name="adj" fmla="val 3582"/>
            </a:avLst>
          </a:prstGeom>
          <a:solidFill>
            <a:srgbClr val="FFFFFF"/>
          </a:solidFill>
          <a:ln w="9525">
            <a:solidFill>
              <a:srgbClr val="D5DCE5"/>
            </a:solidFill>
            <a:prstDash val="solid"/>
          </a:ln>
        </p:spPr>
      </p:sp>
      <p:pic>
        <p:nvPicPr>
          <p:cNvPr id="7" name="Image 1" descr="Share of comments with informal-language phenomena">    </p:cNvPr>
          <p:cNvPicPr>
            <a:picLocks noChangeAspect="1"/>
          </p:cNvPicPr>
          <p:nvPr/>
        </p:nvPicPr>
        <p:blipFill>
          <a:blip r:embed="rId2"/>
          <a:stretch>
            <a:fillRect/>
          </a:stretch>
        </p:blipFill>
        <p:spPr>
          <a:xfrm>
            <a:off x="6401565" y="1581912"/>
            <a:ext cx="5072932" cy="2916936"/>
          </a:xfrm>
          <a:prstGeom prst="rect">
            <a:avLst/>
          </a:prstGeom>
        </p:spPr>
      </p:pic>
      <p:sp>
        <p:nvSpPr>
          <p:cNvPr id="8" name="Text 4"/>
          <p:cNvSpPr txBox="1"/>
          <p:nvPr/>
        </p:nvSpPr>
        <p:spPr>
          <a:xfrm>
            <a:off x="548640" y="4709160"/>
            <a:ext cx="5410048" cy="1280160"/>
          </a:xfrm>
          <a:prstGeom prst="rect">
            <a:avLst/>
          </a:prstGeom>
          <a:noFill/>
          <a:ln/>
        </p:spPr>
        <p:txBody>
          <a:bodyPr wrap="square" lIns="0" tIns="0" rIns="0" bIns="0" rtlCol="0" anchor="t"/>
          <a:lstStyle/>
          <a:p>
            <a:pPr indent="0" marL="0">
              <a:spcAft>
                <a:spcPts val="400"/>
              </a:spcAft>
              <a:buNone/>
            </a:pPr>
            <a:r>
              <a:rPr lang="en-US" sz="1400" dirty="0">
                <a:solidFill>
                  <a:srgbClr val="3D4A5C"/>
                </a:solidFill>
                <a:latin typeface="Calibri" pitchFamily="34" charset="0"/>
                <a:ea typeface="Calibri" pitchFamily="34" charset="-122"/>
                <a:cs typeface="Calibri" pitchFamily="34" charset="-120"/>
              </a:rPr>
              <a:t>Median 11 tokens / 47 characters; p99 = 84 tokens. PhoBERT: p99 = 85 sub-words, so max_len 192 truncates 0.01%.</a:t>
            </a:r>
            <a:endParaRPr lang="en-US" sz="1400" dirty="0"/>
          </a:p>
        </p:txBody>
      </p:sp>
      <p:sp>
        <p:nvSpPr>
          <p:cNvPr id="9" name="Text 5"/>
          <p:cNvSpPr txBox="1"/>
          <p:nvPr/>
        </p:nvSpPr>
        <p:spPr>
          <a:xfrm>
            <a:off x="6233008" y="4709160"/>
            <a:ext cx="5410048" cy="1280160"/>
          </a:xfrm>
          <a:prstGeom prst="rect">
            <a:avLst/>
          </a:prstGeom>
          <a:noFill/>
          <a:ln/>
        </p:spPr>
        <p:txBody>
          <a:bodyPr wrap="square" lIns="0" tIns="0" rIns="0" bIns="0" rtlCol="0" anchor="t"/>
          <a:lstStyle/>
          <a:p>
            <a:pPr indent="0" marL="0">
              <a:spcAft>
                <a:spcPts val="400"/>
              </a:spcAft>
              <a:buNone/>
            </a:pPr>
            <a:r>
              <a:rPr lang="en-US" sz="1400" dirty="0">
                <a:solidFill>
                  <a:srgbClr val="3D4A5C"/>
                </a:solidFill>
                <a:latin typeface="Calibri" pitchFamily="34" charset="0"/>
                <a:ea typeface="Calibri" pitchFamily="34" charset="-122"/>
                <a:cs typeface="Calibri" pitchFamily="34" charset="-120"/>
              </a:rPr>
              <a:t>Emoji are strongest for love (48.8%), pride (44.4%) and amusement (40.8%): emoji must be kept or translated, never deleted.</a:t>
            </a:r>
            <a:endParaRPr lang="en-US" sz="1400" dirty="0"/>
          </a:p>
        </p:txBody>
      </p:sp>
      <p:sp>
        <p:nvSpPr>
          <p:cNvPr id="10" name="Text 6"/>
          <p:cNvSpPr txBox="1"/>
          <p:nvPr/>
        </p:nvSpPr>
        <p:spPr>
          <a:xfrm>
            <a:off x="548640" y="6400800"/>
            <a:ext cx="9875520" cy="274320"/>
          </a:xfrm>
          <a:prstGeom prst="rect">
            <a:avLst/>
          </a:prstGeom>
          <a:noFill/>
          <a:ln/>
        </p:spPr>
        <p:txBody>
          <a:bodyPr wrap="square" lIns="0" tIns="0" rIns="0" bIns="0" rtlCol="0" anchor="ctr"/>
          <a:lstStyle/>
          <a:p>
            <a:pPr indent="0" marL="0">
              <a:buNone/>
            </a:pPr>
            <a:r>
              <a:rPr lang="en-US" sz="1000" dirty="0">
                <a:solidFill>
                  <a:srgbClr val="6B7688"/>
                </a:solidFill>
                <a:latin typeface="Calibri" pitchFamily="34" charset="0"/>
                <a:ea typeface="Calibri" pitchFamily="34" charset="-122"/>
                <a:cs typeface="Calibri" pitchFamily="34" charset="-120"/>
              </a:rPr>
              <a:t>text_length_stats.csv · informal_text_audit.csv · emoji_rate_by_label.csv (aggregates only)</a:t>
            </a:r>
            <a:endParaRPr lang="en-US" sz="1000" dirty="0"/>
          </a:p>
        </p:txBody>
      </p:sp>
      <p:sp>
        <p:nvSpPr>
          <p:cNvPr id="11" name="Text 7"/>
          <p:cNvSpPr txBox="1"/>
          <p:nvPr/>
        </p:nvSpPr>
        <p:spPr>
          <a:xfrm>
            <a:off x="11094415" y="6400800"/>
            <a:ext cx="548640" cy="274320"/>
          </a:xfrm>
          <a:prstGeom prst="rect">
            <a:avLst/>
          </a:prstGeom>
          <a:noFill/>
          <a:ln/>
        </p:spPr>
        <p:txBody>
          <a:bodyPr wrap="square" lIns="0" tIns="0" rIns="0" bIns="0" rtlCol="0" anchor="ctr"/>
          <a:lstStyle/>
          <a:p>
            <a:pPr algn="r" indent="0" marL="0">
              <a:buNone/>
            </a:pPr>
            <a:r>
              <a:rPr lang="en-US" sz="1000" dirty="0">
                <a:solidFill>
                  <a:srgbClr val="6B7688"/>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EF1F5"/>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292608"/>
          </a:xfrm>
          <a:prstGeom prst="rect">
            <a:avLst/>
          </a:prstGeom>
          <a:noFill/>
          <a:ln/>
        </p:spPr>
        <p:txBody>
          <a:bodyPr wrap="square" lIns="0" tIns="0" rIns="0" bIns="0" rtlCol="0" anchor="ctr"/>
          <a:lstStyle/>
          <a:p>
            <a:pPr indent="0" marL="0">
              <a:buNone/>
            </a:pPr>
            <a:r>
              <a:rPr lang="en-US" sz="1200" b="1" spc="200" kern="0" dirty="0">
                <a:solidFill>
                  <a:srgbClr val="C4650F"/>
                </a:solidFill>
                <a:latin typeface="Calibri" pitchFamily="34" charset="0"/>
                <a:ea typeface="Calibri" pitchFamily="34" charset="-122"/>
                <a:cs typeface="Calibri" pitchFamily="34" charset="-120"/>
              </a:rPr>
              <a:t>TRAIN / VALIDATION / TEST PROTOCOL</a:t>
            </a:r>
            <a:endParaRPr lang="en-US" sz="1200" dirty="0"/>
          </a:p>
        </p:txBody>
      </p:sp>
      <p:sp>
        <p:nvSpPr>
          <p:cNvPr id="3" name="Text 1"/>
          <p:cNvSpPr txBox="1"/>
          <p:nvPr/>
        </p:nvSpPr>
        <p:spPr>
          <a:xfrm>
            <a:off x="548640" y="658368"/>
            <a:ext cx="11094415" cy="731520"/>
          </a:xfrm>
          <a:prstGeom prst="rect">
            <a:avLst/>
          </a:prstGeom>
          <a:noFill/>
          <a:ln/>
        </p:spPr>
        <p:txBody>
          <a:bodyPr wrap="square" lIns="0" tIns="0" rIns="0" bIns="0" rtlCol="0" anchor="t"/>
          <a:lstStyle/>
          <a:p>
            <a:pPr indent="0" marL="0">
              <a:buNone/>
            </a:pPr>
            <a:r>
              <a:rPr lang="en-US" sz="2800" b="1" dirty="0">
                <a:solidFill>
                  <a:srgbClr val="14213D"/>
                </a:solidFill>
                <a:latin typeface="Cambria" pitchFamily="34" charset="0"/>
                <a:ea typeface="Cambria" pitchFamily="34" charset="-122"/>
                <a:cs typeface="Cambria" pitchFamily="34" charset="-120"/>
              </a:rPr>
              <a:t>One fixed split for every model, audited for stratification</a:t>
            </a:r>
            <a:endParaRPr lang="en-US" sz="2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7040880" cy="914400"/>
        </p:xfrm>
        <a:graphic>
          <a:graphicData uri="http://schemas.openxmlformats.org/drawingml/2006/table">
            <a:tbl>
              <a:tblPr/>
              <a:tblGrid>
                <a:gridCol w="3149867"/>
                <a:gridCol w="1482291"/>
                <a:gridCol w="1204361"/>
                <a:gridCol w="1204361"/>
              </a:tblGrid>
              <a:tr h="0">
                <a:tc>
                  <a:txBody>
                    <a:bodyPr/>
                    <a:lstStyle/>
                    <a:p>
                      <a:pPr algn="l" indent="0" marL="0">
                        <a:buNone/>
                      </a:pPr>
                      <a:r>
                        <a:rPr lang="en-US" sz="1300" b="1" dirty="0">
                          <a:solidFill>
                            <a:srgbClr val="14213D"/>
                          </a:solidFill>
                          <a:latin typeface="Calibri" pitchFamily="34" charset="0"/>
                          <a:ea typeface="Calibri" pitchFamily="34" charset="-122"/>
                          <a:cs typeface="Calibri" pitchFamily="34" charset="-120"/>
                        </a:rPr>
                        <a:t>Split protocol (80/10/10)</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DCE8FB"/>
                    </a:solidFill>
                  </a:tcPr>
                </a:tc>
                <a:tc>
                  <a:txBody>
                    <a:bodyPr/>
                    <a:lstStyle/>
                    <a:p>
                      <a:pPr algn="r" indent="0" marL="0">
                        <a:buNone/>
                      </a:pPr>
                      <a:r>
                        <a:rPr lang="en-US" sz="1300" b="1" dirty="0">
                          <a:solidFill>
                            <a:srgbClr val="14213D"/>
                          </a:solidFill>
                          <a:latin typeface="Calibri" pitchFamily="34" charset="0"/>
                          <a:ea typeface="Calibri" pitchFamily="34" charset="-122"/>
                          <a:cs typeface="Calibri" pitchFamily="34" charset="-120"/>
                        </a:rPr>
                        <a:t>Label-dist. LD ↓</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DCE8FB"/>
                    </a:solidFill>
                  </a:tcPr>
                </a:tc>
                <a:tc>
                  <a:txBody>
                    <a:bodyPr/>
                    <a:lstStyle/>
                    <a:p>
                      <a:pPr algn="r" indent="0" marL="0">
                        <a:buNone/>
                      </a:pPr>
                      <a:r>
                        <a:rPr lang="en-US" sz="1300" b="1" dirty="0">
                          <a:solidFill>
                            <a:srgbClr val="14213D"/>
                          </a:solidFill>
                          <a:latin typeface="Calibri" pitchFamily="34" charset="0"/>
                          <a:ea typeface="Calibri" pitchFamily="34" charset="-122"/>
                          <a:cs typeface="Calibri" pitchFamily="34" charset="-120"/>
                        </a:rPr>
                        <a:t>Min val pos.</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DCE8FB"/>
                    </a:solidFill>
                  </a:tcPr>
                </a:tc>
                <a:tc>
                  <a:txBody>
                    <a:bodyPr/>
                    <a:lstStyle/>
                    <a:p>
                      <a:pPr algn="r" indent="0" marL="0">
                        <a:buNone/>
                      </a:pPr>
                      <a:r>
                        <a:rPr lang="en-US" sz="1300" b="1" dirty="0">
                          <a:solidFill>
                            <a:srgbClr val="14213D"/>
                          </a:solidFill>
                          <a:latin typeface="Calibri" pitchFamily="34" charset="0"/>
                          <a:ea typeface="Calibri" pitchFamily="34" charset="-122"/>
                          <a:cs typeface="Calibri" pitchFamily="34" charset="-120"/>
                        </a:rPr>
                        <a:t>Min test pos.</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DCE8FB"/>
                    </a:solidFill>
                  </a:tcPr>
                </a:tc>
              </a:tr>
              <a:tr h="0">
                <a:tc>
                  <a:txBody>
                    <a:bodyPr/>
                    <a:lstStyle/>
                    <a:p>
                      <a:pPr algn="l" indent="0" marL="0">
                        <a:buNone/>
                      </a:pPr>
                      <a:r>
                        <a:rPr lang="en-US" sz="1300" b="1" dirty="0">
                          <a:solidFill>
                            <a:srgbClr val="14213D"/>
                          </a:solidFill>
                          <a:latin typeface="Calibri" pitchFamily="34" charset="0"/>
                          <a:ea typeface="Calibri" pitchFamily="34" charset="-122"/>
                          <a:cs typeface="Calibri" pitchFamily="34" charset="-120"/>
                        </a:rPr>
                        <a:t>Official release (used)</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r" indent="0" marL="0">
                        <a:buNone/>
                      </a:pPr>
                      <a:r>
                        <a:rPr lang="en-US" sz="1300" b="1" dirty="0">
                          <a:solidFill>
                            <a:srgbClr val="14213D"/>
                          </a:solidFill>
                          <a:latin typeface="Calibri" pitchFamily="34" charset="0"/>
                          <a:ea typeface="Calibri" pitchFamily="34" charset="-122"/>
                          <a:cs typeface="Calibri" pitchFamily="34" charset="-120"/>
                        </a:rPr>
                        <a:t>0.0035</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r" indent="0" marL="0">
                        <a:buNone/>
                      </a:pPr>
                      <a:r>
                        <a:rPr lang="en-US" sz="1300" b="1" dirty="0">
                          <a:solidFill>
                            <a:srgbClr val="14213D"/>
                          </a:solidFill>
                          <a:latin typeface="Calibri" pitchFamily="34" charset="0"/>
                          <a:ea typeface="Calibri" pitchFamily="34" charset="-122"/>
                          <a:cs typeface="Calibri" pitchFamily="34" charset="-120"/>
                        </a:rPr>
                        <a:t>58</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r" indent="0" marL="0">
                        <a:buNone/>
                      </a:pPr>
                      <a:r>
                        <a:rPr lang="en-US" sz="1300" b="1" dirty="0">
                          <a:solidFill>
                            <a:srgbClr val="14213D"/>
                          </a:solidFill>
                          <a:latin typeface="Calibri" pitchFamily="34" charset="0"/>
                          <a:ea typeface="Calibri" pitchFamily="34" charset="-122"/>
                          <a:cs typeface="Calibri" pitchFamily="34" charset="-120"/>
                        </a:rPr>
                        <a:t>60</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r>
              <a:tr h="0">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Random, seed 42</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5F7FA"/>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0.0044</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5F7FA"/>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73</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5F7FA"/>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88</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5F7FA"/>
                    </a:solidFill>
                  </a:tcPr>
                </a:tc>
              </a:tr>
              <a:tr h="0">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Iterative stratified, seed 42</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0.0004</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75</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76</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3063240"/>
            <a:ext cx="7040880" cy="1463040"/>
          </a:xfrm>
          <a:prstGeom prst="rect">
            <a:avLst/>
          </a:prstGeom>
          <a:noFill/>
          <a:ln/>
        </p:spPr>
        <p:txBody>
          <a:bodyPr wrap="square" lIns="0" tIns="0" rIns="0" bIns="0" rtlCol="0" anchor="t"/>
          <a:lstStyle/>
          <a:p>
            <a:pPr indent="0" marL="0">
              <a:spcAft>
                <a:spcPts val="400"/>
              </a:spcAft>
              <a:buNone/>
            </a:pPr>
            <a:r>
              <a:rPr lang="en-US" sz="1500" dirty="0">
                <a:solidFill>
                  <a:srgbClr val="3D4A5C"/>
                </a:solidFill>
                <a:latin typeface="Calibri" pitchFamily="34" charset="0"/>
                <a:ea typeface="Calibri" pitchFamily="34" charset="-122"/>
                <a:cs typeface="Calibri" pitchFamily="34" charset="-120"/>
              </a:rPr>
              <a:t>We keep the official split so every number is comparable with the published baselines. The audit shows it is only random-level stratified; the iterative split (Sechidis et al., 2011) is saved for a robustness check in the Final.</a:t>
            </a:r>
            <a:endParaRPr lang="en-US" sz="1500" dirty="0"/>
          </a:p>
        </p:txBody>
      </p:sp>
      <p:sp>
        <p:nvSpPr>
          <p:cNvPr id="6" name="Shape 3"/>
          <p:cNvSpPr/>
          <p:nvPr/>
        </p:nvSpPr>
        <p:spPr>
          <a:xfrm>
            <a:off x="8001000" y="1645920"/>
            <a:ext cx="3642055" cy="1188720"/>
          </a:xfrm>
          <a:prstGeom prst="roundRect">
            <a:avLst>
              <a:gd name="adj" fmla="val 9231"/>
            </a:avLst>
          </a:prstGeom>
          <a:solidFill>
            <a:srgbClr val="FFFFFF"/>
          </a:solidFill>
          <a:ln w="9525">
            <a:solidFill>
              <a:srgbClr val="D5DCE5"/>
            </a:solidFill>
            <a:prstDash val="solid"/>
          </a:ln>
        </p:spPr>
      </p:sp>
      <p:sp>
        <p:nvSpPr>
          <p:cNvPr id="7" name="Text 4"/>
          <p:cNvSpPr txBox="1"/>
          <p:nvPr/>
        </p:nvSpPr>
        <p:spPr>
          <a:xfrm>
            <a:off x="8229600" y="1783080"/>
            <a:ext cx="3184855" cy="1005840"/>
          </a:xfrm>
          <a:prstGeom prst="rect">
            <a:avLst/>
          </a:prstGeom>
          <a:noFill/>
          <a:ln/>
        </p:spPr>
        <p:txBody>
          <a:bodyPr wrap="square" lIns="0" tIns="0" rIns="0" bIns="0" rtlCol="0" anchor="t"/>
          <a:lstStyle/>
          <a:p>
            <a:pPr indent="0" marL="0">
              <a:spcAft>
                <a:spcPts val="500"/>
              </a:spcAft>
              <a:buNone/>
            </a:pPr>
            <a:r>
              <a:rPr lang="en-US" sz="1700" b="1" dirty="0">
                <a:solidFill>
                  <a:srgbClr val="1B4FA8"/>
                </a:solidFill>
                <a:latin typeface="Calibri" pitchFamily="34" charset="0"/>
                <a:ea typeface="Calibri" pitchFamily="34" charset="-122"/>
                <a:cs typeface="Calibri" pitchFamily="34" charset="-120"/>
              </a:rPr>
              <a:t>Train · 16,531</a:t>
            </a:r>
            <a:endParaRPr lang="en-US" sz="1700" dirty="0"/>
          </a:p>
          <a:p>
            <a:pPr indent="0" marL="0">
              <a:spcAft>
                <a:spcPts val="500"/>
              </a:spcAft>
              <a:buNone/>
            </a:pPr>
            <a:r>
              <a:rPr lang="en-US" sz="1400" dirty="0">
                <a:solidFill>
                  <a:srgbClr val="3D4A5C"/>
                </a:solidFill>
                <a:latin typeface="Calibri" pitchFamily="34" charset="0"/>
                <a:ea typeface="Calibri" pitchFamily="34" charset="-122"/>
                <a:cs typeface="Calibri" pitchFamily="34" charset="-120"/>
              </a:rPr>
              <a:t>fit models, vocabularies, co-occurrence statistics</a:t>
            </a:r>
            <a:endParaRPr lang="en-US" sz="1700" dirty="0"/>
          </a:p>
        </p:txBody>
      </p:sp>
      <p:sp>
        <p:nvSpPr>
          <p:cNvPr id="8" name="Shape 5"/>
          <p:cNvSpPr/>
          <p:nvPr/>
        </p:nvSpPr>
        <p:spPr>
          <a:xfrm>
            <a:off x="8001000" y="3017520"/>
            <a:ext cx="3642055" cy="1188720"/>
          </a:xfrm>
          <a:prstGeom prst="roundRect">
            <a:avLst>
              <a:gd name="adj" fmla="val 9231"/>
            </a:avLst>
          </a:prstGeom>
          <a:solidFill>
            <a:srgbClr val="FFFFFF"/>
          </a:solidFill>
          <a:ln w="9525">
            <a:solidFill>
              <a:srgbClr val="D5DCE5"/>
            </a:solidFill>
            <a:prstDash val="solid"/>
          </a:ln>
        </p:spPr>
      </p:sp>
      <p:sp>
        <p:nvSpPr>
          <p:cNvPr id="9" name="Text 6"/>
          <p:cNvSpPr txBox="1"/>
          <p:nvPr/>
        </p:nvSpPr>
        <p:spPr>
          <a:xfrm>
            <a:off x="8229600" y="3154680"/>
            <a:ext cx="3184855" cy="1005840"/>
          </a:xfrm>
          <a:prstGeom prst="rect">
            <a:avLst/>
          </a:prstGeom>
          <a:noFill/>
          <a:ln/>
        </p:spPr>
        <p:txBody>
          <a:bodyPr wrap="square" lIns="0" tIns="0" rIns="0" bIns="0" rtlCol="0" anchor="t"/>
          <a:lstStyle/>
          <a:p>
            <a:pPr indent="0" marL="0">
              <a:spcAft>
                <a:spcPts val="500"/>
              </a:spcAft>
              <a:buNone/>
            </a:pPr>
            <a:r>
              <a:rPr lang="en-US" sz="1700" b="1" dirty="0">
                <a:solidFill>
                  <a:srgbClr val="8A5A12"/>
                </a:solidFill>
                <a:latin typeface="Calibri" pitchFamily="34" charset="0"/>
                <a:ea typeface="Calibri" pitchFamily="34" charset="-122"/>
                <a:cs typeface="Calibri" pitchFamily="34" charset="-120"/>
              </a:rPr>
              <a:t>Validation · 2,066</a:t>
            </a:r>
            <a:endParaRPr lang="en-US" sz="1700" dirty="0"/>
          </a:p>
          <a:p>
            <a:pPr indent="0" marL="0">
              <a:spcAft>
                <a:spcPts val="500"/>
              </a:spcAft>
              <a:buNone/>
            </a:pPr>
            <a:r>
              <a:rPr lang="en-US" sz="1400" dirty="0">
                <a:solidFill>
                  <a:srgbClr val="3D4A5C"/>
                </a:solidFill>
                <a:latin typeface="Calibri" pitchFamily="34" charset="0"/>
                <a:ea typeface="Calibri" pitchFamily="34" charset="-122"/>
                <a:cs typeface="Calibri" pitchFamily="34" charset="-120"/>
              </a:rPr>
              <a:t>early stopping, hyper-parameters, thresholds</a:t>
            </a:r>
            <a:endParaRPr lang="en-US" sz="1700" dirty="0"/>
          </a:p>
        </p:txBody>
      </p:sp>
      <p:sp>
        <p:nvSpPr>
          <p:cNvPr id="10" name="Shape 7"/>
          <p:cNvSpPr/>
          <p:nvPr/>
        </p:nvSpPr>
        <p:spPr>
          <a:xfrm>
            <a:off x="8001000" y="4389120"/>
            <a:ext cx="3642055" cy="1188720"/>
          </a:xfrm>
          <a:prstGeom prst="roundRect">
            <a:avLst>
              <a:gd name="adj" fmla="val 9231"/>
            </a:avLst>
          </a:prstGeom>
          <a:solidFill>
            <a:srgbClr val="FFFFFF"/>
          </a:solidFill>
          <a:ln w="9525">
            <a:solidFill>
              <a:srgbClr val="D5DCE5"/>
            </a:solidFill>
            <a:prstDash val="solid"/>
          </a:ln>
        </p:spPr>
      </p:sp>
      <p:sp>
        <p:nvSpPr>
          <p:cNvPr id="11" name="Text 8"/>
          <p:cNvSpPr txBox="1"/>
          <p:nvPr/>
        </p:nvSpPr>
        <p:spPr>
          <a:xfrm>
            <a:off x="8229600" y="4526280"/>
            <a:ext cx="3184855" cy="1005840"/>
          </a:xfrm>
          <a:prstGeom prst="rect">
            <a:avLst/>
          </a:prstGeom>
          <a:noFill/>
          <a:ln/>
        </p:spPr>
        <p:txBody>
          <a:bodyPr wrap="square" lIns="0" tIns="0" rIns="0" bIns="0" rtlCol="0" anchor="t"/>
          <a:lstStyle/>
          <a:p>
            <a:pPr indent="0" marL="0">
              <a:spcAft>
                <a:spcPts val="500"/>
              </a:spcAft>
              <a:buNone/>
            </a:pPr>
            <a:r>
              <a:rPr lang="en-US" sz="1700" b="1" dirty="0">
                <a:solidFill>
                  <a:srgbClr val="A52F3E"/>
                </a:solidFill>
                <a:latin typeface="Calibri" pitchFamily="34" charset="0"/>
                <a:ea typeface="Calibri" pitchFamily="34" charset="-122"/>
                <a:cs typeface="Calibri" pitchFamily="34" charset="-120"/>
              </a:rPr>
              <a:t>Test · 2,067 (sealed)</a:t>
            </a:r>
            <a:endParaRPr lang="en-US" sz="1700" dirty="0"/>
          </a:p>
          <a:p>
            <a:pPr indent="0" marL="0">
              <a:spcAft>
                <a:spcPts val="500"/>
              </a:spcAft>
              <a:buNone/>
            </a:pPr>
            <a:r>
              <a:rPr lang="en-US" sz="1400" dirty="0">
                <a:solidFill>
                  <a:srgbClr val="3D4A5C"/>
                </a:solidFill>
                <a:latin typeface="Calibri" pitchFamily="34" charset="0"/>
                <a:ea typeface="Calibri" pitchFamily="34" charset="-122"/>
                <a:cs typeface="Calibri" pitchFamily="34" charset="-120"/>
              </a:rPr>
              <a:t>scored once per frozen model</a:t>
            </a:r>
            <a:endParaRPr lang="en-US" sz="1700" dirty="0"/>
          </a:p>
        </p:txBody>
      </p:sp>
      <p:sp>
        <p:nvSpPr>
          <p:cNvPr id="12" name="Text 9"/>
          <p:cNvSpPr txBox="1"/>
          <p:nvPr/>
        </p:nvSpPr>
        <p:spPr>
          <a:xfrm>
            <a:off x="548640" y="6400800"/>
            <a:ext cx="9875520" cy="274320"/>
          </a:xfrm>
          <a:prstGeom prst="rect">
            <a:avLst/>
          </a:prstGeom>
          <a:noFill/>
          <a:ln/>
        </p:spPr>
        <p:txBody>
          <a:bodyPr wrap="square" lIns="0" tIns="0" rIns="0" bIns="0" rtlCol="0" anchor="ctr"/>
          <a:lstStyle/>
          <a:p>
            <a:pPr indent="0" marL="0">
              <a:buNone/>
            </a:pPr>
            <a:r>
              <a:rPr lang="en-US" sz="1000" dirty="0">
                <a:solidFill>
                  <a:srgbClr val="6B7688"/>
                </a:solidFill>
                <a:latin typeface="Calibri" pitchFamily="34" charset="0"/>
                <a:ea typeface="Calibri" pitchFamily="34" charset="-122"/>
                <a:cs typeface="Calibri" pitchFamily="34" charset="-120"/>
              </a:rPr>
              <a:t>splits/official/*_ids.txt · results/tables/split_quality_audit.csv</a:t>
            </a:r>
            <a:endParaRPr lang="en-US" sz="1000" dirty="0"/>
          </a:p>
        </p:txBody>
      </p:sp>
      <p:sp>
        <p:nvSpPr>
          <p:cNvPr id="13" name="Text 10"/>
          <p:cNvSpPr txBox="1"/>
          <p:nvPr/>
        </p:nvSpPr>
        <p:spPr>
          <a:xfrm>
            <a:off x="11094415" y="6400800"/>
            <a:ext cx="548640" cy="274320"/>
          </a:xfrm>
          <a:prstGeom prst="rect">
            <a:avLst/>
          </a:prstGeom>
          <a:noFill/>
          <a:ln/>
        </p:spPr>
        <p:txBody>
          <a:bodyPr wrap="square" lIns="0" tIns="0" rIns="0" bIns="0" rtlCol="0" anchor="ctr"/>
          <a:lstStyle/>
          <a:p>
            <a:pPr algn="r" indent="0" marL="0">
              <a:buNone/>
            </a:pPr>
            <a:r>
              <a:rPr lang="en-US" sz="1000" dirty="0">
                <a:solidFill>
                  <a:srgbClr val="6B7688"/>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EF1F5"/>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292608"/>
          </a:xfrm>
          <a:prstGeom prst="rect">
            <a:avLst/>
          </a:prstGeom>
          <a:noFill/>
          <a:ln/>
        </p:spPr>
        <p:txBody>
          <a:bodyPr wrap="square" lIns="0" tIns="0" rIns="0" bIns="0" rtlCol="0" anchor="ctr"/>
          <a:lstStyle/>
          <a:p>
            <a:pPr indent="0" marL="0">
              <a:buNone/>
            </a:pPr>
            <a:r>
              <a:rPr lang="en-US" sz="1200" b="1" spc="200" kern="0" dirty="0">
                <a:solidFill>
                  <a:srgbClr val="C4650F"/>
                </a:solidFill>
                <a:latin typeface="Calibri" pitchFamily="34" charset="0"/>
                <a:ea typeface="Calibri" pitchFamily="34" charset="-122"/>
                <a:cs typeface="Calibri" pitchFamily="34" charset="-120"/>
              </a:rPr>
              <a:t>PREPROCESSING PIPELINE</a:t>
            </a:r>
            <a:endParaRPr lang="en-US" sz="1200" dirty="0"/>
          </a:p>
        </p:txBody>
      </p:sp>
      <p:sp>
        <p:nvSpPr>
          <p:cNvPr id="3" name="Text 1"/>
          <p:cNvSpPr txBox="1"/>
          <p:nvPr/>
        </p:nvSpPr>
        <p:spPr>
          <a:xfrm>
            <a:off x="548640" y="658368"/>
            <a:ext cx="11094415" cy="731520"/>
          </a:xfrm>
          <a:prstGeom prst="rect">
            <a:avLst/>
          </a:prstGeom>
          <a:noFill/>
          <a:ln/>
        </p:spPr>
        <p:txBody>
          <a:bodyPr wrap="square" lIns="0" tIns="0" rIns="0" bIns="0" rtlCol="0" anchor="t"/>
          <a:lstStyle/>
          <a:p>
            <a:pPr indent="0" marL="0">
              <a:buNone/>
            </a:pPr>
            <a:r>
              <a:rPr lang="en-US" sz="2800" b="1" dirty="0">
                <a:solidFill>
                  <a:srgbClr val="14213D"/>
                </a:solidFill>
                <a:latin typeface="Cambria" pitchFamily="34" charset="0"/>
                <a:ea typeface="Cambria" pitchFamily="34" charset="-122"/>
                <a:cs typeface="Cambria" pitchFamily="34" charset="-120"/>
              </a:rPr>
              <a:t>Normalise the noise, keep the emotion signal</a:t>
            </a:r>
            <a:endParaRPr lang="en-US" sz="2800" dirty="0"/>
          </a:p>
        </p:txBody>
      </p:sp>
      <p:sp>
        <p:nvSpPr>
          <p:cNvPr id="4" name="Shape 2"/>
          <p:cNvSpPr/>
          <p:nvPr/>
        </p:nvSpPr>
        <p:spPr>
          <a:xfrm>
            <a:off x="548640" y="1463040"/>
            <a:ext cx="2636444" cy="1280160"/>
          </a:xfrm>
          <a:prstGeom prst="roundRect">
            <a:avLst>
              <a:gd name="adj" fmla="val 8571"/>
            </a:avLst>
          </a:prstGeom>
          <a:solidFill>
            <a:srgbClr val="FFFFFF"/>
          </a:solidFill>
          <a:ln w="9525">
            <a:solidFill>
              <a:srgbClr val="D5DCE5"/>
            </a:solidFill>
            <a:prstDash val="solid"/>
          </a:ln>
        </p:spPr>
      </p:sp>
      <p:sp>
        <p:nvSpPr>
          <p:cNvPr id="5" name="Text 3"/>
          <p:cNvSpPr txBox="1"/>
          <p:nvPr/>
        </p:nvSpPr>
        <p:spPr>
          <a:xfrm>
            <a:off x="713232" y="1591056"/>
            <a:ext cx="2307260" cy="1051560"/>
          </a:xfrm>
          <a:prstGeom prst="rect">
            <a:avLst/>
          </a:prstGeom>
          <a:noFill/>
          <a:ln/>
        </p:spPr>
        <p:txBody>
          <a:bodyPr wrap="square" lIns="0" tIns="0" rIns="0" bIns="0" rtlCol="0" anchor="t"/>
          <a:lstStyle/>
          <a:p>
            <a:pPr indent="0" marL="0">
              <a:spcAft>
                <a:spcPts val="500"/>
              </a:spcAft>
              <a:buNone/>
            </a:pPr>
            <a:r>
              <a:rPr lang="en-US" sz="1400" b="1" dirty="0">
                <a:solidFill>
                  <a:srgbClr val="14213D"/>
                </a:solidFill>
                <a:latin typeface="Calibri" pitchFamily="34" charset="0"/>
                <a:ea typeface="Calibri" pitchFamily="34" charset="-122"/>
                <a:cs typeface="Calibri" pitchFamily="34" charset="-120"/>
              </a:rPr>
              <a:t>1 · Unicode NFC</a:t>
            </a:r>
            <a:endParaRPr lang="en-US" sz="1400" dirty="0"/>
          </a:p>
          <a:p>
            <a:pPr indent="0" marL="0">
              <a:spcAft>
                <a:spcPts val="500"/>
              </a:spcAft>
              <a:buNone/>
            </a:pPr>
            <a:r>
              <a:rPr lang="en-US" sz="1200" dirty="0">
                <a:solidFill>
                  <a:srgbClr val="3D4A5C"/>
                </a:solidFill>
                <a:latin typeface="Calibri" pitchFamily="34" charset="0"/>
                <a:ea typeface="Calibri" pitchFamily="34" charset="-122"/>
                <a:cs typeface="Calibri" pitchFamily="34" charset="-120"/>
              </a:rPr>
              <a:t>fixes a bug in the official code: “cảm” → “cảmày”</a:t>
            </a:r>
            <a:endParaRPr lang="en-US" sz="1400" dirty="0"/>
          </a:p>
        </p:txBody>
      </p:sp>
      <p:sp>
        <p:nvSpPr>
          <p:cNvPr id="6" name="Shape 4"/>
          <p:cNvSpPr/>
          <p:nvPr/>
        </p:nvSpPr>
        <p:spPr>
          <a:xfrm>
            <a:off x="3367964" y="1463040"/>
            <a:ext cx="2636444" cy="1280160"/>
          </a:xfrm>
          <a:prstGeom prst="roundRect">
            <a:avLst>
              <a:gd name="adj" fmla="val 8571"/>
            </a:avLst>
          </a:prstGeom>
          <a:solidFill>
            <a:srgbClr val="FFFFFF"/>
          </a:solidFill>
          <a:ln w="9525">
            <a:solidFill>
              <a:srgbClr val="D5DCE5"/>
            </a:solidFill>
            <a:prstDash val="solid"/>
          </a:ln>
        </p:spPr>
      </p:sp>
      <p:sp>
        <p:nvSpPr>
          <p:cNvPr id="7" name="Text 5"/>
          <p:cNvSpPr txBox="1"/>
          <p:nvPr/>
        </p:nvSpPr>
        <p:spPr>
          <a:xfrm>
            <a:off x="3532556" y="1591056"/>
            <a:ext cx="2307260" cy="1051560"/>
          </a:xfrm>
          <a:prstGeom prst="rect">
            <a:avLst/>
          </a:prstGeom>
          <a:noFill/>
          <a:ln/>
        </p:spPr>
        <p:txBody>
          <a:bodyPr wrap="square" lIns="0" tIns="0" rIns="0" bIns="0" rtlCol="0" anchor="t"/>
          <a:lstStyle/>
          <a:p>
            <a:pPr indent="0" marL="0">
              <a:spcAft>
                <a:spcPts val="500"/>
              </a:spcAft>
              <a:buNone/>
            </a:pPr>
            <a:r>
              <a:rPr lang="en-US" sz="1400" b="1" dirty="0">
                <a:solidFill>
                  <a:srgbClr val="14213D"/>
                </a:solidFill>
                <a:latin typeface="Calibri" pitchFamily="34" charset="0"/>
                <a:ea typeface="Calibri" pitchFamily="34" charset="-122"/>
                <a:cs typeface="Calibri" pitchFamily="34" charset="-120"/>
              </a:rPr>
              <a:t>2 · Mask &amp; clean</a:t>
            </a:r>
            <a:endParaRPr lang="en-US" sz="1400" dirty="0"/>
          </a:p>
          <a:p>
            <a:pPr indent="0" marL="0">
              <a:spcAft>
                <a:spcPts val="500"/>
              </a:spcAft>
              <a:buNone/>
            </a:pPr>
            <a:r>
              <a:rPr lang="en-US" sz="1200" dirty="0">
                <a:solidFill>
                  <a:srgbClr val="3D4A5C"/>
                </a:solidFill>
                <a:latin typeface="Calibri" pitchFamily="34" charset="0"/>
                <a:ea typeface="Calibri" pitchFamily="34" charset="-122"/>
                <a:cs typeface="Calibri" pitchFamily="34" charset="-120"/>
              </a:rPr>
              <a:t>@user, url, &lt;br&gt;, lower-case</a:t>
            </a:r>
            <a:endParaRPr lang="en-US" sz="1400" dirty="0"/>
          </a:p>
        </p:txBody>
      </p:sp>
      <p:sp>
        <p:nvSpPr>
          <p:cNvPr id="8" name="Shape 6"/>
          <p:cNvSpPr/>
          <p:nvPr/>
        </p:nvSpPr>
        <p:spPr>
          <a:xfrm>
            <a:off x="6187288" y="1463040"/>
            <a:ext cx="2636444" cy="1280160"/>
          </a:xfrm>
          <a:prstGeom prst="roundRect">
            <a:avLst>
              <a:gd name="adj" fmla="val 8571"/>
            </a:avLst>
          </a:prstGeom>
          <a:solidFill>
            <a:srgbClr val="FFFFFF"/>
          </a:solidFill>
          <a:ln w="9525">
            <a:solidFill>
              <a:srgbClr val="D5DCE5"/>
            </a:solidFill>
            <a:prstDash val="solid"/>
          </a:ln>
        </p:spPr>
      </p:sp>
      <p:sp>
        <p:nvSpPr>
          <p:cNvPr id="9" name="Text 7"/>
          <p:cNvSpPr txBox="1"/>
          <p:nvPr/>
        </p:nvSpPr>
        <p:spPr>
          <a:xfrm>
            <a:off x="6351880" y="1591056"/>
            <a:ext cx="2307260" cy="1051560"/>
          </a:xfrm>
          <a:prstGeom prst="rect">
            <a:avLst/>
          </a:prstGeom>
          <a:noFill/>
          <a:ln/>
        </p:spPr>
        <p:txBody>
          <a:bodyPr wrap="square" lIns="0" tIns="0" rIns="0" bIns="0" rtlCol="0" anchor="t"/>
          <a:lstStyle/>
          <a:p>
            <a:pPr indent="0" marL="0">
              <a:spcAft>
                <a:spcPts val="500"/>
              </a:spcAft>
              <a:buNone/>
            </a:pPr>
            <a:r>
              <a:rPr lang="en-US" sz="1400" b="1" dirty="0">
                <a:solidFill>
                  <a:srgbClr val="14213D"/>
                </a:solidFill>
                <a:latin typeface="Calibri" pitchFamily="34" charset="0"/>
                <a:ea typeface="Calibri" pitchFamily="34" charset="-122"/>
                <a:cs typeface="Calibri" pitchFamily="34" charset="-120"/>
              </a:rPr>
              <a:t>3 · Tone marks</a:t>
            </a:r>
            <a:endParaRPr lang="en-US" sz="1400" dirty="0"/>
          </a:p>
          <a:p>
            <a:pPr indent="0" marL="0">
              <a:spcAft>
                <a:spcPts val="500"/>
              </a:spcAft>
              <a:buNone/>
            </a:pPr>
            <a:r>
              <a:rPr lang="en-US" sz="1200" dirty="0">
                <a:solidFill>
                  <a:srgbClr val="3D4A5C"/>
                </a:solidFill>
                <a:latin typeface="Calibri" pitchFamily="34" charset="0"/>
                <a:ea typeface="Calibri" pitchFamily="34" charset="-122"/>
                <a:cs typeface="Calibri" pitchFamily="34" charset="-120"/>
              </a:rPr>
              <a:t>VinAI table: “hòa” → “hoà”, “thủy” → “thuỷ”</a:t>
            </a:r>
            <a:endParaRPr lang="en-US" sz="1400" dirty="0"/>
          </a:p>
        </p:txBody>
      </p:sp>
      <p:sp>
        <p:nvSpPr>
          <p:cNvPr id="10" name="Shape 8"/>
          <p:cNvSpPr/>
          <p:nvPr/>
        </p:nvSpPr>
        <p:spPr>
          <a:xfrm>
            <a:off x="9006611" y="1463040"/>
            <a:ext cx="2636444" cy="1280160"/>
          </a:xfrm>
          <a:prstGeom prst="roundRect">
            <a:avLst>
              <a:gd name="adj" fmla="val 8571"/>
            </a:avLst>
          </a:prstGeom>
          <a:solidFill>
            <a:srgbClr val="FFFFFF"/>
          </a:solidFill>
          <a:ln w="9525">
            <a:solidFill>
              <a:srgbClr val="D5DCE5"/>
            </a:solidFill>
            <a:prstDash val="solid"/>
          </a:ln>
        </p:spPr>
      </p:sp>
      <p:sp>
        <p:nvSpPr>
          <p:cNvPr id="11" name="Text 9"/>
          <p:cNvSpPr txBox="1"/>
          <p:nvPr/>
        </p:nvSpPr>
        <p:spPr>
          <a:xfrm>
            <a:off x="9171203" y="1591056"/>
            <a:ext cx="2307260" cy="1051560"/>
          </a:xfrm>
          <a:prstGeom prst="rect">
            <a:avLst/>
          </a:prstGeom>
          <a:noFill/>
          <a:ln/>
        </p:spPr>
        <p:txBody>
          <a:bodyPr wrap="square" lIns="0" tIns="0" rIns="0" bIns="0" rtlCol="0" anchor="t"/>
          <a:lstStyle/>
          <a:p>
            <a:pPr indent="0" marL="0">
              <a:spcAft>
                <a:spcPts val="500"/>
              </a:spcAft>
              <a:buNone/>
            </a:pPr>
            <a:r>
              <a:rPr lang="en-US" sz="1400" b="1" dirty="0">
                <a:solidFill>
                  <a:srgbClr val="14213D"/>
                </a:solidFill>
                <a:latin typeface="Calibri" pitchFamily="34" charset="0"/>
                <a:ea typeface="Calibri" pitchFamily="34" charset="-122"/>
                <a:cs typeface="Calibri" pitchFamily="34" charset="-120"/>
              </a:rPr>
              <a:t>4 · Elongation</a:t>
            </a:r>
            <a:endParaRPr lang="en-US" sz="1400" dirty="0"/>
          </a:p>
          <a:p>
            <a:pPr indent="0" marL="0">
              <a:spcAft>
                <a:spcPts val="500"/>
              </a:spcAft>
              <a:buNone/>
            </a:pPr>
            <a:r>
              <a:rPr lang="en-US" sz="1200" dirty="0">
                <a:solidFill>
                  <a:srgbClr val="3D4A5C"/>
                </a:solidFill>
                <a:latin typeface="Calibri" pitchFamily="34" charset="0"/>
                <a:ea typeface="Calibri" pitchFamily="34" charset="-122"/>
                <a:cs typeface="Calibri" pitchFamily="34" charset="-120"/>
              </a:rPr>
              <a:t>“quáaaa” → “quá”, “kkk” → “haha”, “:)))))” → “:))”</a:t>
            </a:r>
            <a:endParaRPr lang="en-US" sz="1400" dirty="0"/>
          </a:p>
        </p:txBody>
      </p:sp>
      <p:sp>
        <p:nvSpPr>
          <p:cNvPr id="12" name="Shape 10"/>
          <p:cNvSpPr/>
          <p:nvPr/>
        </p:nvSpPr>
        <p:spPr>
          <a:xfrm>
            <a:off x="548640" y="2880360"/>
            <a:ext cx="2636444" cy="1280160"/>
          </a:xfrm>
          <a:prstGeom prst="roundRect">
            <a:avLst>
              <a:gd name="adj" fmla="val 8571"/>
            </a:avLst>
          </a:prstGeom>
          <a:solidFill>
            <a:srgbClr val="FFFFFF"/>
          </a:solidFill>
          <a:ln w="9525">
            <a:solidFill>
              <a:srgbClr val="D5DCE5"/>
            </a:solidFill>
            <a:prstDash val="solid"/>
          </a:ln>
        </p:spPr>
      </p:sp>
      <p:sp>
        <p:nvSpPr>
          <p:cNvPr id="13" name="Text 11"/>
          <p:cNvSpPr txBox="1"/>
          <p:nvPr/>
        </p:nvSpPr>
        <p:spPr>
          <a:xfrm>
            <a:off x="713232" y="3008376"/>
            <a:ext cx="2307260" cy="1051560"/>
          </a:xfrm>
          <a:prstGeom prst="rect">
            <a:avLst/>
          </a:prstGeom>
          <a:noFill/>
          <a:ln/>
        </p:spPr>
        <p:txBody>
          <a:bodyPr wrap="square" lIns="0" tIns="0" rIns="0" bIns="0" rtlCol="0" anchor="t"/>
          <a:lstStyle/>
          <a:p>
            <a:pPr indent="0" marL="0">
              <a:spcAft>
                <a:spcPts val="500"/>
              </a:spcAft>
              <a:buNone/>
            </a:pPr>
            <a:r>
              <a:rPr lang="en-US" sz="1400" b="1" dirty="0">
                <a:solidFill>
                  <a:srgbClr val="14213D"/>
                </a:solidFill>
                <a:latin typeface="Calibri" pitchFamily="34" charset="0"/>
                <a:ea typeface="Calibri" pitchFamily="34" charset="-122"/>
                <a:cs typeface="Calibri" pitchFamily="34" charset="-120"/>
              </a:rPr>
              <a:t>5 · Emoji</a:t>
            </a:r>
            <a:endParaRPr lang="en-US" sz="1400" dirty="0"/>
          </a:p>
          <a:p>
            <a:pPr indent="0" marL="0">
              <a:spcAft>
                <a:spcPts val="500"/>
              </a:spcAft>
              <a:buNone/>
            </a:pPr>
            <a:r>
              <a:rPr lang="en-US" sz="1200" dirty="0">
                <a:solidFill>
                  <a:srgbClr val="3D4A5C"/>
                </a:solidFill>
                <a:latin typeface="Calibri" pitchFamily="34" charset="0"/>
                <a:ea typeface="Calibri" pitchFamily="34" charset="-122"/>
                <a:cs typeface="Calibri" pitchFamily="34" charset="-120"/>
              </a:rPr>
              <a:t>keep as tokens, or 😭 → “khóc lớn” (CLDR vi fallback)</a:t>
            </a:r>
            <a:endParaRPr lang="en-US" sz="1400" dirty="0"/>
          </a:p>
        </p:txBody>
      </p:sp>
      <p:sp>
        <p:nvSpPr>
          <p:cNvPr id="14" name="Shape 12"/>
          <p:cNvSpPr/>
          <p:nvPr/>
        </p:nvSpPr>
        <p:spPr>
          <a:xfrm>
            <a:off x="3367964" y="2880360"/>
            <a:ext cx="2636444" cy="1280160"/>
          </a:xfrm>
          <a:prstGeom prst="roundRect">
            <a:avLst>
              <a:gd name="adj" fmla="val 8571"/>
            </a:avLst>
          </a:prstGeom>
          <a:solidFill>
            <a:srgbClr val="FFFFFF"/>
          </a:solidFill>
          <a:ln w="9525">
            <a:solidFill>
              <a:srgbClr val="D5DCE5"/>
            </a:solidFill>
            <a:prstDash val="solid"/>
          </a:ln>
        </p:spPr>
      </p:sp>
      <p:sp>
        <p:nvSpPr>
          <p:cNvPr id="15" name="Text 13"/>
          <p:cNvSpPr txBox="1"/>
          <p:nvPr/>
        </p:nvSpPr>
        <p:spPr>
          <a:xfrm>
            <a:off x="3532556" y="3008376"/>
            <a:ext cx="2307260" cy="1051560"/>
          </a:xfrm>
          <a:prstGeom prst="rect">
            <a:avLst/>
          </a:prstGeom>
          <a:noFill/>
          <a:ln/>
        </p:spPr>
        <p:txBody>
          <a:bodyPr wrap="square" lIns="0" tIns="0" rIns="0" bIns="0" rtlCol="0" anchor="t"/>
          <a:lstStyle/>
          <a:p>
            <a:pPr indent="0" marL="0">
              <a:spcAft>
                <a:spcPts val="500"/>
              </a:spcAft>
              <a:buNone/>
            </a:pPr>
            <a:r>
              <a:rPr lang="en-US" sz="1400" b="1" dirty="0">
                <a:solidFill>
                  <a:srgbClr val="14213D"/>
                </a:solidFill>
                <a:latin typeface="Calibri" pitchFamily="34" charset="0"/>
                <a:ea typeface="Calibri" pitchFamily="34" charset="-122"/>
                <a:cs typeface="Calibri" pitchFamily="34" charset="-120"/>
              </a:rPr>
              <a:t>6 · Teencode</a:t>
            </a:r>
            <a:endParaRPr lang="en-US" sz="1400" dirty="0"/>
          </a:p>
          <a:p>
            <a:pPr indent="0" marL="0">
              <a:spcAft>
                <a:spcPts val="500"/>
              </a:spcAft>
              <a:buNone/>
            </a:pPr>
            <a:r>
              <a:rPr lang="en-US" sz="1200" dirty="0">
                <a:solidFill>
                  <a:srgbClr val="3D4A5C"/>
                </a:solidFill>
                <a:latin typeface="Calibri" pitchFamily="34" charset="0"/>
                <a:ea typeface="Calibri" pitchFamily="34" charset="-122"/>
                <a:cs typeface="Calibri" pitchFamily="34" charset="-120"/>
              </a:rPr>
              <a:t>token-level lookup, 441 official + 62 added: “ko” → “không”</a:t>
            </a:r>
            <a:endParaRPr lang="en-US" sz="1400" dirty="0"/>
          </a:p>
        </p:txBody>
      </p:sp>
      <p:sp>
        <p:nvSpPr>
          <p:cNvPr id="16" name="Shape 14"/>
          <p:cNvSpPr/>
          <p:nvPr/>
        </p:nvSpPr>
        <p:spPr>
          <a:xfrm>
            <a:off x="6187288" y="2880360"/>
            <a:ext cx="2636444" cy="1280160"/>
          </a:xfrm>
          <a:prstGeom prst="roundRect">
            <a:avLst>
              <a:gd name="adj" fmla="val 8571"/>
            </a:avLst>
          </a:prstGeom>
          <a:solidFill>
            <a:srgbClr val="FFFFFF"/>
          </a:solidFill>
          <a:ln w="9525">
            <a:solidFill>
              <a:srgbClr val="D5DCE5"/>
            </a:solidFill>
            <a:prstDash val="solid"/>
          </a:ln>
        </p:spPr>
      </p:sp>
      <p:sp>
        <p:nvSpPr>
          <p:cNvPr id="17" name="Text 15"/>
          <p:cNvSpPr txBox="1"/>
          <p:nvPr/>
        </p:nvSpPr>
        <p:spPr>
          <a:xfrm>
            <a:off x="6351880" y="3008376"/>
            <a:ext cx="2307260" cy="1051560"/>
          </a:xfrm>
          <a:prstGeom prst="rect">
            <a:avLst/>
          </a:prstGeom>
          <a:noFill/>
          <a:ln/>
        </p:spPr>
        <p:txBody>
          <a:bodyPr wrap="square" lIns="0" tIns="0" rIns="0" bIns="0" rtlCol="0" anchor="t"/>
          <a:lstStyle/>
          <a:p>
            <a:pPr indent="0" marL="0">
              <a:spcAft>
                <a:spcPts val="500"/>
              </a:spcAft>
              <a:buNone/>
            </a:pPr>
            <a:r>
              <a:rPr lang="en-US" sz="1400" b="1" dirty="0">
                <a:solidFill>
                  <a:srgbClr val="14213D"/>
                </a:solidFill>
                <a:latin typeface="Calibri" pitchFamily="34" charset="0"/>
                <a:ea typeface="Calibri" pitchFamily="34" charset="-122"/>
                <a:cs typeface="Calibri" pitchFamily="34" charset="-120"/>
              </a:rPr>
              <a:t>7 · Word segmentation</a:t>
            </a:r>
            <a:endParaRPr lang="en-US" sz="1400" dirty="0"/>
          </a:p>
          <a:p>
            <a:pPr indent="0" marL="0">
              <a:spcAft>
                <a:spcPts val="500"/>
              </a:spcAft>
              <a:buNone/>
            </a:pPr>
            <a:r>
              <a:rPr lang="en-US" sz="1200" dirty="0">
                <a:solidFill>
                  <a:srgbClr val="3D4A5C"/>
                </a:solidFill>
                <a:latin typeface="Calibri" pitchFamily="34" charset="0"/>
                <a:ea typeface="Calibri" pitchFamily="34" charset="-122"/>
                <a:cs typeface="Calibri" pitchFamily="34" charset="-120"/>
              </a:rPr>
              <a:t>VnCoreNLP RDRSegmenter (PhoBERT's own; paper: pyvi)</a:t>
            </a:r>
            <a:endParaRPr lang="en-US" sz="1400" dirty="0"/>
          </a:p>
        </p:txBody>
      </p:sp>
      <p:sp>
        <p:nvSpPr>
          <p:cNvPr id="18" name="Shape 16"/>
          <p:cNvSpPr/>
          <p:nvPr/>
        </p:nvSpPr>
        <p:spPr>
          <a:xfrm>
            <a:off x="9006611" y="2880360"/>
            <a:ext cx="2636444" cy="1280160"/>
          </a:xfrm>
          <a:prstGeom prst="roundRect">
            <a:avLst>
              <a:gd name="adj" fmla="val 8571"/>
            </a:avLst>
          </a:prstGeom>
          <a:solidFill>
            <a:srgbClr val="14213D"/>
          </a:solidFill>
          <a:ln w="9525">
            <a:solidFill>
              <a:srgbClr val="14213D"/>
            </a:solidFill>
            <a:prstDash val="solid"/>
          </a:ln>
        </p:spPr>
      </p:sp>
      <p:sp>
        <p:nvSpPr>
          <p:cNvPr id="19" name="Text 17"/>
          <p:cNvSpPr txBox="1"/>
          <p:nvPr/>
        </p:nvSpPr>
        <p:spPr>
          <a:xfrm>
            <a:off x="9171203" y="3008376"/>
            <a:ext cx="2307260" cy="1051560"/>
          </a:xfrm>
          <a:prstGeom prst="rect">
            <a:avLst/>
          </a:prstGeom>
          <a:noFill/>
          <a:ln/>
        </p:spPr>
        <p:txBody>
          <a:bodyPr wrap="square" lIns="0" tIns="0" rIns="0" bIns="0" rtlCol="0" anchor="t"/>
          <a:lstStyle/>
          <a:p>
            <a:pPr indent="0" marL="0">
              <a:spcAft>
                <a:spcPts val="500"/>
              </a:spcAft>
              <a:buNone/>
            </a:pPr>
            <a:r>
              <a:rPr lang="en-US" sz="1400" b="1" dirty="0">
                <a:solidFill>
                  <a:srgbClr val="F2A541"/>
                </a:solidFill>
                <a:latin typeface="Calibri" pitchFamily="34" charset="0"/>
                <a:ea typeface="Calibri" pitchFamily="34" charset="-122"/>
                <a:cs typeface="Calibri" pitchFamily="34" charset="-120"/>
              </a:rPr>
              <a:t>Cached &amp; hashed</a:t>
            </a:r>
            <a:endParaRPr lang="en-US" sz="1400" dirty="0"/>
          </a:p>
          <a:p>
            <a:pPr indent="0" marL="0">
              <a:spcAft>
                <a:spcPts val="500"/>
              </a:spcAft>
              <a:buNone/>
            </a:pPr>
            <a:r>
              <a:rPr lang="en-US" sz="1200" dirty="0">
                <a:solidFill>
                  <a:srgbClr val="DCE3EE"/>
                </a:solidFill>
                <a:latin typeface="Calibri" pitchFamily="34" charset="0"/>
                <a:ea typeface="Calibri" pitchFamily="34" charset="-122"/>
                <a:cs typeface="Calibri" pitchFamily="34" charset="-120"/>
              </a:rPr>
              <a:t>every step is a config switch; cache key = config + code</a:t>
            </a:r>
            <a:endParaRPr lang="en-US" sz="1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4434840"/>
          <a:ext cx="11094415" cy="914400"/>
        </p:xfrm>
        <a:graphic>
          <a:graphicData uri="http://schemas.openxmlformats.org/drawingml/2006/table">
            <a:tbl>
              <a:tblPr/>
              <a:tblGrid>
                <a:gridCol w="2773604"/>
                <a:gridCol w="2346896"/>
                <a:gridCol w="2133541"/>
                <a:gridCol w="3840374"/>
              </a:tblGrid>
              <a:tr h="0">
                <a:tc>
                  <a:txBody>
                    <a:bodyPr/>
                    <a:lstStyle/>
                    <a:p>
                      <a:pPr algn="l" indent="0" marL="0">
                        <a:buNone/>
                      </a:pPr>
                      <a:r>
                        <a:rPr lang="en-US" sz="1300" b="1" dirty="0">
                          <a:solidFill>
                            <a:srgbClr val="14213D"/>
                          </a:solidFill>
                          <a:latin typeface="Calibri" pitchFamily="34" charset="0"/>
                          <a:ea typeface="Calibri" pitchFamily="34" charset="-122"/>
                          <a:cs typeface="Calibri" pitchFamily="34" charset="-120"/>
                        </a:rPr>
                        <a:t>Model</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DCE8FB"/>
                    </a:solidFill>
                  </a:tcPr>
                </a:tc>
                <a:tc>
                  <a:txBody>
                    <a:bodyPr/>
                    <a:lstStyle/>
                    <a:p>
                      <a:pPr algn="l" indent="0" marL="0">
                        <a:buNone/>
                      </a:pPr>
                      <a:r>
                        <a:rPr lang="en-US" sz="1300" b="1" dirty="0">
                          <a:solidFill>
                            <a:srgbClr val="14213D"/>
                          </a:solidFill>
                          <a:latin typeface="Calibri" pitchFamily="34" charset="0"/>
                          <a:ea typeface="Calibri" pitchFamily="34" charset="-122"/>
                          <a:cs typeface="Calibri" pitchFamily="34" charset="-120"/>
                        </a:rPr>
                        <a:t>Emoji</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DCE8FB"/>
                    </a:solidFill>
                  </a:tcPr>
                </a:tc>
                <a:tc>
                  <a:txBody>
                    <a:bodyPr/>
                    <a:lstStyle/>
                    <a:p>
                      <a:pPr algn="l" indent="0" marL="0">
                        <a:buNone/>
                      </a:pPr>
                      <a:r>
                        <a:rPr lang="en-US" sz="1300" b="1" dirty="0">
                          <a:solidFill>
                            <a:srgbClr val="14213D"/>
                          </a:solidFill>
                          <a:latin typeface="Calibri" pitchFamily="34" charset="0"/>
                          <a:ea typeface="Calibri" pitchFamily="34" charset="-122"/>
                          <a:cs typeface="Calibri" pitchFamily="34" charset="-120"/>
                        </a:rPr>
                        <a:t>Segmentation</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DCE8FB"/>
                    </a:solidFill>
                  </a:tcPr>
                </a:tc>
                <a:tc>
                  <a:txBody>
                    <a:bodyPr/>
                    <a:lstStyle/>
                    <a:p>
                      <a:pPr algn="l" indent="0" marL="0">
                        <a:buNone/>
                      </a:pPr>
                      <a:r>
                        <a:rPr lang="en-US" sz="1300" b="1" dirty="0">
                          <a:solidFill>
                            <a:srgbClr val="14213D"/>
                          </a:solidFill>
                          <a:latin typeface="Calibri" pitchFamily="34" charset="0"/>
                          <a:ea typeface="Calibri" pitchFamily="34" charset="-122"/>
                          <a:cs typeface="Calibri" pitchFamily="34" charset="-120"/>
                        </a:rPr>
                        <a:t>Tokeniser</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DCE8FB"/>
                    </a:solidFill>
                  </a:tcPr>
                </a:tc>
              </a:tr>
              <a:tr h="0">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TF-IDF + LR, BiLSTM</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keep as tokens</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VnCoreNLP</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word + char n-grams / train vocabulary</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r>
              <a:tr h="0">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PhoBERT</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5F7FA"/>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 Vietnamese text</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5F7FA"/>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VnCoreNLP</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5F7FA"/>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PhoBERT BPE (64k)</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5F7FA"/>
                    </a:solidFill>
                  </a:tcPr>
                </a:tc>
              </a:tr>
              <a:tr h="0">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ViSoBERT</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keep (in vocabulary)</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none (syllables)</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SentencePiece (15k)</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r>
            </a:tbl>
          </a:graphicData>
        </a:graphic>
      </p:graphicFrame>
      <p:sp>
        <p:nvSpPr>
          <p:cNvPr id="21" name="Text 18"/>
          <p:cNvSpPr txBox="1"/>
          <p:nvPr/>
        </p:nvSpPr>
        <p:spPr>
          <a:xfrm>
            <a:off x="548640" y="6400800"/>
            <a:ext cx="9875520" cy="274320"/>
          </a:xfrm>
          <a:prstGeom prst="rect">
            <a:avLst/>
          </a:prstGeom>
          <a:noFill/>
          <a:ln/>
        </p:spPr>
        <p:txBody>
          <a:bodyPr wrap="square" lIns="0" tIns="0" rIns="0" bIns="0" rtlCol="0" anchor="ctr"/>
          <a:lstStyle/>
          <a:p>
            <a:pPr indent="0" marL="0">
              <a:buNone/>
            </a:pPr>
            <a:r>
              <a:rPr lang="en-US" sz="1000" dirty="0">
                <a:solidFill>
                  <a:srgbClr val="6B7688"/>
                </a:solidFill>
                <a:latin typeface="Calibri" pitchFamily="34" charset="0"/>
                <a:ea typeface="Calibri" pitchFamily="34" charset="-122"/>
                <a:cs typeface="Calibri" pitchFamily="34" charset="-120"/>
              </a:rPr>
              <a:t>src/vigo/data/preprocessing.py · resources/ (dictionaries credited to Hung et al. 2026, VinAI, Unicode CLDR)</a:t>
            </a:r>
            <a:endParaRPr lang="en-US" sz="1000" dirty="0"/>
          </a:p>
        </p:txBody>
      </p:sp>
      <p:sp>
        <p:nvSpPr>
          <p:cNvPr id="22" name="Text 19"/>
          <p:cNvSpPr txBox="1"/>
          <p:nvPr/>
        </p:nvSpPr>
        <p:spPr>
          <a:xfrm>
            <a:off x="11094415" y="6400800"/>
            <a:ext cx="548640" cy="274320"/>
          </a:xfrm>
          <a:prstGeom prst="rect">
            <a:avLst/>
          </a:prstGeom>
          <a:noFill/>
          <a:ln/>
        </p:spPr>
        <p:txBody>
          <a:bodyPr wrap="square" lIns="0" tIns="0" rIns="0" bIns="0" rtlCol="0" anchor="ctr"/>
          <a:lstStyle/>
          <a:p>
            <a:pPr algn="r" indent="0" marL="0">
              <a:buNone/>
            </a:pPr>
            <a:r>
              <a:rPr lang="en-US" sz="1000" dirty="0">
                <a:solidFill>
                  <a:srgbClr val="6B7688"/>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EF1F5"/>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292608"/>
          </a:xfrm>
          <a:prstGeom prst="rect">
            <a:avLst/>
          </a:prstGeom>
          <a:noFill/>
          <a:ln/>
        </p:spPr>
        <p:txBody>
          <a:bodyPr wrap="square" lIns="0" tIns="0" rIns="0" bIns="0" rtlCol="0" anchor="ctr"/>
          <a:lstStyle/>
          <a:p>
            <a:pPr indent="0" marL="0">
              <a:buNone/>
            </a:pPr>
            <a:r>
              <a:rPr lang="en-US" sz="1200" b="1" spc="200" kern="0" dirty="0">
                <a:solidFill>
                  <a:srgbClr val="C4650F"/>
                </a:solidFill>
                <a:latin typeface="Calibri" pitchFamily="34" charset="0"/>
                <a:ea typeface="Calibri" pitchFamily="34" charset="-122"/>
                <a:cs typeface="Calibri" pitchFamily="34" charset="-120"/>
              </a:rPr>
              <a:t>MODELS</a:t>
            </a:r>
            <a:endParaRPr lang="en-US" sz="1200" dirty="0"/>
          </a:p>
        </p:txBody>
      </p:sp>
      <p:sp>
        <p:nvSpPr>
          <p:cNvPr id="3" name="Text 1"/>
          <p:cNvSpPr txBox="1"/>
          <p:nvPr/>
        </p:nvSpPr>
        <p:spPr>
          <a:xfrm>
            <a:off x="548640" y="658368"/>
            <a:ext cx="11094415" cy="731520"/>
          </a:xfrm>
          <a:prstGeom prst="rect">
            <a:avLst/>
          </a:prstGeom>
          <a:noFill/>
          <a:ln/>
        </p:spPr>
        <p:txBody>
          <a:bodyPr wrap="square" lIns="0" tIns="0" rIns="0" bIns="0" rtlCol="0" anchor="t"/>
          <a:lstStyle/>
          <a:p>
            <a:pPr indent="0" marL="0">
              <a:buNone/>
            </a:pPr>
            <a:r>
              <a:rPr lang="en-US" sz="2800" b="1" dirty="0">
                <a:solidFill>
                  <a:srgbClr val="14213D"/>
                </a:solidFill>
                <a:latin typeface="Cambria" pitchFamily="34" charset="0"/>
                <a:ea typeface="Cambria" pitchFamily="34" charset="-122"/>
                <a:cs typeface="Cambria" pitchFamily="34" charset="-120"/>
              </a:rPr>
              <a:t>From sparse n-grams to Vietnamese transformers</a:t>
            </a:r>
            <a:endParaRPr lang="en-US" sz="2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2377375"/>
                <a:gridCol w="5150978"/>
                <a:gridCol w="3566062"/>
              </a:tblGrid>
              <a:tr h="475488">
                <a:tc>
                  <a:txBody>
                    <a:bodyPr/>
                    <a:lstStyle/>
                    <a:p>
                      <a:pPr algn="l" indent="0" marL="0">
                        <a:buNone/>
                      </a:pPr>
                      <a:r>
                        <a:rPr lang="en-US" sz="1500" b="1" dirty="0">
                          <a:solidFill>
                            <a:srgbClr val="14213D"/>
                          </a:solidFill>
                          <a:latin typeface="Calibri" pitchFamily="34" charset="0"/>
                          <a:ea typeface="Calibri" pitchFamily="34" charset="-122"/>
                          <a:cs typeface="Calibri" pitchFamily="34" charset="-120"/>
                        </a:rPr>
                        <a:t>Model</a:t>
                      </a:r>
                      <a:endParaRPr lang="en-US" sz="15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DCE8FB"/>
                    </a:solidFill>
                  </a:tcPr>
                </a:tc>
                <a:tc>
                  <a:txBody>
                    <a:bodyPr/>
                    <a:lstStyle/>
                    <a:p>
                      <a:pPr algn="l" indent="0" marL="0">
                        <a:buNone/>
                      </a:pPr>
                      <a:r>
                        <a:rPr lang="en-US" sz="1500" b="1" dirty="0">
                          <a:solidFill>
                            <a:srgbClr val="14213D"/>
                          </a:solidFill>
                          <a:latin typeface="Calibri" pitchFamily="34" charset="0"/>
                          <a:ea typeface="Calibri" pitchFamily="34" charset="-122"/>
                          <a:cs typeface="Calibri" pitchFamily="34" charset="-120"/>
                        </a:rPr>
                        <a:t>Architecture</a:t>
                      </a:r>
                      <a:endParaRPr lang="en-US" sz="15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DCE8FB"/>
                    </a:solidFill>
                  </a:tcPr>
                </a:tc>
                <a:tc>
                  <a:txBody>
                    <a:bodyPr/>
                    <a:lstStyle/>
                    <a:p>
                      <a:pPr algn="l" indent="0" marL="0">
                        <a:buNone/>
                      </a:pPr>
                      <a:r>
                        <a:rPr lang="en-US" sz="1500" b="1" dirty="0">
                          <a:solidFill>
                            <a:srgbClr val="14213D"/>
                          </a:solidFill>
                          <a:latin typeface="Calibri" pitchFamily="34" charset="0"/>
                          <a:ea typeface="Calibri" pitchFamily="34" charset="-122"/>
                          <a:cs typeface="Calibri" pitchFamily="34" charset="-120"/>
                        </a:rPr>
                        <a:t>Training</a:t>
                      </a:r>
                      <a:endParaRPr lang="en-US" sz="15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DCE8FB"/>
                    </a:solidFill>
                  </a:tcPr>
                </a:tc>
              </a:tr>
              <a:tr h="475488">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M1 · TF-IDF + OvR LR</a:t>
                      </a:r>
                      <a:endParaRPr lang="en-US" sz="15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word 1–2-grams + char 1–5-grams (76k features), 28 logistic regressions</a:t>
                      </a:r>
                      <a:endParaRPr lang="en-US" sz="15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C and class weight chosen on val (C = 4, balanced)</a:t>
                      </a:r>
                      <a:endParaRPr lang="en-US" sz="15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r>
              <a:tr h="475488">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M2 · BiLSTM</a:t>
                      </a:r>
                      <a:endParaRPr lang="en-US" sz="15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5F7FA"/>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300-d embeddings (from scratch), 2 × BiLSTM 256, attention + max pooling</a:t>
                      </a:r>
                      <a:endParaRPr lang="en-US" sz="15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5F7FA"/>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BCE, AdamW one-cycle 2e-3, early stop on val</a:t>
                      </a:r>
                      <a:endParaRPr lang="en-US" sz="15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5F7FA"/>
                    </a:solidFill>
                  </a:tcPr>
                </a:tc>
              </a:tr>
              <a:tr h="475488">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M3 · PhoBERT</a:t>
                      </a:r>
                      <a:endParaRPr lang="en-US" sz="15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E7F0FC"/>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vinai/phobert-base-v2, CLS → dropout → 28 sigmoids</a:t>
                      </a:r>
                      <a:endParaRPr lang="en-US" sz="15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E7F0FC"/>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BCE, lr 3e-5, layer-wise decay 0.9, ≤ 10 epochs</a:t>
                      </a:r>
                      <a:endParaRPr lang="en-US" sz="15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E7F0FC"/>
                    </a:solidFill>
                  </a:tcPr>
                </a:tc>
              </a:tr>
              <a:tr h="475488">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 ViSoBERT</a:t>
                      </a:r>
                      <a:endParaRPr lang="en-US" sz="15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5F7FA"/>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uitnlp/visobert: social-media RoBERTa, emoji in vocabulary</a:t>
                      </a:r>
                      <a:endParaRPr lang="en-US" sz="15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5F7FA"/>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same recipe, lr 4e-5</a:t>
                      </a:r>
                      <a:endParaRPr lang="en-US" sz="15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5F7FA"/>
                    </a:solidFill>
                  </a:tcPr>
                </a:tc>
              </a:tr>
              <a:tr h="475488">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 ViSoBERT-14GB</a:t>
                      </a:r>
                      <a:endParaRPr lang="en-US" sz="15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5CD-AI continued pre-training on 14 GB of Facebook comments</a:t>
                      </a:r>
                      <a:endParaRPr lang="en-US" sz="15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same recipe, lr 2e-5</a:t>
                      </a:r>
                      <a:endParaRPr lang="en-US" sz="15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r>
              <a:tr h="475488">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 Ensemble</a:t>
                      </a:r>
                      <a:endParaRPr lang="en-US" sz="15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5F7FA"/>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mean of the saved probabilities of the 3 transformers</a:t>
                      </a:r>
                      <a:endParaRPr lang="en-US" sz="15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5F7FA"/>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no retraining, no test tuning</a:t>
                      </a:r>
                      <a:endParaRPr lang="en-US" sz="15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5F7FA"/>
                    </a:solidFill>
                  </a:tcPr>
                </a:tc>
              </a:tr>
            </a:tbl>
          </a:graphicData>
        </a:graphic>
      </p:graphicFrame>
      <p:sp>
        <p:nvSpPr>
          <p:cNvPr id="5" name="Text 2"/>
          <p:cNvSpPr txBox="1"/>
          <p:nvPr/>
        </p:nvSpPr>
        <p:spPr>
          <a:xfrm>
            <a:off x="548640" y="5257800"/>
            <a:ext cx="11094415" cy="822960"/>
          </a:xfrm>
          <a:prstGeom prst="rect">
            <a:avLst/>
          </a:prstGeom>
          <a:noFill/>
          <a:ln/>
        </p:spPr>
        <p:txBody>
          <a:bodyPr wrap="square" lIns="0" tIns="0" rIns="0" bIns="0" rtlCol="0" anchor="t"/>
          <a:lstStyle/>
          <a:p>
            <a:pPr indent="0" marL="0">
              <a:spcAft>
                <a:spcPts val="400"/>
              </a:spcAft>
              <a:buNone/>
            </a:pPr>
            <a:r>
              <a:rPr lang="en-US" sz="1500" dirty="0">
                <a:solidFill>
                  <a:srgbClr val="3D4A5C"/>
                </a:solidFill>
                <a:latin typeface="Calibri" pitchFamily="34" charset="0"/>
                <a:ea typeface="Calibri" pitchFamily="34" charset="-122"/>
                <a:cs typeface="Calibri" pitchFamily="34" charset="-120"/>
              </a:rPr>
              <a:t>Shared tricks: label-prior bias initialisation, length-grouped dynamic padding, best epoch chosen on validation Macro-F1 at τ = 0.5. CafeBERT and PhoBERT-large configs are ready for a larger GPU (not run).</a:t>
            </a:r>
            <a:endParaRPr lang="en-US" sz="1500" dirty="0"/>
          </a:p>
        </p:txBody>
      </p:sp>
      <p:sp>
        <p:nvSpPr>
          <p:cNvPr id="6" name="Text 3"/>
          <p:cNvSpPr txBox="1"/>
          <p:nvPr/>
        </p:nvSpPr>
        <p:spPr>
          <a:xfrm>
            <a:off x="548640" y="6400800"/>
            <a:ext cx="9875520" cy="274320"/>
          </a:xfrm>
          <a:prstGeom prst="rect">
            <a:avLst/>
          </a:prstGeom>
          <a:noFill/>
          <a:ln/>
        </p:spPr>
        <p:txBody>
          <a:bodyPr wrap="square" lIns="0" tIns="0" rIns="0" bIns="0" rtlCol="0" anchor="ctr"/>
          <a:lstStyle/>
          <a:p>
            <a:pPr indent="0" marL="0">
              <a:buNone/>
            </a:pPr>
            <a:r>
              <a:rPr lang="en-US" sz="1000" dirty="0">
                <a:solidFill>
                  <a:srgbClr val="6B7688"/>
                </a:solidFill>
                <a:latin typeface="Calibri" pitchFamily="34" charset="0"/>
                <a:ea typeface="Calibri" pitchFamily="34" charset="-122"/>
                <a:cs typeface="Calibri" pitchFamily="34" charset="-120"/>
              </a:rPr>
              <a:t>configs/*.yaml · checkpoint revisions in hardware_and_versions.txt</a:t>
            </a:r>
            <a:endParaRPr lang="en-US" sz="1000" dirty="0"/>
          </a:p>
        </p:txBody>
      </p:sp>
      <p:sp>
        <p:nvSpPr>
          <p:cNvPr id="7" name="Text 4"/>
          <p:cNvSpPr txBox="1"/>
          <p:nvPr/>
        </p:nvSpPr>
        <p:spPr>
          <a:xfrm>
            <a:off x="11094415" y="6400800"/>
            <a:ext cx="548640" cy="274320"/>
          </a:xfrm>
          <a:prstGeom prst="rect">
            <a:avLst/>
          </a:prstGeom>
          <a:noFill/>
          <a:ln/>
        </p:spPr>
        <p:txBody>
          <a:bodyPr wrap="square" lIns="0" tIns="0" rIns="0" bIns="0" rtlCol="0" anchor="ctr"/>
          <a:lstStyle/>
          <a:p>
            <a:pPr algn="r" indent="0" marL="0">
              <a:buNone/>
            </a:pPr>
            <a:r>
              <a:rPr lang="en-US" sz="1000" dirty="0">
                <a:solidFill>
                  <a:srgbClr val="6B7688"/>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EF1F5"/>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292608"/>
          </a:xfrm>
          <a:prstGeom prst="rect">
            <a:avLst/>
          </a:prstGeom>
          <a:noFill/>
          <a:ln/>
        </p:spPr>
        <p:txBody>
          <a:bodyPr wrap="square" lIns="0" tIns="0" rIns="0" bIns="0" rtlCol="0" anchor="ctr"/>
          <a:lstStyle/>
          <a:p>
            <a:pPr indent="0" marL="0">
              <a:buNone/>
            </a:pPr>
            <a:r>
              <a:rPr lang="en-US" sz="1200" b="1" spc="200" kern="0" dirty="0">
                <a:solidFill>
                  <a:srgbClr val="C4650F"/>
                </a:solidFill>
                <a:latin typeface="Calibri" pitchFamily="34" charset="0"/>
                <a:ea typeface="Calibri" pitchFamily="34" charset="-122"/>
                <a:cs typeface="Calibri" pitchFamily="34" charset="-120"/>
              </a:rPr>
              <a:t>METRICS AND DECODING PROTOCOL</a:t>
            </a:r>
            <a:endParaRPr lang="en-US" sz="1200" dirty="0"/>
          </a:p>
        </p:txBody>
      </p:sp>
      <p:sp>
        <p:nvSpPr>
          <p:cNvPr id="3" name="Text 1"/>
          <p:cNvSpPr txBox="1"/>
          <p:nvPr/>
        </p:nvSpPr>
        <p:spPr>
          <a:xfrm>
            <a:off x="548640" y="658368"/>
            <a:ext cx="11094415" cy="731520"/>
          </a:xfrm>
          <a:prstGeom prst="rect">
            <a:avLst/>
          </a:prstGeom>
          <a:noFill/>
          <a:ln/>
        </p:spPr>
        <p:txBody>
          <a:bodyPr wrap="square" lIns="0" tIns="0" rIns="0" bIns="0" rtlCol="0" anchor="t"/>
          <a:lstStyle/>
          <a:p>
            <a:pPr indent="0" marL="0">
              <a:buNone/>
            </a:pPr>
            <a:r>
              <a:rPr lang="en-US" sz="2800" b="1" dirty="0">
                <a:solidFill>
                  <a:srgbClr val="14213D"/>
                </a:solidFill>
                <a:latin typeface="Cambria" pitchFamily="34" charset="0"/>
                <a:ea typeface="Cambria" pitchFamily="34" charset="-122"/>
                <a:cs typeface="Cambria" pitchFamily="34" charset="-120"/>
              </a:rPr>
              <a:t>One evaluation module, one threshold policy, for all models</a:t>
            </a:r>
            <a:endParaRPr lang="en-US" sz="2800" dirty="0"/>
          </a:p>
        </p:txBody>
      </p:sp>
      <p:sp>
        <p:nvSpPr>
          <p:cNvPr id="4" name="Shape 2"/>
          <p:cNvSpPr/>
          <p:nvPr/>
        </p:nvSpPr>
        <p:spPr>
          <a:xfrm>
            <a:off x="548640" y="1600200"/>
            <a:ext cx="5387188" cy="4297680"/>
          </a:xfrm>
          <a:prstGeom prst="roundRect">
            <a:avLst>
              <a:gd name="adj" fmla="val 2553"/>
            </a:avLst>
          </a:prstGeom>
          <a:solidFill>
            <a:srgbClr val="FFFFFF"/>
          </a:solidFill>
          <a:ln w="9525">
            <a:solidFill>
              <a:srgbClr val="D5DCE5"/>
            </a:solidFill>
            <a:prstDash val="solid"/>
          </a:ln>
        </p:spPr>
      </p:sp>
      <p:sp>
        <p:nvSpPr>
          <p:cNvPr id="5" name="Text 3"/>
          <p:cNvSpPr txBox="1"/>
          <p:nvPr/>
        </p:nvSpPr>
        <p:spPr>
          <a:xfrm>
            <a:off x="868680" y="1828800"/>
            <a:ext cx="4747108" cy="411480"/>
          </a:xfrm>
          <a:prstGeom prst="rect">
            <a:avLst/>
          </a:prstGeom>
          <a:noFill/>
          <a:ln/>
        </p:spPr>
        <p:txBody>
          <a:bodyPr wrap="square" lIns="0" tIns="0" rIns="0" bIns="0" rtlCol="0" anchor="t"/>
          <a:lstStyle/>
          <a:p>
            <a:pPr indent="0" marL="0">
              <a:spcAft>
                <a:spcPts val="400"/>
              </a:spcAft>
              <a:buNone/>
            </a:pPr>
            <a:r>
              <a:rPr lang="en-US" sz="1900" b="1" dirty="0">
                <a:solidFill>
                  <a:srgbClr val="14213D"/>
                </a:solidFill>
                <a:latin typeface="Calibri" pitchFamily="34" charset="0"/>
                <a:ea typeface="Calibri" pitchFamily="34" charset="-122"/>
                <a:cs typeface="Calibri" pitchFamily="34" charset="-120"/>
              </a:rPr>
              <a:t>Required metrics</a:t>
            </a:r>
            <a:endParaRPr lang="en-US" sz="1900" dirty="0"/>
          </a:p>
        </p:txBody>
      </p:sp>
      <p:sp>
        <p:nvSpPr>
          <p:cNvPr id="6" name="Text 4"/>
          <p:cNvSpPr txBox="1"/>
          <p:nvPr/>
        </p:nvSpPr>
        <p:spPr>
          <a:xfrm>
            <a:off x="868680" y="2377440"/>
            <a:ext cx="4747108" cy="329184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3D4A5C"/>
                </a:solidFill>
                <a:latin typeface="Calibri" pitchFamily="34" charset="0"/>
                <a:ea typeface="Calibri" pitchFamily="34" charset="-122"/>
                <a:cs typeface="Calibri" pitchFamily="34" charset="-120"/>
              </a:rPr>
              <a:t>Macro-F1 and Micro-F1 (headline)</a:t>
            </a:r>
            <a:endParaRPr lang="en-US" sz="1600" dirty="0"/>
          </a:p>
          <a:p>
            <a:pPr marL="342900" indent="-342900">
              <a:spcAft>
                <a:spcPts val="1000"/>
              </a:spcAft>
              <a:buSzPct val="100000"/>
              <a:buChar char="•"/>
            </a:pPr>
            <a:r>
              <a:rPr lang="en-US" sz="1600" dirty="0">
                <a:solidFill>
                  <a:srgbClr val="3D4A5C"/>
                </a:solidFill>
                <a:latin typeface="Calibri" pitchFamily="34" charset="0"/>
                <a:ea typeface="Calibri" pitchFamily="34" charset="-122"/>
                <a:cs typeface="Calibri" pitchFamily="34" charset="-120"/>
              </a:rPr>
              <a:t>Per-label F1 for all 28 labels</a:t>
            </a:r>
            <a:endParaRPr lang="en-US" sz="1600" dirty="0"/>
          </a:p>
          <a:p>
            <a:pPr marL="342900" indent="-342900">
              <a:spcAft>
                <a:spcPts val="1000"/>
              </a:spcAft>
              <a:buSzPct val="100000"/>
              <a:buChar char="•"/>
            </a:pPr>
            <a:r>
              <a:rPr lang="en-US" sz="1600" dirty="0">
                <a:solidFill>
                  <a:srgbClr val="3D4A5C"/>
                </a:solidFill>
                <a:latin typeface="Calibri" pitchFamily="34" charset="0"/>
                <a:ea typeface="Calibri" pitchFamily="34" charset="-122"/>
                <a:cs typeface="Calibri" pitchFamily="34" charset="-120"/>
              </a:rPr>
              <a:t>Hamming loss (lower is better)</a:t>
            </a:r>
            <a:endParaRPr lang="en-US" sz="1600" dirty="0"/>
          </a:p>
          <a:p>
            <a:pPr marL="342900" indent="-342900">
              <a:spcAft>
                <a:spcPts val="1000"/>
              </a:spcAft>
              <a:buSzPct val="100000"/>
              <a:buChar char="•"/>
            </a:pPr>
            <a:r>
              <a:rPr lang="en-US" sz="1600" dirty="0">
                <a:solidFill>
                  <a:srgbClr val="3D4A5C"/>
                </a:solidFill>
                <a:latin typeface="Calibri" pitchFamily="34" charset="0"/>
                <a:ea typeface="Calibri" pitchFamily="34" charset="-122"/>
                <a:cs typeface="Calibri" pitchFamily="34" charset="-120"/>
              </a:rPr>
              <a:t>LRAP and macro mAP (threshold-free ranking)</a:t>
            </a:r>
            <a:endParaRPr lang="en-US" sz="1600" dirty="0"/>
          </a:p>
          <a:p>
            <a:pPr marL="342900" indent="-342900">
              <a:spcAft>
                <a:spcPts val="1000"/>
              </a:spcAft>
              <a:buSzPct val="100000"/>
              <a:buChar char="•"/>
            </a:pPr>
            <a:r>
              <a:rPr lang="en-US" sz="1600" dirty="0">
                <a:solidFill>
                  <a:srgbClr val="3D4A5C"/>
                </a:solidFill>
                <a:latin typeface="Calibri" pitchFamily="34" charset="0"/>
                <a:ea typeface="Calibri" pitchFamily="34" charset="-122"/>
                <a:cs typeface="Calibri" pitchFamily="34" charset="-120"/>
              </a:rPr>
              <a:t>Parameter count, wall-clock training time</a:t>
            </a:r>
            <a:endParaRPr lang="en-US" sz="1600" dirty="0"/>
          </a:p>
        </p:txBody>
      </p:sp>
      <p:sp>
        <p:nvSpPr>
          <p:cNvPr id="7" name="Shape 5"/>
          <p:cNvSpPr/>
          <p:nvPr/>
        </p:nvSpPr>
        <p:spPr>
          <a:xfrm>
            <a:off x="6255868" y="1600200"/>
            <a:ext cx="5387188" cy="4297680"/>
          </a:xfrm>
          <a:prstGeom prst="roundRect">
            <a:avLst>
              <a:gd name="adj" fmla="val 2553"/>
            </a:avLst>
          </a:prstGeom>
          <a:solidFill>
            <a:srgbClr val="FFFFFF"/>
          </a:solidFill>
          <a:ln w="9525">
            <a:solidFill>
              <a:srgbClr val="D5DCE5"/>
            </a:solidFill>
            <a:prstDash val="solid"/>
          </a:ln>
        </p:spPr>
      </p:sp>
      <p:sp>
        <p:nvSpPr>
          <p:cNvPr id="8" name="Text 6"/>
          <p:cNvSpPr txBox="1"/>
          <p:nvPr/>
        </p:nvSpPr>
        <p:spPr>
          <a:xfrm>
            <a:off x="6575908" y="1828800"/>
            <a:ext cx="4747108" cy="411480"/>
          </a:xfrm>
          <a:prstGeom prst="rect">
            <a:avLst/>
          </a:prstGeom>
          <a:noFill/>
          <a:ln/>
        </p:spPr>
        <p:txBody>
          <a:bodyPr wrap="square" lIns="0" tIns="0" rIns="0" bIns="0" rtlCol="0" anchor="t"/>
          <a:lstStyle/>
          <a:p>
            <a:pPr indent="0" marL="0">
              <a:spcAft>
                <a:spcPts val="400"/>
              </a:spcAft>
              <a:buNone/>
            </a:pPr>
            <a:r>
              <a:rPr lang="en-US" sz="1900" b="1" dirty="0">
                <a:solidFill>
                  <a:srgbClr val="14213D"/>
                </a:solidFill>
                <a:latin typeface="Calibri" pitchFamily="34" charset="0"/>
                <a:ea typeface="Calibri" pitchFamily="34" charset="-122"/>
                <a:cs typeface="Calibri" pitchFamily="34" charset="-120"/>
              </a:rPr>
              <a:t>Decoding</a:t>
            </a:r>
            <a:endParaRPr lang="en-US" sz="1900" dirty="0"/>
          </a:p>
        </p:txBody>
      </p:sp>
      <p:sp>
        <p:nvSpPr>
          <p:cNvPr id="9" name="Text 7"/>
          <p:cNvSpPr txBox="1"/>
          <p:nvPr/>
        </p:nvSpPr>
        <p:spPr>
          <a:xfrm>
            <a:off x="6575908" y="2377440"/>
            <a:ext cx="4747108" cy="329184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3D4A5C"/>
                </a:solidFill>
                <a:latin typeface="Calibri" pitchFamily="34" charset="0"/>
                <a:ea typeface="Calibri" pitchFamily="34" charset="-122"/>
                <a:cs typeface="Calibri" pitchFamily="34" charset="-120"/>
              </a:rPr>
              <a:t>Main table: fixed τ = 0.5 for every label</a:t>
            </a:r>
            <a:endParaRPr lang="en-US" sz="1600" dirty="0"/>
          </a:p>
          <a:p>
            <a:pPr marL="342900" indent="-342900">
              <a:spcAft>
                <a:spcPts val="1000"/>
              </a:spcAft>
              <a:buSzPct val="100000"/>
              <a:buChar char="•"/>
            </a:pPr>
            <a:r>
              <a:rPr lang="en-US" sz="1600" dirty="0">
                <a:solidFill>
                  <a:srgbClr val="3D4A5C"/>
                </a:solidFill>
                <a:latin typeface="Calibri" pitchFamily="34" charset="0"/>
                <a:ea typeface="Calibri" pitchFamily="34" charset="-122"/>
                <a:cs typeface="Calibri" pitchFamily="34" charset="-120"/>
              </a:rPr>
              <a:t>Probabilities are saved before thresholding</a:t>
            </a:r>
            <a:endParaRPr lang="en-US" sz="1600" dirty="0"/>
          </a:p>
          <a:p>
            <a:pPr marL="342900" indent="-342900">
              <a:spcAft>
                <a:spcPts val="1000"/>
              </a:spcAft>
              <a:buSzPct val="100000"/>
              <a:buChar char="•"/>
            </a:pPr>
            <a:r>
              <a:rPr lang="en-US" sz="1600" dirty="0">
                <a:solidFill>
                  <a:srgbClr val="3D4A5C"/>
                </a:solidFill>
                <a:latin typeface="Calibri" pitchFamily="34" charset="0"/>
                <a:ea typeface="Calibri" pitchFamily="34" charset="-122"/>
                <a:cs typeface="Calibri" pitchFamily="34" charset="-120"/>
              </a:rPr>
              <a:t>Global τ* and per-label τ*_c are fitted on validation only, frozen, then applied once to test</a:t>
            </a:r>
            <a:endParaRPr lang="en-US" sz="1600" dirty="0"/>
          </a:p>
          <a:p>
            <a:pPr marL="342900" indent="-342900">
              <a:spcAft>
                <a:spcPts val="1000"/>
              </a:spcAft>
              <a:buSzPct val="100000"/>
              <a:buChar char="•"/>
            </a:pPr>
            <a:r>
              <a:rPr lang="en-US" sz="1600" dirty="0">
                <a:solidFill>
                  <a:srgbClr val="3D4A5C"/>
                </a:solidFill>
                <a:latin typeface="Calibri" pitchFamily="34" charset="0"/>
                <a:ea typeface="Calibri" pitchFamily="34" charset="-122"/>
                <a:cs typeface="Calibri" pitchFamily="34" charset="-120"/>
              </a:rPr>
              <a:t>No subset accuracy as a headline metric</a:t>
            </a:r>
            <a:endParaRPr lang="en-US" sz="1600" dirty="0"/>
          </a:p>
        </p:txBody>
      </p:sp>
      <p:sp>
        <p:nvSpPr>
          <p:cNvPr id="10" name="Text 8"/>
          <p:cNvSpPr txBox="1"/>
          <p:nvPr/>
        </p:nvSpPr>
        <p:spPr>
          <a:xfrm>
            <a:off x="548640" y="6400800"/>
            <a:ext cx="9875520" cy="274320"/>
          </a:xfrm>
          <a:prstGeom prst="rect">
            <a:avLst/>
          </a:prstGeom>
          <a:noFill/>
          <a:ln/>
        </p:spPr>
        <p:txBody>
          <a:bodyPr wrap="square" lIns="0" tIns="0" rIns="0" bIns="0" rtlCol="0" anchor="ctr"/>
          <a:lstStyle/>
          <a:p>
            <a:pPr indent="0" marL="0">
              <a:buNone/>
            </a:pPr>
            <a:r>
              <a:rPr lang="en-US" sz="1000" dirty="0">
                <a:solidFill>
                  <a:srgbClr val="6B7688"/>
                </a:solidFill>
                <a:latin typeface="Calibri" pitchFamily="34" charset="0"/>
                <a:ea typeface="Calibri" pitchFamily="34" charset="-122"/>
                <a:cs typeface="Calibri" pitchFamily="34" charset="-120"/>
              </a:rPr>
              <a:t>src/vigo/evaluation/ (metrics, thresholds) · src/vigo/analysis/midterm.py</a:t>
            </a:r>
            <a:endParaRPr lang="en-US" sz="1000" dirty="0"/>
          </a:p>
        </p:txBody>
      </p:sp>
      <p:sp>
        <p:nvSpPr>
          <p:cNvPr id="11" name="Text 9"/>
          <p:cNvSpPr txBox="1"/>
          <p:nvPr/>
        </p:nvSpPr>
        <p:spPr>
          <a:xfrm>
            <a:off x="11094415" y="6400800"/>
            <a:ext cx="548640" cy="274320"/>
          </a:xfrm>
          <a:prstGeom prst="rect">
            <a:avLst/>
          </a:prstGeom>
          <a:noFill/>
          <a:ln/>
        </p:spPr>
        <p:txBody>
          <a:bodyPr wrap="square" lIns="0" tIns="0" rIns="0" bIns="0" rtlCol="0" anchor="ctr"/>
          <a:lstStyle/>
          <a:p>
            <a:pPr algn="r" indent="0" marL="0">
              <a:buNone/>
            </a:pPr>
            <a:r>
              <a:rPr lang="en-US" sz="1000" dirty="0">
                <a:solidFill>
                  <a:srgbClr val="6B7688"/>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BF8"/>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292608"/>
          </a:xfrm>
          <a:prstGeom prst="rect">
            <a:avLst/>
          </a:prstGeom>
          <a:noFill/>
          <a:ln/>
        </p:spPr>
        <p:txBody>
          <a:bodyPr wrap="square" lIns="0" tIns="0" rIns="0" bIns="0" rtlCol="0" anchor="ctr"/>
          <a:lstStyle/>
          <a:p>
            <a:pPr indent="0" marL="0">
              <a:buNone/>
            </a:pPr>
            <a:r>
              <a:rPr lang="en-US" sz="1200" b="1" spc="200" kern="0" dirty="0">
                <a:solidFill>
                  <a:srgbClr val="C4650F"/>
                </a:solidFill>
                <a:latin typeface="Calibri" pitchFamily="34" charset="0"/>
                <a:ea typeface="Calibri" pitchFamily="34" charset="-122"/>
                <a:cs typeface="Calibri" pitchFamily="34" charset="-120"/>
              </a:rPr>
              <a:t>MAIN RESULTS · TEST SET, Τ = 0.5</a:t>
            </a:r>
            <a:endParaRPr lang="en-US" sz="1200" dirty="0"/>
          </a:p>
        </p:txBody>
      </p:sp>
      <p:sp>
        <p:nvSpPr>
          <p:cNvPr id="3" name="Text 1"/>
          <p:cNvSpPr txBox="1"/>
          <p:nvPr/>
        </p:nvSpPr>
        <p:spPr>
          <a:xfrm>
            <a:off x="548640" y="658368"/>
            <a:ext cx="11094415" cy="731520"/>
          </a:xfrm>
          <a:prstGeom prst="rect">
            <a:avLst/>
          </a:prstGeom>
          <a:noFill/>
          <a:ln/>
        </p:spPr>
        <p:txBody>
          <a:bodyPr wrap="square" lIns="0" tIns="0" rIns="0" bIns="0" rtlCol="0" anchor="t"/>
          <a:lstStyle/>
          <a:p>
            <a:pPr indent="0" marL="0">
              <a:buNone/>
            </a:pPr>
            <a:r>
              <a:rPr lang="en-US" sz="2800" b="1" dirty="0">
                <a:solidFill>
                  <a:srgbClr val="14213D"/>
                </a:solidFill>
                <a:latin typeface="Cambria" pitchFamily="34" charset="0"/>
                <a:ea typeface="Cambria" pitchFamily="34" charset="-122"/>
                <a:cs typeface="Cambria" pitchFamily="34" charset="-120"/>
              </a:rPr>
              <a:t>PhoBERT reaches 0.629 Macro-F1; the ensemble reaches 0.643</a:t>
            </a:r>
            <a:endParaRPr lang="en-US" sz="2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3358860"/>
                <a:gridCol w="1119620"/>
                <a:gridCol w="1119620"/>
                <a:gridCol w="1119620"/>
                <a:gridCol w="1017836"/>
                <a:gridCol w="1017836"/>
                <a:gridCol w="1119620"/>
                <a:gridCol w="1221404"/>
              </a:tblGrid>
              <a:tr h="384048">
                <a:tc>
                  <a:txBody>
                    <a:bodyPr/>
                    <a:lstStyle/>
                    <a:p>
                      <a:pPr algn="l" indent="0" marL="0">
                        <a:buNone/>
                      </a:pPr>
                      <a:r>
                        <a:rPr lang="en-US" sz="1400" b="1" dirty="0">
                          <a:solidFill>
                            <a:srgbClr val="14213D"/>
                          </a:solidFill>
                          <a:latin typeface="Calibri" pitchFamily="34" charset="0"/>
                          <a:ea typeface="Calibri" pitchFamily="34" charset="-122"/>
                          <a:cs typeface="Calibri" pitchFamily="34" charset="-120"/>
                        </a:rPr>
                        <a:t>Model</a:t>
                      </a:r>
                      <a:endParaRPr lang="en-US" sz="14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DCE8FB"/>
                    </a:solidFill>
                  </a:tcPr>
                </a:tc>
                <a:tc>
                  <a:txBody>
                    <a:bodyPr/>
                    <a:lstStyle/>
                    <a:p>
                      <a:pPr algn="r" indent="0" marL="0">
                        <a:buNone/>
                      </a:pPr>
                      <a:r>
                        <a:rPr lang="en-US" sz="1400" b="1" dirty="0">
                          <a:solidFill>
                            <a:srgbClr val="14213D"/>
                          </a:solidFill>
                          <a:latin typeface="Calibri" pitchFamily="34" charset="0"/>
                          <a:ea typeface="Calibri" pitchFamily="34" charset="-122"/>
                          <a:cs typeface="Calibri" pitchFamily="34" charset="-120"/>
                        </a:rPr>
                        <a:t>Macro-F1</a:t>
                      </a:r>
                      <a:endParaRPr lang="en-US" sz="14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DCE8FB"/>
                    </a:solidFill>
                  </a:tcPr>
                </a:tc>
                <a:tc>
                  <a:txBody>
                    <a:bodyPr/>
                    <a:lstStyle/>
                    <a:p>
                      <a:pPr algn="r" indent="0" marL="0">
                        <a:buNone/>
                      </a:pPr>
                      <a:r>
                        <a:rPr lang="en-US" sz="1400" b="1" dirty="0">
                          <a:solidFill>
                            <a:srgbClr val="14213D"/>
                          </a:solidFill>
                          <a:latin typeface="Calibri" pitchFamily="34" charset="0"/>
                          <a:ea typeface="Calibri" pitchFamily="34" charset="-122"/>
                          <a:cs typeface="Calibri" pitchFamily="34" charset="-120"/>
                        </a:rPr>
                        <a:t>Micro-F1</a:t>
                      </a:r>
                      <a:endParaRPr lang="en-US" sz="14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DCE8FB"/>
                    </a:solidFill>
                  </a:tcPr>
                </a:tc>
                <a:tc>
                  <a:txBody>
                    <a:bodyPr/>
                    <a:lstStyle/>
                    <a:p>
                      <a:pPr algn="r" indent="0" marL="0">
                        <a:buNone/>
                      </a:pPr>
                      <a:r>
                        <a:rPr lang="en-US" sz="1400" b="1" dirty="0">
                          <a:solidFill>
                            <a:srgbClr val="14213D"/>
                          </a:solidFill>
                          <a:latin typeface="Calibri" pitchFamily="34" charset="0"/>
                          <a:ea typeface="Calibri" pitchFamily="34" charset="-122"/>
                          <a:cs typeface="Calibri" pitchFamily="34" charset="-120"/>
                        </a:rPr>
                        <a:t>Hamming ↓</a:t>
                      </a:r>
                      <a:endParaRPr lang="en-US" sz="14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DCE8FB"/>
                    </a:solidFill>
                  </a:tcPr>
                </a:tc>
                <a:tc>
                  <a:txBody>
                    <a:bodyPr/>
                    <a:lstStyle/>
                    <a:p>
                      <a:pPr algn="r" indent="0" marL="0">
                        <a:buNone/>
                      </a:pPr>
                      <a:r>
                        <a:rPr lang="en-US" sz="1400" b="1" dirty="0">
                          <a:solidFill>
                            <a:srgbClr val="14213D"/>
                          </a:solidFill>
                          <a:latin typeface="Calibri" pitchFamily="34" charset="0"/>
                          <a:ea typeface="Calibri" pitchFamily="34" charset="-122"/>
                          <a:cs typeface="Calibri" pitchFamily="34" charset="-120"/>
                        </a:rPr>
                        <a:t>LRAP</a:t>
                      </a:r>
                      <a:endParaRPr lang="en-US" sz="14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DCE8FB"/>
                    </a:solidFill>
                  </a:tcPr>
                </a:tc>
                <a:tc>
                  <a:txBody>
                    <a:bodyPr/>
                    <a:lstStyle/>
                    <a:p>
                      <a:pPr algn="r" indent="0" marL="0">
                        <a:buNone/>
                      </a:pPr>
                      <a:r>
                        <a:rPr lang="en-US" sz="1400" b="1" dirty="0">
                          <a:solidFill>
                            <a:srgbClr val="14213D"/>
                          </a:solidFill>
                          <a:latin typeface="Calibri" pitchFamily="34" charset="0"/>
                          <a:ea typeface="Calibri" pitchFamily="34" charset="-122"/>
                          <a:cs typeface="Calibri" pitchFamily="34" charset="-120"/>
                        </a:rPr>
                        <a:t>mAP</a:t>
                      </a:r>
                      <a:endParaRPr lang="en-US" sz="14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DCE8FB"/>
                    </a:solidFill>
                  </a:tcPr>
                </a:tc>
                <a:tc>
                  <a:txBody>
                    <a:bodyPr/>
                    <a:lstStyle/>
                    <a:p>
                      <a:pPr algn="r" indent="0" marL="0">
                        <a:buNone/>
                      </a:pPr>
                      <a:r>
                        <a:rPr lang="en-US" sz="1400" b="1" dirty="0">
                          <a:solidFill>
                            <a:srgbClr val="14213D"/>
                          </a:solidFill>
                          <a:latin typeface="Calibri" pitchFamily="34" charset="0"/>
                          <a:ea typeface="Calibri" pitchFamily="34" charset="-122"/>
                          <a:cs typeface="Calibri" pitchFamily="34" charset="-120"/>
                        </a:rPr>
                        <a:t>Params</a:t>
                      </a:r>
                      <a:endParaRPr lang="en-US" sz="14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DCE8FB"/>
                    </a:solidFill>
                  </a:tcPr>
                </a:tc>
                <a:tc>
                  <a:txBody>
                    <a:bodyPr/>
                    <a:lstStyle/>
                    <a:p>
                      <a:pPr algn="r" indent="0" marL="0">
                        <a:buNone/>
                      </a:pPr>
                      <a:r>
                        <a:rPr lang="en-US" sz="1400" b="1" dirty="0">
                          <a:solidFill>
                            <a:srgbClr val="14213D"/>
                          </a:solidFill>
                          <a:latin typeface="Calibri" pitchFamily="34" charset="0"/>
                          <a:ea typeface="Calibri" pitchFamily="34" charset="-122"/>
                          <a:cs typeface="Calibri" pitchFamily="34" charset="-120"/>
                        </a:rPr>
                        <a:t>Train time</a:t>
                      </a:r>
                      <a:endParaRPr lang="en-US" sz="14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DCE8FB"/>
                    </a:solidFill>
                  </a:tcPr>
                </a:tc>
              </a:tr>
              <a:tr h="384048">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M1 · TF-IDF + OvR LR</a:t>
                      </a:r>
                      <a:endParaRPr lang="en-US" sz="14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0.542</a:t>
                      </a:r>
                      <a:endParaRPr lang="en-US" sz="14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0.558</a:t>
                      </a:r>
                      <a:endParaRPr lang="en-US" sz="14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0.0665</a:t>
                      </a:r>
                      <a:endParaRPr lang="en-US" sz="14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0.690</a:t>
                      </a:r>
                      <a:endParaRPr lang="en-US" sz="14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0.560</a:t>
                      </a:r>
                      <a:endParaRPr lang="en-US" sz="14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2.1M</a:t>
                      </a:r>
                      <a:endParaRPr lang="en-US" sz="14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6 s</a:t>
                      </a:r>
                      <a:endParaRPr lang="en-US" sz="14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r>
              <a:tr h="384048">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M2 · BiLSTM</a:t>
                      </a:r>
                      <a:endParaRPr lang="en-US" sz="14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5F7FA"/>
                    </a:solidFill>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0.512</a:t>
                      </a:r>
                      <a:endParaRPr lang="en-US" sz="14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5F7FA"/>
                    </a:solidFill>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0.533</a:t>
                      </a:r>
                      <a:endParaRPr lang="en-US" sz="14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5F7FA"/>
                    </a:solidFill>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0.0581</a:t>
                      </a:r>
                      <a:endParaRPr lang="en-US" sz="14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5F7FA"/>
                    </a:solidFill>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0.668</a:t>
                      </a:r>
                      <a:endParaRPr lang="en-US" sz="14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5F7FA"/>
                    </a:solidFill>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0.539</a:t>
                      </a:r>
                      <a:endParaRPr lang="en-US" sz="14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5F7FA"/>
                    </a:solidFill>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5.2M</a:t>
                      </a:r>
                      <a:endParaRPr lang="en-US" sz="14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5F7FA"/>
                    </a:solidFill>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21.6 min</a:t>
                      </a:r>
                      <a:endParaRPr lang="en-US" sz="14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5F7FA"/>
                    </a:solidFill>
                  </a:tcPr>
                </a:tc>
              </a:tr>
              <a:tr h="384048">
                <a:tc>
                  <a:txBody>
                    <a:bodyPr/>
                    <a:lstStyle/>
                    <a:p>
                      <a:pPr algn="l" indent="0" marL="0">
                        <a:buNone/>
                      </a:pPr>
                      <a:r>
                        <a:rPr lang="en-US" sz="1400" b="1" dirty="0">
                          <a:solidFill>
                            <a:srgbClr val="14213D"/>
                          </a:solidFill>
                          <a:latin typeface="Calibri" pitchFamily="34" charset="0"/>
                          <a:ea typeface="Calibri" pitchFamily="34" charset="-122"/>
                          <a:cs typeface="Calibri" pitchFamily="34" charset="-120"/>
                        </a:rPr>
                        <a:t>M3 · PhoBERT-base-v2</a:t>
                      </a:r>
                      <a:endParaRPr lang="en-US" sz="14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E7F0FC"/>
                    </a:solidFill>
                  </a:tcPr>
                </a:tc>
                <a:tc>
                  <a:txBody>
                    <a:bodyPr/>
                    <a:lstStyle/>
                    <a:p>
                      <a:pPr algn="r" indent="0" marL="0">
                        <a:buNone/>
                      </a:pPr>
                      <a:r>
                        <a:rPr lang="en-US" sz="1400" b="1" dirty="0">
                          <a:solidFill>
                            <a:srgbClr val="14213D"/>
                          </a:solidFill>
                          <a:latin typeface="Calibri" pitchFamily="34" charset="0"/>
                          <a:ea typeface="Calibri" pitchFamily="34" charset="-122"/>
                          <a:cs typeface="Calibri" pitchFamily="34" charset="-120"/>
                        </a:rPr>
                        <a:t>0.629</a:t>
                      </a:r>
                      <a:endParaRPr lang="en-US" sz="14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E7F0FC"/>
                    </a:solidFill>
                  </a:tcPr>
                </a:tc>
                <a:tc>
                  <a:txBody>
                    <a:bodyPr/>
                    <a:lstStyle/>
                    <a:p>
                      <a:pPr algn="r" indent="0" marL="0">
                        <a:buNone/>
                      </a:pPr>
                      <a:r>
                        <a:rPr lang="en-US" sz="1400" b="1" dirty="0">
                          <a:solidFill>
                            <a:srgbClr val="14213D"/>
                          </a:solidFill>
                          <a:latin typeface="Calibri" pitchFamily="34" charset="0"/>
                          <a:ea typeface="Calibri" pitchFamily="34" charset="-122"/>
                          <a:cs typeface="Calibri" pitchFamily="34" charset="-120"/>
                        </a:rPr>
                        <a:t>0.646</a:t>
                      </a:r>
                      <a:endParaRPr lang="en-US" sz="14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E7F0FC"/>
                    </a:solidFill>
                  </a:tcPr>
                </a:tc>
                <a:tc>
                  <a:txBody>
                    <a:bodyPr/>
                    <a:lstStyle/>
                    <a:p>
                      <a:pPr algn="r" indent="0" marL="0">
                        <a:buNone/>
                      </a:pPr>
                      <a:r>
                        <a:rPr lang="en-US" sz="1400" b="1" dirty="0">
                          <a:solidFill>
                            <a:srgbClr val="14213D"/>
                          </a:solidFill>
                          <a:latin typeface="Calibri" pitchFamily="34" charset="0"/>
                          <a:ea typeface="Calibri" pitchFamily="34" charset="-122"/>
                          <a:cs typeface="Calibri" pitchFamily="34" charset="-120"/>
                        </a:rPr>
                        <a:t>0.0472</a:t>
                      </a:r>
                      <a:endParaRPr lang="en-US" sz="14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E7F0FC"/>
                    </a:solidFill>
                  </a:tcPr>
                </a:tc>
                <a:tc>
                  <a:txBody>
                    <a:bodyPr/>
                    <a:lstStyle/>
                    <a:p>
                      <a:pPr algn="r" indent="0" marL="0">
                        <a:buNone/>
                      </a:pPr>
                      <a:r>
                        <a:rPr lang="en-US" sz="1400" b="1" dirty="0">
                          <a:solidFill>
                            <a:srgbClr val="14213D"/>
                          </a:solidFill>
                          <a:latin typeface="Calibri" pitchFamily="34" charset="0"/>
                          <a:ea typeface="Calibri" pitchFamily="34" charset="-122"/>
                          <a:cs typeface="Calibri" pitchFamily="34" charset="-120"/>
                        </a:rPr>
                        <a:t>0.769</a:t>
                      </a:r>
                      <a:endParaRPr lang="en-US" sz="14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E7F0FC"/>
                    </a:solidFill>
                  </a:tcPr>
                </a:tc>
                <a:tc>
                  <a:txBody>
                    <a:bodyPr/>
                    <a:lstStyle/>
                    <a:p>
                      <a:pPr algn="r" indent="0" marL="0">
                        <a:buNone/>
                      </a:pPr>
                      <a:r>
                        <a:rPr lang="en-US" sz="1400" b="1" dirty="0">
                          <a:solidFill>
                            <a:srgbClr val="14213D"/>
                          </a:solidFill>
                          <a:latin typeface="Calibri" pitchFamily="34" charset="0"/>
                          <a:ea typeface="Calibri" pitchFamily="34" charset="-122"/>
                          <a:cs typeface="Calibri" pitchFamily="34" charset="-120"/>
                        </a:rPr>
                        <a:t>0.684</a:t>
                      </a:r>
                      <a:endParaRPr lang="en-US" sz="14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E7F0FC"/>
                    </a:solidFill>
                  </a:tcPr>
                </a:tc>
                <a:tc>
                  <a:txBody>
                    <a:bodyPr/>
                    <a:lstStyle/>
                    <a:p>
                      <a:pPr algn="r" indent="0" marL="0">
                        <a:buNone/>
                      </a:pPr>
                      <a:r>
                        <a:rPr lang="en-US" sz="1400" b="1" dirty="0">
                          <a:solidFill>
                            <a:srgbClr val="14213D"/>
                          </a:solidFill>
                          <a:latin typeface="Calibri" pitchFamily="34" charset="0"/>
                          <a:ea typeface="Calibri" pitchFamily="34" charset="-122"/>
                          <a:cs typeface="Calibri" pitchFamily="34" charset="-120"/>
                        </a:rPr>
                        <a:t>134.4M</a:t>
                      </a:r>
                      <a:endParaRPr lang="en-US" sz="14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E7F0FC"/>
                    </a:solidFill>
                  </a:tcPr>
                </a:tc>
                <a:tc>
                  <a:txBody>
                    <a:bodyPr/>
                    <a:lstStyle/>
                    <a:p>
                      <a:pPr algn="r" indent="0" marL="0">
                        <a:buNone/>
                      </a:pPr>
                      <a:r>
                        <a:rPr lang="en-US" sz="1400" b="1" dirty="0">
                          <a:solidFill>
                            <a:srgbClr val="14213D"/>
                          </a:solidFill>
                          <a:latin typeface="Calibri" pitchFamily="34" charset="0"/>
                          <a:ea typeface="Calibri" pitchFamily="34" charset="-122"/>
                          <a:cs typeface="Calibri" pitchFamily="34" charset="-120"/>
                        </a:rPr>
                        <a:t>51.0 min</a:t>
                      </a:r>
                      <a:endParaRPr lang="en-US" sz="14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E7F0FC"/>
                    </a:solidFill>
                  </a:tcPr>
                </a:tc>
              </a:tr>
              <a:tr h="384048">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ViSoBERT</a:t>
                      </a:r>
                      <a:endParaRPr lang="en-US" sz="14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5F7FA"/>
                    </a:solidFill>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0.613</a:t>
                      </a:r>
                      <a:endParaRPr lang="en-US" sz="14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5F7FA"/>
                    </a:solidFill>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0.632</a:t>
                      </a:r>
                      <a:endParaRPr lang="en-US" sz="14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5F7FA"/>
                    </a:solidFill>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0.0483</a:t>
                      </a:r>
                      <a:endParaRPr lang="en-US" sz="14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5F7FA"/>
                    </a:solidFill>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0.755</a:t>
                      </a:r>
                      <a:endParaRPr lang="en-US" sz="14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5F7FA"/>
                    </a:solidFill>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0.656</a:t>
                      </a:r>
                      <a:endParaRPr lang="en-US" sz="14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5F7FA"/>
                    </a:solidFill>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97.0M</a:t>
                      </a:r>
                      <a:endParaRPr lang="en-US" sz="14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5F7FA"/>
                    </a:solidFill>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41.1 min</a:t>
                      </a:r>
                      <a:endParaRPr lang="en-US" sz="14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5F7FA"/>
                    </a:solidFill>
                  </a:tcPr>
                </a:tc>
              </a:tr>
              <a:tr h="384048">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ViSoBERT-14GB</a:t>
                      </a:r>
                      <a:endParaRPr lang="en-US" sz="14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0.620</a:t>
                      </a:r>
                      <a:endParaRPr lang="en-US" sz="14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0.642</a:t>
                      </a:r>
                      <a:endParaRPr lang="en-US" sz="14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0.0470</a:t>
                      </a:r>
                      <a:endParaRPr lang="en-US" sz="14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0.777</a:t>
                      </a:r>
                      <a:endParaRPr lang="en-US" sz="14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0.678</a:t>
                      </a:r>
                      <a:endParaRPr lang="en-US" sz="14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97.0M</a:t>
                      </a:r>
                      <a:endParaRPr lang="en-US" sz="14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41.9 min</a:t>
                      </a:r>
                      <a:endParaRPr lang="en-US" sz="14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r>
              <a:tr h="384048">
                <a:tc>
                  <a:txBody>
                    <a:bodyPr/>
                    <a:lstStyle/>
                    <a:p>
                      <a:pPr algn="l" indent="0" marL="0">
                        <a:buNone/>
                      </a:pPr>
                      <a:r>
                        <a:rPr lang="en-US" sz="1400" b="1" dirty="0">
                          <a:solidFill>
                            <a:srgbClr val="14213D"/>
                          </a:solidFill>
                          <a:latin typeface="Calibri" pitchFamily="34" charset="0"/>
                          <a:ea typeface="Calibri" pitchFamily="34" charset="-122"/>
                          <a:cs typeface="Calibri" pitchFamily="34" charset="-120"/>
                        </a:rPr>
                        <a:t>Ensemble of the 3 transformers</a:t>
                      </a:r>
                      <a:endParaRPr lang="en-US" sz="14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4E8"/>
                    </a:solidFill>
                  </a:tcPr>
                </a:tc>
                <a:tc>
                  <a:txBody>
                    <a:bodyPr/>
                    <a:lstStyle/>
                    <a:p>
                      <a:pPr algn="r" indent="0" marL="0">
                        <a:buNone/>
                      </a:pPr>
                      <a:r>
                        <a:rPr lang="en-US" sz="1400" b="1" dirty="0">
                          <a:solidFill>
                            <a:srgbClr val="14213D"/>
                          </a:solidFill>
                          <a:latin typeface="Calibri" pitchFamily="34" charset="0"/>
                          <a:ea typeface="Calibri" pitchFamily="34" charset="-122"/>
                          <a:cs typeface="Calibri" pitchFamily="34" charset="-120"/>
                        </a:rPr>
                        <a:t>0.643</a:t>
                      </a:r>
                      <a:endParaRPr lang="en-US" sz="14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4E8"/>
                    </a:solidFill>
                  </a:tcPr>
                </a:tc>
                <a:tc>
                  <a:txBody>
                    <a:bodyPr/>
                    <a:lstStyle/>
                    <a:p>
                      <a:pPr algn="r" indent="0" marL="0">
                        <a:buNone/>
                      </a:pPr>
                      <a:r>
                        <a:rPr lang="en-US" sz="1400" b="1" dirty="0">
                          <a:solidFill>
                            <a:srgbClr val="14213D"/>
                          </a:solidFill>
                          <a:latin typeface="Calibri" pitchFamily="34" charset="0"/>
                          <a:ea typeface="Calibri" pitchFamily="34" charset="-122"/>
                          <a:cs typeface="Calibri" pitchFamily="34" charset="-120"/>
                        </a:rPr>
                        <a:t>0.664</a:t>
                      </a:r>
                      <a:endParaRPr lang="en-US" sz="14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4E8"/>
                    </a:solidFill>
                  </a:tcPr>
                </a:tc>
                <a:tc>
                  <a:txBody>
                    <a:bodyPr/>
                    <a:lstStyle/>
                    <a:p>
                      <a:pPr algn="r" indent="0" marL="0">
                        <a:buNone/>
                      </a:pPr>
                      <a:r>
                        <a:rPr lang="en-US" sz="1400" b="1" dirty="0">
                          <a:solidFill>
                            <a:srgbClr val="14213D"/>
                          </a:solidFill>
                          <a:latin typeface="Calibri" pitchFamily="34" charset="0"/>
                          <a:ea typeface="Calibri" pitchFamily="34" charset="-122"/>
                          <a:cs typeface="Calibri" pitchFamily="34" charset="-120"/>
                        </a:rPr>
                        <a:t>0.0429</a:t>
                      </a:r>
                      <a:endParaRPr lang="en-US" sz="14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4E8"/>
                    </a:solidFill>
                  </a:tcPr>
                </a:tc>
                <a:tc>
                  <a:txBody>
                    <a:bodyPr/>
                    <a:lstStyle/>
                    <a:p>
                      <a:pPr algn="r" indent="0" marL="0">
                        <a:buNone/>
                      </a:pPr>
                      <a:r>
                        <a:rPr lang="en-US" sz="1400" b="1" dirty="0">
                          <a:solidFill>
                            <a:srgbClr val="14213D"/>
                          </a:solidFill>
                          <a:latin typeface="Calibri" pitchFamily="34" charset="0"/>
                          <a:ea typeface="Calibri" pitchFamily="34" charset="-122"/>
                          <a:cs typeface="Calibri" pitchFamily="34" charset="-120"/>
                        </a:rPr>
                        <a:t>0.793</a:t>
                      </a:r>
                      <a:endParaRPr lang="en-US" sz="14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4E8"/>
                    </a:solidFill>
                  </a:tcPr>
                </a:tc>
                <a:tc>
                  <a:txBody>
                    <a:bodyPr/>
                    <a:lstStyle/>
                    <a:p>
                      <a:pPr algn="r" indent="0" marL="0">
                        <a:buNone/>
                      </a:pPr>
                      <a:r>
                        <a:rPr lang="en-US" sz="1400" b="1" dirty="0">
                          <a:solidFill>
                            <a:srgbClr val="14213D"/>
                          </a:solidFill>
                          <a:latin typeface="Calibri" pitchFamily="34" charset="0"/>
                          <a:ea typeface="Calibri" pitchFamily="34" charset="-122"/>
                          <a:cs typeface="Calibri" pitchFamily="34" charset="-120"/>
                        </a:rPr>
                        <a:t>0.710</a:t>
                      </a:r>
                      <a:endParaRPr lang="en-US" sz="14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4E8"/>
                    </a:solidFill>
                  </a:tcPr>
                </a:tc>
                <a:tc>
                  <a:txBody>
                    <a:bodyPr/>
                    <a:lstStyle/>
                    <a:p>
                      <a:pPr algn="r" indent="0" marL="0">
                        <a:buNone/>
                      </a:pPr>
                      <a:r>
                        <a:rPr lang="en-US" sz="1400" b="1" dirty="0">
                          <a:solidFill>
                            <a:srgbClr val="14213D"/>
                          </a:solidFill>
                          <a:latin typeface="Calibri" pitchFamily="34" charset="0"/>
                          <a:ea typeface="Calibri" pitchFamily="34" charset="-122"/>
                          <a:cs typeface="Calibri" pitchFamily="34" charset="-120"/>
                        </a:rPr>
                        <a:t>328.4M</a:t>
                      </a:r>
                      <a:endParaRPr lang="en-US" sz="14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4E8"/>
                    </a:solidFill>
                  </a:tcPr>
                </a:tc>
                <a:tc>
                  <a:txBody>
                    <a:bodyPr/>
                    <a:lstStyle/>
                    <a:p>
                      <a:pPr algn="r" indent="0" marL="0">
                        <a:buNone/>
                      </a:pPr>
                      <a:r>
                        <a:rPr lang="en-US" sz="1400" b="1" dirty="0">
                          <a:solidFill>
                            <a:srgbClr val="14213D"/>
                          </a:solidFill>
                          <a:latin typeface="Calibri" pitchFamily="34" charset="0"/>
                          <a:ea typeface="Calibri" pitchFamily="34" charset="-122"/>
                          <a:cs typeface="Calibri" pitchFamily="34" charset="-120"/>
                        </a:rPr>
                        <a:t>134.0 min</a:t>
                      </a:r>
                      <a:endParaRPr lang="en-US" sz="14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4E8"/>
                    </a:solidFill>
                  </a:tcPr>
                </a:tc>
              </a:tr>
            </a:tbl>
          </a:graphicData>
        </a:graphic>
      </p:graphicFrame>
      <p:sp>
        <p:nvSpPr>
          <p:cNvPr id="5" name="Text 2"/>
          <p:cNvSpPr txBox="1"/>
          <p:nvPr/>
        </p:nvSpPr>
        <p:spPr>
          <a:xfrm>
            <a:off x="548640" y="4846320"/>
            <a:ext cx="5364328" cy="1097280"/>
          </a:xfrm>
          <a:prstGeom prst="rect">
            <a:avLst/>
          </a:prstGeom>
          <a:noFill/>
          <a:ln/>
        </p:spPr>
        <p:txBody>
          <a:bodyPr wrap="square" lIns="0" tIns="0" rIns="0" bIns="0" rtlCol="0" anchor="t"/>
          <a:lstStyle/>
          <a:p>
            <a:pPr indent="0" marL="0">
              <a:spcAft>
                <a:spcPts val="400"/>
              </a:spcAft>
              <a:buNone/>
            </a:pPr>
            <a:r>
              <a:rPr lang="en-US" sz="1600" dirty="0">
                <a:solidFill>
                  <a:srgbClr val="3D4A5C"/>
                </a:solidFill>
                <a:latin typeface="Calibri" pitchFamily="34" charset="0"/>
                <a:ea typeface="Calibri" pitchFamily="34" charset="-122"/>
                <a:cs typeface="Calibri" pitchFamily="34" charset="-120"/>
              </a:rPr>
              <a:t>PhoBERT beats the recurrent baseline by </a:t>
            </a:r>
            <a:pPr indent="0" marL="0">
              <a:spcAft>
                <a:spcPts val="400"/>
              </a:spcAft>
              <a:buNone/>
            </a:pPr>
            <a:r>
              <a:rPr lang="en-US" sz="1600" b="1" dirty="0">
                <a:solidFill>
                  <a:srgbClr val="3D4A5C"/>
                </a:solidFill>
                <a:latin typeface="Calibri" pitchFamily="34" charset="0"/>
                <a:ea typeface="Calibri" pitchFamily="34" charset="-122"/>
                <a:cs typeface="Calibri" pitchFamily="34" charset="-120"/>
              </a:rPr>
              <a:t>+11.7</a:t>
            </a:r>
            <a:pPr indent="0" marL="0">
              <a:spcAft>
                <a:spcPts val="400"/>
              </a:spcAft>
              <a:buNone/>
            </a:pPr>
            <a:r>
              <a:rPr lang="en-US" sz="1600" dirty="0">
                <a:solidFill>
                  <a:srgbClr val="3D4A5C"/>
                </a:solidFill>
                <a:latin typeface="Calibri" pitchFamily="34" charset="0"/>
                <a:ea typeface="Calibri" pitchFamily="34" charset="-122"/>
                <a:cs typeface="Calibri" pitchFamily="34" charset="-120"/>
              </a:rPr>
              <a:t> Macro-F1 points and TF-IDF by </a:t>
            </a:r>
            <a:pPr indent="0" marL="0">
              <a:spcAft>
                <a:spcPts val="400"/>
              </a:spcAft>
              <a:buNone/>
            </a:pPr>
            <a:r>
              <a:rPr lang="en-US" sz="1600" b="1" dirty="0">
                <a:solidFill>
                  <a:srgbClr val="3D4A5C"/>
                </a:solidFill>
                <a:latin typeface="Calibri" pitchFamily="34" charset="0"/>
                <a:ea typeface="Calibri" pitchFamily="34" charset="-122"/>
                <a:cs typeface="Calibri" pitchFamily="34" charset="-120"/>
              </a:rPr>
              <a:t>+8.7</a:t>
            </a:r>
            <a:pPr indent="0" marL="0">
              <a:spcAft>
                <a:spcPts val="400"/>
              </a:spcAft>
              <a:buNone/>
            </a:pPr>
            <a:r>
              <a:rPr lang="en-US" sz="1600" dirty="0">
                <a:solidFill>
                  <a:srgbClr val="3D4A5C"/>
                </a:solidFill>
                <a:latin typeface="Calibri" pitchFamily="34" charset="0"/>
                <a:ea typeface="Calibri" pitchFamily="34" charset="-122"/>
                <a:cs typeface="Calibri" pitchFamily="34" charset="-120"/>
              </a:rPr>
              <a:t>.</a:t>
            </a:r>
            <a:endParaRPr lang="en-US" sz="1600" dirty="0"/>
          </a:p>
        </p:txBody>
      </p:sp>
      <p:sp>
        <p:nvSpPr>
          <p:cNvPr id="6" name="Text 3"/>
          <p:cNvSpPr txBox="1"/>
          <p:nvPr/>
        </p:nvSpPr>
        <p:spPr>
          <a:xfrm>
            <a:off x="6278728" y="4846320"/>
            <a:ext cx="5364328" cy="1097280"/>
          </a:xfrm>
          <a:prstGeom prst="rect">
            <a:avLst/>
          </a:prstGeom>
          <a:noFill/>
          <a:ln/>
        </p:spPr>
        <p:txBody>
          <a:bodyPr wrap="square" lIns="0" tIns="0" rIns="0" bIns="0" rtlCol="0" anchor="t"/>
          <a:lstStyle/>
          <a:p>
            <a:pPr indent="0" marL="0">
              <a:spcAft>
                <a:spcPts val="400"/>
              </a:spcAft>
              <a:buNone/>
            </a:pPr>
            <a:r>
              <a:rPr lang="en-US" sz="1600" dirty="0">
                <a:solidFill>
                  <a:srgbClr val="3D4A5C"/>
                </a:solidFill>
                <a:latin typeface="Calibri" pitchFamily="34" charset="0"/>
                <a:ea typeface="Calibri" pitchFamily="34" charset="-122"/>
                <a:cs typeface="Calibri" pitchFamily="34" charset="-120"/>
              </a:rPr>
              <a:t>With a global τ* = 0.32 fitted on val, the ensemble reaches </a:t>
            </a:r>
            <a:pPr indent="0" marL="0">
              <a:spcAft>
                <a:spcPts val="400"/>
              </a:spcAft>
              <a:buNone/>
            </a:pPr>
            <a:r>
              <a:rPr lang="en-US" sz="1600" b="1" dirty="0">
                <a:solidFill>
                  <a:srgbClr val="3D4A5C"/>
                </a:solidFill>
                <a:latin typeface="Calibri" pitchFamily="34" charset="0"/>
                <a:ea typeface="Calibri" pitchFamily="34" charset="-122"/>
                <a:cs typeface="Calibri" pitchFamily="34" charset="-120"/>
              </a:rPr>
              <a:t>0.653 Macro-F1 / 0.669 Micro-F1</a:t>
            </a:r>
            <a:pPr indent="0" marL="0">
              <a:spcAft>
                <a:spcPts val="400"/>
              </a:spcAft>
              <a:buNone/>
            </a:pPr>
            <a:r>
              <a:rPr lang="en-US" sz="1600" dirty="0">
                <a:solidFill>
                  <a:srgbClr val="3D4A5C"/>
                </a:solidFill>
                <a:latin typeface="Calibri" pitchFamily="34" charset="0"/>
                <a:ea typeface="Calibri" pitchFamily="34" charset="-122"/>
                <a:cs typeface="Calibri" pitchFamily="34" charset="-120"/>
              </a:rPr>
              <a:t>.</a:t>
            </a:r>
            <a:endParaRPr lang="en-US" sz="1600" dirty="0"/>
          </a:p>
        </p:txBody>
      </p:sp>
      <p:sp>
        <p:nvSpPr>
          <p:cNvPr id="7" name="Text 4"/>
          <p:cNvSpPr txBox="1"/>
          <p:nvPr/>
        </p:nvSpPr>
        <p:spPr>
          <a:xfrm>
            <a:off x="548640" y="6400800"/>
            <a:ext cx="9875520" cy="274320"/>
          </a:xfrm>
          <a:prstGeom prst="rect">
            <a:avLst/>
          </a:prstGeom>
          <a:noFill/>
          <a:ln/>
        </p:spPr>
        <p:txBody>
          <a:bodyPr wrap="square" lIns="0" tIns="0" rIns="0" bIns="0" rtlCol="0" anchor="ctr"/>
          <a:lstStyle/>
          <a:p>
            <a:pPr indent="0" marL="0">
              <a:buNone/>
            </a:pPr>
            <a:r>
              <a:rPr lang="en-US" sz="1000" dirty="0">
                <a:solidFill>
                  <a:srgbClr val="6B7688"/>
                </a:solidFill>
                <a:latin typeface="Calibri" pitchFamily="34" charset="0"/>
                <a:ea typeface="Calibri" pitchFamily="34" charset="-122"/>
                <a:cs typeface="Calibri" pitchFamily="34" charset="-120"/>
              </a:rPr>
              <a:t>Apple M1 Pro 32 GB (MPS; BiLSTM on CPU), seed 42 · main_results_test.csv, threshold_strategies.csv, per_label_f1.csv</a:t>
            </a:r>
            <a:endParaRPr lang="en-US" sz="1000" dirty="0"/>
          </a:p>
        </p:txBody>
      </p:sp>
      <p:sp>
        <p:nvSpPr>
          <p:cNvPr id="8" name="Text 5"/>
          <p:cNvSpPr txBox="1"/>
          <p:nvPr/>
        </p:nvSpPr>
        <p:spPr>
          <a:xfrm>
            <a:off x="11094415" y="6400800"/>
            <a:ext cx="548640" cy="274320"/>
          </a:xfrm>
          <a:prstGeom prst="rect">
            <a:avLst/>
          </a:prstGeom>
          <a:noFill/>
          <a:ln/>
        </p:spPr>
        <p:txBody>
          <a:bodyPr wrap="square" lIns="0" tIns="0" rIns="0" bIns="0" rtlCol="0" anchor="ctr"/>
          <a:lstStyle/>
          <a:p>
            <a:pPr algn="r" indent="0" marL="0">
              <a:buNone/>
            </a:pPr>
            <a:r>
              <a:rPr lang="en-US" sz="1000" dirty="0">
                <a:solidFill>
                  <a:srgbClr val="6B7688"/>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BF8"/>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292608"/>
          </a:xfrm>
          <a:prstGeom prst="rect">
            <a:avLst/>
          </a:prstGeom>
          <a:noFill/>
          <a:ln/>
        </p:spPr>
        <p:txBody>
          <a:bodyPr wrap="square" lIns="0" tIns="0" rIns="0" bIns="0" rtlCol="0" anchor="ctr"/>
          <a:lstStyle/>
          <a:p>
            <a:pPr indent="0" marL="0">
              <a:buNone/>
            </a:pPr>
            <a:r>
              <a:rPr lang="en-US" sz="1200" b="1" spc="200" kern="0" dirty="0">
                <a:solidFill>
                  <a:srgbClr val="C4650F"/>
                </a:solidFill>
                <a:latin typeface="Calibri" pitchFamily="34" charset="0"/>
                <a:ea typeface="Calibri" pitchFamily="34" charset="-122"/>
                <a:cs typeface="Calibri" pitchFamily="34" charset="-120"/>
              </a:rPr>
              <a:t>COMPARISON WITH PUBLISHED BASELINES · SAME OFFICIAL SPLIT</a:t>
            </a:r>
            <a:endParaRPr lang="en-US" sz="1200" dirty="0"/>
          </a:p>
        </p:txBody>
      </p:sp>
      <p:sp>
        <p:nvSpPr>
          <p:cNvPr id="3" name="Text 1"/>
          <p:cNvSpPr txBox="1"/>
          <p:nvPr/>
        </p:nvSpPr>
        <p:spPr>
          <a:xfrm>
            <a:off x="548640" y="658368"/>
            <a:ext cx="11094415" cy="731520"/>
          </a:xfrm>
          <a:prstGeom prst="rect">
            <a:avLst/>
          </a:prstGeom>
          <a:noFill/>
          <a:ln/>
        </p:spPr>
        <p:txBody>
          <a:bodyPr wrap="square" lIns="0" tIns="0" rIns="0" bIns="0" rtlCol="0" anchor="t"/>
          <a:lstStyle/>
          <a:p>
            <a:pPr indent="0" marL="0">
              <a:buNone/>
            </a:pPr>
            <a:r>
              <a:rPr lang="en-US" sz="2800" b="1" dirty="0">
                <a:solidFill>
                  <a:srgbClr val="14213D"/>
                </a:solidFill>
                <a:latin typeface="Cambria" pitchFamily="34" charset="0"/>
                <a:ea typeface="Cambria" pitchFamily="34" charset="-122"/>
                <a:cs typeface="Cambria" pitchFamily="34" charset="-120"/>
              </a:rPr>
              <a:t>PhoBERT alone beats the paper's best model</a:t>
            </a:r>
            <a:endParaRPr lang="en-US" sz="2800" dirty="0"/>
          </a:p>
        </p:txBody>
      </p:sp>
      <p:graphicFrame>
        <p:nvGraphicFramePr>
          <p:cNvPr id="4" name="Chart 0" descr=""/>
          <p:cNvGraphicFramePr/>
          <p:nvPr/>
        </p:nvGraphicFramePr>
        <p:xfrm>
          <a:off x="548640" y="1417320"/>
          <a:ext cx="11094415" cy="41605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48640" y="5669280"/>
            <a:ext cx="11094415" cy="640080"/>
          </a:xfrm>
          <a:prstGeom prst="rect">
            <a:avLst/>
          </a:prstGeom>
          <a:noFill/>
          <a:ln/>
        </p:spPr>
        <p:txBody>
          <a:bodyPr wrap="square" lIns="0" tIns="0" rIns="0" bIns="0" rtlCol="0" anchor="t"/>
          <a:lstStyle/>
          <a:p>
            <a:pPr indent="0" marL="0">
              <a:spcAft>
                <a:spcPts val="400"/>
              </a:spcAft>
              <a:buNone/>
            </a:pPr>
            <a:r>
              <a:rPr lang="en-US" sz="1300" dirty="0">
                <a:solidFill>
                  <a:srgbClr val="3D4A5C"/>
                </a:solidFill>
                <a:latin typeface="Calibri" pitchFamily="34" charset="0"/>
                <a:ea typeface="Calibri" pitchFamily="34" charset="-122"/>
                <a:cs typeface="Calibri" pitchFamily="34" charset="-120"/>
              </a:rPr>
              <a:t>What differs from the paper's recipe (not yet ablated one by one): NFC and tone normalisation, VnCoreNLP segmentation, extended emoji and teencode dictionaries, plain BCE with prior-initialised bias, layer-wise LR decay at 3e-5 instead of 5e-5.</a:t>
            </a:r>
            <a:endParaRPr lang="en-US" sz="1300" dirty="0"/>
          </a:p>
        </p:txBody>
      </p:sp>
      <p:sp>
        <p:nvSpPr>
          <p:cNvPr id="6" name="Text 3"/>
          <p:cNvSpPr txBox="1"/>
          <p:nvPr/>
        </p:nvSpPr>
        <p:spPr>
          <a:xfrm>
            <a:off x="548640" y="6400800"/>
            <a:ext cx="9875520" cy="274320"/>
          </a:xfrm>
          <a:prstGeom prst="rect">
            <a:avLst/>
          </a:prstGeom>
          <a:noFill/>
          <a:ln/>
        </p:spPr>
        <p:txBody>
          <a:bodyPr wrap="square" lIns="0" tIns="0" rIns="0" bIns="0" rtlCol="0" anchor="ctr"/>
          <a:lstStyle/>
          <a:p>
            <a:pPr indent="0" marL="0">
              <a:buNone/>
            </a:pPr>
            <a:r>
              <a:rPr lang="en-US" sz="1000" dirty="0">
                <a:solidFill>
                  <a:srgbClr val="6B7688"/>
                </a:solidFill>
                <a:latin typeface="Calibri" pitchFamily="34" charset="0"/>
                <a:ea typeface="Calibri" pitchFamily="34" charset="-122"/>
                <a:cs typeface="Calibri" pitchFamily="34" charset="-120"/>
              </a:rPr>
              <a:t>Paper numbers: Hung et al. (EACL 2026) official notebooks, τ = 0.5, pos-weighted BCE · comparison_with_paper.csv</a:t>
            </a:r>
            <a:endParaRPr lang="en-US" sz="1000" dirty="0"/>
          </a:p>
        </p:txBody>
      </p:sp>
      <p:sp>
        <p:nvSpPr>
          <p:cNvPr id="7" name="Text 4"/>
          <p:cNvSpPr txBox="1"/>
          <p:nvPr/>
        </p:nvSpPr>
        <p:spPr>
          <a:xfrm>
            <a:off x="11094415" y="6400800"/>
            <a:ext cx="548640" cy="274320"/>
          </a:xfrm>
          <a:prstGeom prst="rect">
            <a:avLst/>
          </a:prstGeom>
          <a:noFill/>
          <a:ln/>
        </p:spPr>
        <p:txBody>
          <a:bodyPr wrap="square" lIns="0" tIns="0" rIns="0" bIns="0" rtlCol="0" anchor="ctr"/>
          <a:lstStyle/>
          <a:p>
            <a:pPr algn="r" indent="0" marL="0">
              <a:buNone/>
            </a:pPr>
            <a:r>
              <a:rPr lang="en-US" sz="1000" dirty="0">
                <a:solidFill>
                  <a:srgbClr val="6B7688"/>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BF8"/>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292608"/>
          </a:xfrm>
          <a:prstGeom prst="rect">
            <a:avLst/>
          </a:prstGeom>
          <a:noFill/>
          <a:ln/>
        </p:spPr>
        <p:txBody>
          <a:bodyPr wrap="square" lIns="0" tIns="0" rIns="0" bIns="0" rtlCol="0" anchor="ctr"/>
          <a:lstStyle/>
          <a:p>
            <a:pPr indent="0" marL="0">
              <a:buNone/>
            </a:pPr>
            <a:r>
              <a:rPr lang="en-US" sz="1200" b="1" spc="200" kern="0" dirty="0">
                <a:solidFill>
                  <a:srgbClr val="C4650F"/>
                </a:solidFill>
                <a:latin typeface="Calibri" pitchFamily="34" charset="0"/>
                <a:ea typeface="Calibri" pitchFamily="34" charset="-122"/>
                <a:cs typeface="Calibri" pitchFamily="34" charset="-120"/>
              </a:rPr>
              <a:t>Q1 · HIGHEST AND LOWEST PER-LABEL F1</a:t>
            </a:r>
            <a:endParaRPr lang="en-US" sz="1200" dirty="0"/>
          </a:p>
        </p:txBody>
      </p:sp>
      <p:sp>
        <p:nvSpPr>
          <p:cNvPr id="3" name="Text 1"/>
          <p:cNvSpPr txBox="1"/>
          <p:nvPr/>
        </p:nvSpPr>
        <p:spPr>
          <a:xfrm>
            <a:off x="548640" y="658368"/>
            <a:ext cx="11094415" cy="731520"/>
          </a:xfrm>
          <a:prstGeom prst="rect">
            <a:avLst/>
          </a:prstGeom>
          <a:noFill/>
          <a:ln/>
        </p:spPr>
        <p:txBody>
          <a:bodyPr wrap="square" lIns="0" tIns="0" rIns="0" bIns="0" rtlCol="0" anchor="t"/>
          <a:lstStyle/>
          <a:p>
            <a:pPr indent="0" marL="0">
              <a:buNone/>
            </a:pPr>
            <a:r>
              <a:rPr lang="en-US" sz="2800" b="1" dirty="0">
                <a:solidFill>
                  <a:srgbClr val="14213D"/>
                </a:solidFill>
                <a:latin typeface="Cambria" pitchFamily="34" charset="0"/>
                <a:ea typeface="Cambria" pitchFamily="34" charset="-122"/>
                <a:cs typeface="Cambria" pitchFamily="34" charset="-120"/>
              </a:rPr>
              <a:t>All three models agree on the easy and the hard labels</a:t>
            </a:r>
            <a:endParaRPr lang="en-US" sz="2800" dirty="0"/>
          </a:p>
        </p:txBody>
      </p:sp>
      <p:sp>
        <p:nvSpPr>
          <p:cNvPr id="4" name="Shape 2"/>
          <p:cNvSpPr/>
          <p:nvPr/>
        </p:nvSpPr>
        <p:spPr>
          <a:xfrm>
            <a:off x="548640" y="1417320"/>
            <a:ext cx="11094415" cy="3611880"/>
          </a:xfrm>
          <a:prstGeom prst="roundRect">
            <a:avLst>
              <a:gd name="adj" fmla="val 3038"/>
            </a:avLst>
          </a:prstGeom>
          <a:solidFill>
            <a:srgbClr val="FFFFFF"/>
          </a:solidFill>
          <a:ln w="9525">
            <a:solidFill>
              <a:srgbClr val="D5DCE5"/>
            </a:solidFill>
            <a:prstDash val="solid"/>
          </a:ln>
        </p:spPr>
      </p:sp>
      <p:pic>
        <p:nvPicPr>
          <p:cNvPr id="5" name="Image 0" descr="Test F1 per label for TF-IDF, BiLSTM and PhoBERT sorted by PhoBERT">    </p:cNvPr>
          <p:cNvPicPr>
            <a:picLocks noChangeAspect="1"/>
          </p:cNvPicPr>
          <p:nvPr/>
        </p:nvPicPr>
        <p:blipFill>
          <a:blip r:embed="rId1"/>
          <a:stretch>
            <a:fillRect/>
          </a:stretch>
        </p:blipFill>
        <p:spPr>
          <a:xfrm>
            <a:off x="764192" y="1490472"/>
            <a:ext cx="10663311" cy="3465576"/>
          </a:xfrm>
          <a:prstGeom prst="rect">
            <a:avLst/>
          </a:prstGeom>
        </p:spPr>
      </p:pic>
      <p:sp>
        <p:nvSpPr>
          <p:cNvPr id="6" name="Shape 3"/>
          <p:cNvSpPr/>
          <p:nvPr/>
        </p:nvSpPr>
        <p:spPr>
          <a:xfrm>
            <a:off x="548640" y="5166360"/>
            <a:ext cx="5410048" cy="1097280"/>
          </a:xfrm>
          <a:prstGeom prst="roundRect">
            <a:avLst>
              <a:gd name="adj" fmla="val 10000"/>
            </a:avLst>
          </a:prstGeom>
          <a:solidFill>
            <a:srgbClr val="E7F0FC"/>
          </a:solidFill>
          <a:ln w="9525">
            <a:solidFill>
              <a:srgbClr val="E7F0FC"/>
            </a:solidFill>
            <a:prstDash val="solid"/>
          </a:ln>
        </p:spPr>
      </p:sp>
      <p:sp>
        <p:nvSpPr>
          <p:cNvPr id="7" name="Text 4"/>
          <p:cNvSpPr txBox="1"/>
          <p:nvPr/>
        </p:nvSpPr>
        <p:spPr>
          <a:xfrm>
            <a:off x="777240" y="5285232"/>
            <a:ext cx="4952848" cy="914400"/>
          </a:xfrm>
          <a:prstGeom prst="rect">
            <a:avLst/>
          </a:prstGeom>
          <a:noFill/>
          <a:ln/>
        </p:spPr>
        <p:txBody>
          <a:bodyPr wrap="square" lIns="0" tIns="0" rIns="0" bIns="0" rtlCol="0" anchor="t"/>
          <a:lstStyle/>
          <a:p>
            <a:pPr indent="0" marL="0">
              <a:spcAft>
                <a:spcPts val="500"/>
              </a:spcAft>
              <a:buNone/>
            </a:pPr>
            <a:r>
              <a:rPr lang="en-US" sz="1500" b="1" dirty="0">
                <a:solidFill>
                  <a:srgbClr val="1B4FA8"/>
                </a:solidFill>
                <a:latin typeface="Calibri" pitchFamily="34" charset="0"/>
                <a:ea typeface="Calibri" pitchFamily="34" charset="-122"/>
                <a:cs typeface="Calibri" pitchFamily="34" charset="-120"/>
              </a:rPr>
              <a:t>Highest (PhoBERT)</a:t>
            </a:r>
            <a:endParaRPr lang="en-US" sz="1500" dirty="0"/>
          </a:p>
          <a:p>
            <a:pPr indent="0" marL="0">
              <a:spcAft>
                <a:spcPts val="500"/>
              </a:spcAft>
              <a:buNone/>
            </a:pPr>
            <a:r>
              <a:rPr lang="en-US" sz="1300" dirty="0">
                <a:solidFill>
                  <a:srgbClr val="3D4A5C"/>
                </a:solidFill>
                <a:latin typeface="Calibri" pitchFamily="34" charset="0"/>
                <a:ea typeface="Calibri" pitchFamily="34" charset="-122"/>
                <a:cs typeface="Calibri" pitchFamily="34" charset="-120"/>
              </a:rPr>
              <a:t>embarrassment 0.88 · gratitude 0.86 · amusement 0.77 · optimism 0.76 · remorse 0.74</a:t>
            </a:r>
            <a:endParaRPr lang="en-US" sz="1500" dirty="0"/>
          </a:p>
        </p:txBody>
      </p:sp>
      <p:sp>
        <p:nvSpPr>
          <p:cNvPr id="8" name="Shape 5"/>
          <p:cNvSpPr/>
          <p:nvPr/>
        </p:nvSpPr>
        <p:spPr>
          <a:xfrm>
            <a:off x="6233008" y="5166360"/>
            <a:ext cx="5410048" cy="1097280"/>
          </a:xfrm>
          <a:prstGeom prst="roundRect">
            <a:avLst>
              <a:gd name="adj" fmla="val 10000"/>
            </a:avLst>
          </a:prstGeom>
          <a:solidFill>
            <a:srgbClr val="FCE9EB"/>
          </a:solidFill>
          <a:ln w="9525">
            <a:solidFill>
              <a:srgbClr val="FCE9EB"/>
            </a:solidFill>
            <a:prstDash val="solid"/>
          </a:ln>
        </p:spPr>
      </p:sp>
      <p:sp>
        <p:nvSpPr>
          <p:cNvPr id="9" name="Text 6"/>
          <p:cNvSpPr txBox="1"/>
          <p:nvPr/>
        </p:nvSpPr>
        <p:spPr>
          <a:xfrm>
            <a:off x="6461608" y="5285232"/>
            <a:ext cx="4952848" cy="914400"/>
          </a:xfrm>
          <a:prstGeom prst="rect">
            <a:avLst/>
          </a:prstGeom>
          <a:noFill/>
          <a:ln/>
        </p:spPr>
        <p:txBody>
          <a:bodyPr wrap="square" lIns="0" tIns="0" rIns="0" bIns="0" rtlCol="0" anchor="t"/>
          <a:lstStyle/>
          <a:p>
            <a:pPr indent="0" marL="0">
              <a:spcAft>
                <a:spcPts val="500"/>
              </a:spcAft>
              <a:buNone/>
            </a:pPr>
            <a:r>
              <a:rPr lang="en-US" sz="1500" b="1" dirty="0">
                <a:solidFill>
                  <a:srgbClr val="A52F3E"/>
                </a:solidFill>
                <a:latin typeface="Calibri" pitchFamily="34" charset="0"/>
                <a:ea typeface="Calibri" pitchFamily="34" charset="-122"/>
                <a:cs typeface="Calibri" pitchFamily="34" charset="-120"/>
              </a:rPr>
              <a:t>Lowest (PhoBERT)</a:t>
            </a:r>
            <a:endParaRPr lang="en-US" sz="1500" dirty="0"/>
          </a:p>
          <a:p>
            <a:pPr indent="0" marL="0">
              <a:spcAft>
                <a:spcPts val="500"/>
              </a:spcAft>
              <a:buNone/>
            </a:pPr>
            <a:r>
              <a:rPr lang="en-US" sz="1300" dirty="0">
                <a:solidFill>
                  <a:srgbClr val="3D4A5C"/>
                </a:solidFill>
                <a:latin typeface="Calibri" pitchFamily="34" charset="0"/>
                <a:ea typeface="Calibri" pitchFamily="34" charset="-122"/>
                <a:cs typeface="Calibri" pitchFamily="34" charset="-120"/>
              </a:rPr>
              <a:t>disapproval 0.36 · neutral 0.42 · realization 0.44 · confusion 0.46 · disgust 0.50</a:t>
            </a:r>
            <a:endParaRPr lang="en-US" sz="1500" dirty="0"/>
          </a:p>
        </p:txBody>
      </p:sp>
      <p:sp>
        <p:nvSpPr>
          <p:cNvPr id="10" name="Text 7"/>
          <p:cNvSpPr txBox="1"/>
          <p:nvPr/>
        </p:nvSpPr>
        <p:spPr>
          <a:xfrm>
            <a:off x="548640" y="6400800"/>
            <a:ext cx="9875520" cy="274320"/>
          </a:xfrm>
          <a:prstGeom prst="rect">
            <a:avLst/>
          </a:prstGeom>
          <a:noFill/>
          <a:ln/>
        </p:spPr>
        <p:txBody>
          <a:bodyPr wrap="square" lIns="0" tIns="0" rIns="0" bIns="0" rtlCol="0" anchor="ctr"/>
          <a:lstStyle/>
          <a:p>
            <a:pPr indent="0" marL="0">
              <a:buNone/>
            </a:pPr>
            <a:r>
              <a:rPr lang="en-US" sz="1000" dirty="0">
                <a:solidFill>
                  <a:srgbClr val="6B7688"/>
                </a:solidFill>
                <a:latin typeface="Calibri" pitchFamily="34" charset="0"/>
                <a:ea typeface="Calibri" pitchFamily="34" charset="-122"/>
                <a:cs typeface="Calibri" pitchFamily="34" charset="-120"/>
              </a:rPr>
              <a:t>Test set, τ = 0.5 · tick colour = tier (blue head, brown mid, red tail) · per_label_f1.csv, q1_best_worst_labels.csv</a:t>
            </a:r>
            <a:endParaRPr lang="en-US" sz="1000" dirty="0"/>
          </a:p>
        </p:txBody>
      </p:sp>
      <p:sp>
        <p:nvSpPr>
          <p:cNvPr id="11" name="Text 8"/>
          <p:cNvSpPr txBox="1"/>
          <p:nvPr/>
        </p:nvSpPr>
        <p:spPr>
          <a:xfrm>
            <a:off x="11094415" y="6400800"/>
            <a:ext cx="548640" cy="274320"/>
          </a:xfrm>
          <a:prstGeom prst="rect">
            <a:avLst/>
          </a:prstGeom>
          <a:noFill/>
          <a:ln/>
        </p:spPr>
        <p:txBody>
          <a:bodyPr wrap="square" lIns="0" tIns="0" rIns="0" bIns="0" rtlCol="0" anchor="ctr"/>
          <a:lstStyle/>
          <a:p>
            <a:pPr algn="r" indent="0" marL="0">
              <a:buNone/>
            </a:pPr>
            <a:r>
              <a:rPr lang="en-US" sz="1000" dirty="0">
                <a:solidFill>
                  <a:srgbClr val="6B7688"/>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BF8"/>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292608"/>
          </a:xfrm>
          <a:prstGeom prst="rect">
            <a:avLst/>
          </a:prstGeom>
          <a:noFill/>
          <a:ln/>
        </p:spPr>
        <p:txBody>
          <a:bodyPr wrap="square" lIns="0" tIns="0" rIns="0" bIns="0" rtlCol="0" anchor="ctr"/>
          <a:lstStyle/>
          <a:p>
            <a:pPr indent="0" marL="0">
              <a:buNone/>
            </a:pPr>
            <a:r>
              <a:rPr lang="en-US" sz="1200" b="1" spc="200" kern="0" dirty="0">
                <a:solidFill>
                  <a:srgbClr val="C4650F"/>
                </a:solidFill>
                <a:latin typeface="Calibri" pitchFamily="34" charset="0"/>
                <a:ea typeface="Calibri" pitchFamily="34" charset="-122"/>
                <a:cs typeface="Calibri" pitchFamily="34" charset="-120"/>
              </a:rPr>
              <a:t>Q2 · PERFORMANCE VS TRAINING LABEL FREQUENCY</a:t>
            </a:r>
            <a:endParaRPr lang="en-US" sz="1200" dirty="0"/>
          </a:p>
        </p:txBody>
      </p:sp>
      <p:sp>
        <p:nvSpPr>
          <p:cNvPr id="3" name="Text 1"/>
          <p:cNvSpPr txBox="1"/>
          <p:nvPr/>
        </p:nvSpPr>
        <p:spPr>
          <a:xfrm>
            <a:off x="548640" y="658368"/>
            <a:ext cx="11094415" cy="731520"/>
          </a:xfrm>
          <a:prstGeom prst="rect">
            <a:avLst/>
          </a:prstGeom>
          <a:noFill/>
          <a:ln/>
        </p:spPr>
        <p:txBody>
          <a:bodyPr wrap="square" lIns="0" tIns="0" rIns="0" bIns="0" rtlCol="0" anchor="t"/>
          <a:lstStyle/>
          <a:p>
            <a:pPr indent="0" marL="0">
              <a:buNone/>
            </a:pPr>
            <a:r>
              <a:rPr lang="en-US" sz="2800" b="1" dirty="0">
                <a:solidFill>
                  <a:srgbClr val="14213D"/>
                </a:solidFill>
                <a:latin typeface="Cambria" pitchFamily="34" charset="0"/>
                <a:ea typeface="Cambria" pitchFamily="34" charset="-122"/>
                <a:cs typeface="Cambria" pitchFamily="34" charset="-120"/>
              </a:rPr>
              <a:t>Frequency barely predicts F1: difficulty is semantic</a:t>
            </a:r>
            <a:endParaRPr lang="en-US" sz="2800" dirty="0"/>
          </a:p>
        </p:txBody>
      </p:sp>
      <p:sp>
        <p:nvSpPr>
          <p:cNvPr id="4" name="Shape 2"/>
          <p:cNvSpPr/>
          <p:nvPr/>
        </p:nvSpPr>
        <p:spPr>
          <a:xfrm>
            <a:off x="548640" y="1417320"/>
            <a:ext cx="11094415" cy="3429000"/>
          </a:xfrm>
          <a:prstGeom prst="roundRect">
            <a:avLst>
              <a:gd name="adj" fmla="val 3200"/>
            </a:avLst>
          </a:prstGeom>
          <a:solidFill>
            <a:srgbClr val="FFFFFF"/>
          </a:solidFill>
          <a:ln w="9525">
            <a:solidFill>
              <a:srgbClr val="D5DCE5"/>
            </a:solidFill>
            <a:prstDash val="solid"/>
          </a:ln>
        </p:spPr>
      </p:sp>
      <p:pic>
        <p:nvPicPr>
          <p:cNvPr id="5" name="Image 0" descr="Per-label test F1 against log training positives for three models">    </p:cNvPr>
          <p:cNvPicPr>
            <a:picLocks noChangeAspect="1"/>
          </p:cNvPicPr>
          <p:nvPr/>
        </p:nvPicPr>
        <p:blipFill>
          <a:blip r:embed="rId1"/>
          <a:stretch>
            <a:fillRect/>
          </a:stretch>
        </p:blipFill>
        <p:spPr>
          <a:xfrm>
            <a:off x="925601" y="1490472"/>
            <a:ext cx="10340492" cy="3282696"/>
          </a:xfrm>
          <a:prstGeom prst="rect">
            <a:avLst/>
          </a:prstGeom>
        </p:spPr>
      </p:pic>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4983480"/>
          <a:ext cx="11094415" cy="914400"/>
        </p:xfrm>
        <a:graphic>
          <a:graphicData uri="http://schemas.openxmlformats.org/drawingml/2006/table">
            <a:tbl>
              <a:tblPr/>
              <a:tblGrid>
                <a:gridCol w="3503500"/>
                <a:gridCol w="2335666"/>
                <a:gridCol w="1751750"/>
                <a:gridCol w="1751750"/>
                <a:gridCol w="1751750"/>
              </a:tblGrid>
              <a:tr h="274320">
                <a:tc>
                  <a:txBody>
                    <a:bodyPr/>
                    <a:lstStyle/>
                    <a:p>
                      <a:pPr algn="l" indent="0" marL="0">
                        <a:buNone/>
                      </a:pPr>
                      <a:r>
                        <a:rPr lang="en-US" sz="1300" b="1" dirty="0">
                          <a:solidFill>
                            <a:srgbClr val="14213D"/>
                          </a:solidFill>
                          <a:latin typeface="Calibri" pitchFamily="34" charset="0"/>
                          <a:ea typeface="Calibri" pitchFamily="34" charset="-122"/>
                          <a:cs typeface="Calibri" pitchFamily="34" charset="-120"/>
                        </a:rPr>
                        <a:t>Model</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DCE8FB"/>
                    </a:solidFill>
                  </a:tcPr>
                </a:tc>
                <a:tc>
                  <a:txBody>
                    <a:bodyPr/>
                    <a:lstStyle/>
                    <a:p>
                      <a:pPr algn="r" indent="0" marL="0">
                        <a:buNone/>
                      </a:pPr>
                      <a:r>
                        <a:rPr lang="en-US" sz="1300" b="1" dirty="0">
                          <a:solidFill>
                            <a:srgbClr val="14213D"/>
                          </a:solidFill>
                          <a:latin typeface="Calibri" pitchFamily="34" charset="0"/>
                          <a:ea typeface="Calibri" pitchFamily="34" charset="-122"/>
                          <a:cs typeface="Calibri" pitchFamily="34" charset="-120"/>
                        </a:rPr>
                        <a:t>Spearman ρ (p)</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DCE8FB"/>
                    </a:solidFill>
                  </a:tcPr>
                </a:tc>
                <a:tc>
                  <a:txBody>
                    <a:bodyPr/>
                    <a:lstStyle/>
                    <a:p>
                      <a:pPr algn="r" indent="0" marL="0">
                        <a:buNone/>
                      </a:pPr>
                      <a:r>
                        <a:rPr lang="en-US" sz="1300" b="1" dirty="0">
                          <a:solidFill>
                            <a:srgbClr val="14213D"/>
                          </a:solidFill>
                          <a:latin typeface="Calibri" pitchFamily="34" charset="0"/>
                          <a:ea typeface="Calibri" pitchFamily="34" charset="-122"/>
                          <a:cs typeface="Calibri" pitchFamily="34" charset="-120"/>
                        </a:rPr>
                        <a:t>Head F1</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DCE8FB"/>
                    </a:solidFill>
                  </a:tcPr>
                </a:tc>
                <a:tc>
                  <a:txBody>
                    <a:bodyPr/>
                    <a:lstStyle/>
                    <a:p>
                      <a:pPr algn="r" indent="0" marL="0">
                        <a:buNone/>
                      </a:pPr>
                      <a:r>
                        <a:rPr lang="en-US" sz="1300" b="1" dirty="0">
                          <a:solidFill>
                            <a:srgbClr val="14213D"/>
                          </a:solidFill>
                          <a:latin typeface="Calibri" pitchFamily="34" charset="0"/>
                          <a:ea typeface="Calibri" pitchFamily="34" charset="-122"/>
                          <a:cs typeface="Calibri" pitchFamily="34" charset="-120"/>
                        </a:rPr>
                        <a:t>Mid F1</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DCE8FB"/>
                    </a:solidFill>
                  </a:tcPr>
                </a:tc>
                <a:tc>
                  <a:txBody>
                    <a:bodyPr/>
                    <a:lstStyle/>
                    <a:p>
                      <a:pPr algn="r" indent="0" marL="0">
                        <a:buNone/>
                      </a:pPr>
                      <a:r>
                        <a:rPr lang="en-US" sz="1300" b="1" dirty="0">
                          <a:solidFill>
                            <a:srgbClr val="14213D"/>
                          </a:solidFill>
                          <a:latin typeface="Calibri" pitchFamily="34" charset="0"/>
                          <a:ea typeface="Calibri" pitchFamily="34" charset="-122"/>
                          <a:cs typeface="Calibri" pitchFamily="34" charset="-120"/>
                        </a:rPr>
                        <a:t>Tail F1</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DCE8FB"/>
                    </a:solidFill>
                  </a:tcPr>
                </a:tc>
              </a:tr>
              <a:tr h="274320">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TF-IDF + LR</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0.23 (0.24)</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0.567</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0.551</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0.506</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r>
              <a:tr h="274320">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BiLSTM</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5F7FA"/>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0.17 (0.39)</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5F7FA"/>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0.539</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5F7FA"/>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0.515</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5F7FA"/>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0.482</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5F7FA"/>
                    </a:solidFill>
                  </a:tcPr>
                </a:tc>
              </a:tr>
              <a:tr h="274320">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PhoBERT</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0.23 (0.23)</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0.641</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0.653</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0.592</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r>
            </a:tbl>
          </a:graphicData>
        </a:graphic>
      </p:graphicFrame>
      <p:sp>
        <p:nvSpPr>
          <p:cNvPr id="7" name="Text 3"/>
          <p:cNvSpPr txBox="1"/>
          <p:nvPr/>
        </p:nvSpPr>
        <p:spPr>
          <a:xfrm>
            <a:off x="548640" y="6400800"/>
            <a:ext cx="9875520" cy="274320"/>
          </a:xfrm>
          <a:prstGeom prst="rect">
            <a:avLst/>
          </a:prstGeom>
          <a:noFill/>
          <a:ln/>
        </p:spPr>
        <p:txBody>
          <a:bodyPr wrap="square" lIns="0" tIns="0" rIns="0" bIns="0" rtlCol="0" anchor="ctr"/>
          <a:lstStyle/>
          <a:p>
            <a:pPr indent="0" marL="0">
              <a:buNone/>
            </a:pPr>
            <a:r>
              <a:rPr lang="en-US" sz="1000" dirty="0">
                <a:solidFill>
                  <a:srgbClr val="6B7688"/>
                </a:solidFill>
                <a:latin typeface="Calibri" pitchFamily="34" charset="0"/>
                <a:ea typeface="Calibri" pitchFamily="34" charset="-122"/>
                <a:cs typeface="Calibri" pitchFamily="34" charset="-120"/>
              </a:rPr>
              <a:t>28 labels, test F1 at τ = 0.5 vs training positives · q2_frequency_correlation.csv · correlation ≠ causation</a:t>
            </a:r>
            <a:endParaRPr lang="en-US" sz="1000" dirty="0"/>
          </a:p>
        </p:txBody>
      </p:sp>
      <p:sp>
        <p:nvSpPr>
          <p:cNvPr id="8" name="Text 4"/>
          <p:cNvSpPr txBox="1"/>
          <p:nvPr/>
        </p:nvSpPr>
        <p:spPr>
          <a:xfrm>
            <a:off x="11094415" y="6400800"/>
            <a:ext cx="548640" cy="274320"/>
          </a:xfrm>
          <a:prstGeom prst="rect">
            <a:avLst/>
          </a:prstGeom>
          <a:noFill/>
          <a:ln/>
        </p:spPr>
        <p:txBody>
          <a:bodyPr wrap="square" lIns="0" tIns="0" rIns="0" bIns="0" rtlCol="0" anchor="ctr"/>
          <a:lstStyle/>
          <a:p>
            <a:pPr algn="r" indent="0" marL="0">
              <a:buNone/>
            </a:pPr>
            <a:r>
              <a:rPr lang="en-US" sz="1000" dirty="0">
                <a:solidFill>
                  <a:srgbClr val="6B7688"/>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BF8"/>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292608"/>
          </a:xfrm>
          <a:prstGeom prst="rect">
            <a:avLst/>
          </a:prstGeom>
          <a:noFill/>
          <a:ln/>
        </p:spPr>
        <p:txBody>
          <a:bodyPr wrap="square" lIns="0" tIns="0" rIns="0" bIns="0" rtlCol="0" anchor="ctr"/>
          <a:lstStyle/>
          <a:p>
            <a:pPr indent="0" marL="0">
              <a:buNone/>
            </a:pPr>
            <a:r>
              <a:rPr lang="en-US" sz="1200" b="1" spc="200" kern="0" dirty="0">
                <a:solidFill>
                  <a:srgbClr val="C4650F"/>
                </a:solidFill>
                <a:latin typeface="Calibri" pitchFamily="34" charset="0"/>
                <a:ea typeface="Calibri" pitchFamily="34" charset="-122"/>
                <a:cs typeface="Calibri" pitchFamily="34" charset="-120"/>
              </a:rPr>
              <a:t>Q3 · ARE LABEL DEPENDENCIES PRESERVED?</a:t>
            </a:r>
            <a:endParaRPr lang="en-US" sz="1200" dirty="0"/>
          </a:p>
        </p:txBody>
      </p:sp>
      <p:sp>
        <p:nvSpPr>
          <p:cNvPr id="3" name="Text 1"/>
          <p:cNvSpPr txBox="1"/>
          <p:nvPr/>
        </p:nvSpPr>
        <p:spPr>
          <a:xfrm>
            <a:off x="548640" y="658368"/>
            <a:ext cx="11094415" cy="731520"/>
          </a:xfrm>
          <a:prstGeom prst="rect">
            <a:avLst/>
          </a:prstGeom>
          <a:noFill/>
          <a:ln/>
        </p:spPr>
        <p:txBody>
          <a:bodyPr wrap="square" lIns="0" tIns="0" rIns="0" bIns="0" rtlCol="0" anchor="t"/>
          <a:lstStyle/>
          <a:p>
            <a:pPr indent="0" marL="0">
              <a:buNone/>
            </a:pPr>
            <a:r>
              <a:rPr lang="en-US" sz="2800" b="1" dirty="0">
                <a:solidFill>
                  <a:srgbClr val="14213D"/>
                </a:solidFill>
                <a:latin typeface="Cambria" pitchFamily="34" charset="0"/>
                <a:ea typeface="Cambria" pitchFamily="34" charset="-122"/>
                <a:cs typeface="Cambria" pitchFamily="34" charset="-120"/>
              </a:rPr>
              <a:t>PhoBERT reproduces the pair structure; the baselines distort it</a:t>
            </a:r>
            <a:endParaRPr lang="en-US" sz="2800" dirty="0"/>
          </a:p>
        </p:txBody>
      </p:sp>
      <p:sp>
        <p:nvSpPr>
          <p:cNvPr id="4" name="Shape 2"/>
          <p:cNvSpPr/>
          <p:nvPr/>
        </p:nvSpPr>
        <p:spPr>
          <a:xfrm>
            <a:off x="548640" y="1417320"/>
            <a:ext cx="6949440" cy="3246120"/>
          </a:xfrm>
          <a:prstGeom prst="roundRect">
            <a:avLst>
              <a:gd name="adj" fmla="val 3380"/>
            </a:avLst>
          </a:prstGeom>
          <a:solidFill>
            <a:srgbClr val="FFFFFF"/>
          </a:solidFill>
          <a:ln w="9525">
            <a:solidFill>
              <a:srgbClr val="D5DCE5"/>
            </a:solidFill>
            <a:prstDash val="solid"/>
          </a:ln>
        </p:spPr>
      </p:sp>
      <p:pic>
        <p:nvPicPr>
          <p:cNvPr id="5" name="Image 0" descr="True versus predicted co-occurrence of the 15 most frequent training pairs">    </p:cNvPr>
          <p:cNvPicPr>
            <a:picLocks noChangeAspect="1"/>
          </p:cNvPicPr>
          <p:nvPr/>
        </p:nvPicPr>
        <p:blipFill>
          <a:blip r:embed="rId1"/>
          <a:stretch>
            <a:fillRect/>
          </a:stretch>
        </p:blipFill>
        <p:spPr>
          <a:xfrm>
            <a:off x="621792" y="1679753"/>
            <a:ext cx="6803136" cy="2721254"/>
          </a:xfrm>
          <a:prstGeom prst="rect">
            <a:avLst/>
          </a:prstGeom>
        </p:spPr>
      </p:pic>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7772400" y="1554480"/>
          <a:ext cx="3870655" cy="914400"/>
        </p:xfrm>
        <a:graphic>
          <a:graphicData uri="http://schemas.openxmlformats.org/drawingml/2006/table">
            <a:tbl>
              <a:tblPr/>
              <a:tblGrid>
                <a:gridCol w="1720291"/>
                <a:gridCol w="1118189"/>
                <a:gridCol w="1032175"/>
              </a:tblGrid>
              <a:tr h="0">
                <a:tc>
                  <a:txBody>
                    <a:bodyPr/>
                    <a:lstStyle/>
                    <a:p>
                      <a:pPr algn="l" indent="0" marL="0">
                        <a:buNone/>
                      </a:pPr>
                      <a:r>
                        <a:rPr lang="en-US" sz="1300" b="1" dirty="0">
                          <a:solidFill>
                            <a:srgbClr val="14213D"/>
                          </a:solidFill>
                          <a:latin typeface="Calibri" pitchFamily="34" charset="0"/>
                          <a:ea typeface="Calibri" pitchFamily="34" charset="-122"/>
                          <a:cs typeface="Calibri" pitchFamily="34" charset="-120"/>
                        </a:rPr>
                        <a:t>Model</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DCE8FB"/>
                    </a:solidFill>
                  </a:tcPr>
                </a:tc>
                <a:tc>
                  <a:txBody>
                    <a:bodyPr/>
                    <a:lstStyle/>
                    <a:p>
                      <a:pPr algn="r" indent="0" marL="0">
                        <a:buNone/>
                      </a:pPr>
                      <a:r>
                        <a:rPr lang="en-US" sz="1300" b="1" dirty="0">
                          <a:solidFill>
                            <a:srgbClr val="14213D"/>
                          </a:solidFill>
                          <a:latin typeface="Calibri" pitchFamily="34" charset="0"/>
                          <a:ea typeface="Calibri" pitchFamily="34" charset="-122"/>
                          <a:cs typeface="Calibri" pitchFamily="34" charset="-120"/>
                        </a:rPr>
                        <a:t>r (co-occ.)</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DCE8FB"/>
                    </a:solidFill>
                  </a:tcPr>
                </a:tc>
                <a:tc>
                  <a:txBody>
                    <a:bodyPr/>
                    <a:lstStyle/>
                    <a:p>
                      <a:pPr algn="r" indent="0" marL="0">
                        <a:buNone/>
                      </a:pPr>
                      <a:r>
                        <a:rPr lang="en-US" sz="1300" b="1" dirty="0">
                          <a:solidFill>
                            <a:srgbClr val="14213D"/>
                          </a:solidFill>
                          <a:latin typeface="Calibri" pitchFamily="34" charset="0"/>
                          <a:ea typeface="Calibri" pitchFamily="34" charset="-122"/>
                          <a:cs typeface="Calibri" pitchFamily="34" charset="-120"/>
                        </a:rPr>
                        <a:t>Pred. |Y|</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DCE8FB"/>
                    </a:solidFill>
                  </a:tcPr>
                </a:tc>
              </a:tr>
              <a:tr h="0">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Ground truth</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1.91</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r>
              <a:tr h="0">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TF-IDF + LR</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5F7FA"/>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0.921</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5F7FA"/>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2.30</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5F7FA"/>
                    </a:solidFill>
                  </a:tcPr>
                </a:tc>
              </a:tr>
              <a:tr h="0">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BiLSTM</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0.940</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1.58</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r>
              <a:tr h="0">
                <a:tc>
                  <a:txBody>
                    <a:bodyPr/>
                    <a:lstStyle/>
                    <a:p>
                      <a:pPr algn="l" indent="0" marL="0">
                        <a:buNone/>
                      </a:pPr>
                      <a:r>
                        <a:rPr lang="en-US" sz="1300" b="1" dirty="0">
                          <a:solidFill>
                            <a:srgbClr val="14213D"/>
                          </a:solidFill>
                          <a:latin typeface="Calibri" pitchFamily="34" charset="0"/>
                          <a:ea typeface="Calibri" pitchFamily="34" charset="-122"/>
                          <a:cs typeface="Calibri" pitchFamily="34" charset="-120"/>
                        </a:rPr>
                        <a:t>PhoBERT</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E7F0FC"/>
                    </a:solidFill>
                  </a:tcPr>
                </a:tc>
                <a:tc>
                  <a:txBody>
                    <a:bodyPr/>
                    <a:lstStyle/>
                    <a:p>
                      <a:pPr algn="r" indent="0" marL="0">
                        <a:buNone/>
                      </a:pPr>
                      <a:r>
                        <a:rPr lang="en-US" sz="1300" b="1" dirty="0">
                          <a:solidFill>
                            <a:srgbClr val="14213D"/>
                          </a:solidFill>
                          <a:latin typeface="Calibri" pitchFamily="34" charset="0"/>
                          <a:ea typeface="Calibri" pitchFamily="34" charset="-122"/>
                          <a:cs typeface="Calibri" pitchFamily="34" charset="-120"/>
                        </a:rPr>
                        <a:t>0.972</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E7F0FC"/>
                    </a:solidFill>
                  </a:tcPr>
                </a:tc>
                <a:tc>
                  <a:txBody>
                    <a:bodyPr/>
                    <a:lstStyle/>
                    <a:p>
                      <a:pPr algn="r" indent="0" marL="0">
                        <a:buNone/>
                      </a:pPr>
                      <a:r>
                        <a:rPr lang="en-US" sz="1300" b="1" dirty="0">
                          <a:solidFill>
                            <a:srgbClr val="14213D"/>
                          </a:solidFill>
                          <a:latin typeface="Calibri" pitchFamily="34" charset="0"/>
                          <a:ea typeface="Calibri" pitchFamily="34" charset="-122"/>
                          <a:cs typeface="Calibri" pitchFamily="34" charset="-120"/>
                        </a:rPr>
                        <a:t>1.83</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E7F0FC"/>
                    </a:solidFill>
                  </a:tcPr>
                </a:tc>
              </a:tr>
            </a:tbl>
          </a:graphicData>
        </a:graphic>
      </p:graphicFrame>
      <p:sp>
        <p:nvSpPr>
          <p:cNvPr id="7" name="Text 3"/>
          <p:cNvSpPr txBox="1"/>
          <p:nvPr/>
        </p:nvSpPr>
        <p:spPr>
          <a:xfrm>
            <a:off x="548640" y="4846320"/>
            <a:ext cx="3515258" cy="1371600"/>
          </a:xfrm>
          <a:prstGeom prst="rect">
            <a:avLst/>
          </a:prstGeom>
          <a:noFill/>
          <a:ln/>
        </p:spPr>
        <p:txBody>
          <a:bodyPr wrap="square" lIns="0" tIns="0" rIns="0" bIns="0" rtlCol="0" anchor="t"/>
          <a:lstStyle/>
          <a:p>
            <a:pPr indent="0" marL="0">
              <a:spcAft>
                <a:spcPts val="500"/>
              </a:spcAft>
              <a:buNone/>
            </a:pPr>
            <a:r>
              <a:rPr lang="en-US" sz="1500" b="1" dirty="0">
                <a:solidFill>
                  <a:srgbClr val="14213D"/>
                </a:solidFill>
                <a:latin typeface="Calibri" pitchFamily="34" charset="0"/>
                <a:ea typeface="Calibri" pitchFamily="34" charset="-122"/>
                <a:cs typeface="Calibri" pitchFamily="34" charset="-120"/>
              </a:rPr>
              <a:t>TF-IDF over-pairs</a:t>
            </a:r>
            <a:endParaRPr lang="en-US" sz="1500" dirty="0"/>
          </a:p>
          <a:p>
            <a:pPr indent="0" marL="0">
              <a:spcAft>
                <a:spcPts val="500"/>
              </a:spcAft>
              <a:buNone/>
            </a:pPr>
            <a:r>
              <a:rPr lang="en-US" sz="1300" dirty="0">
                <a:solidFill>
                  <a:srgbClr val="3D4A5C"/>
                </a:solidFill>
                <a:latin typeface="Calibri" pitchFamily="34" charset="0"/>
                <a:ea typeface="Calibri" pitchFamily="34" charset="-122"/>
                <a:cs typeface="Calibri" pitchFamily="34" charset="-120"/>
              </a:rPr>
              <a:t>4,698 predicted pairs vs 2,466 true; disgust + anger 2.4×, anger + annoyance 2.0×.</a:t>
            </a:r>
            <a:endParaRPr lang="en-US" sz="1500" dirty="0"/>
          </a:p>
        </p:txBody>
      </p:sp>
      <p:sp>
        <p:nvSpPr>
          <p:cNvPr id="8" name="Text 4"/>
          <p:cNvSpPr txBox="1"/>
          <p:nvPr/>
        </p:nvSpPr>
        <p:spPr>
          <a:xfrm>
            <a:off x="4338218" y="4846320"/>
            <a:ext cx="3515258" cy="1371600"/>
          </a:xfrm>
          <a:prstGeom prst="rect">
            <a:avLst/>
          </a:prstGeom>
          <a:noFill/>
          <a:ln/>
        </p:spPr>
        <p:txBody>
          <a:bodyPr wrap="square" lIns="0" tIns="0" rIns="0" bIns="0" rtlCol="0" anchor="t"/>
          <a:lstStyle/>
          <a:p>
            <a:pPr indent="0" marL="0">
              <a:spcAft>
                <a:spcPts val="500"/>
              </a:spcAft>
              <a:buNone/>
            </a:pPr>
            <a:r>
              <a:rPr lang="en-US" sz="1500" b="1" dirty="0">
                <a:solidFill>
                  <a:srgbClr val="14213D"/>
                </a:solidFill>
                <a:latin typeface="Calibri" pitchFamily="34" charset="0"/>
                <a:ea typeface="Calibri" pitchFamily="34" charset="-122"/>
                <a:cs typeface="Calibri" pitchFamily="34" charset="-120"/>
              </a:rPr>
              <a:t>BiLSTM under-pairs</a:t>
            </a:r>
            <a:endParaRPr lang="en-US" sz="1500" dirty="0"/>
          </a:p>
          <a:p>
            <a:pPr indent="0" marL="0">
              <a:spcAft>
                <a:spcPts val="500"/>
              </a:spcAft>
              <a:buNone/>
            </a:pPr>
            <a:r>
              <a:rPr lang="en-US" sz="1300" dirty="0">
                <a:solidFill>
                  <a:srgbClr val="3D4A5C"/>
                </a:solidFill>
                <a:latin typeface="Calibri" pitchFamily="34" charset="0"/>
                <a:ea typeface="Calibri" pitchFamily="34" charset="-122"/>
                <a:cs typeface="Calibri" pitchFamily="34" charset="-120"/>
              </a:rPr>
              <a:t>1,658 pairs; excitement + joy 0.41×, annoyance + disapproval 0.46×.</a:t>
            </a:r>
            <a:endParaRPr lang="en-US" sz="1500" dirty="0"/>
          </a:p>
        </p:txBody>
      </p:sp>
      <p:sp>
        <p:nvSpPr>
          <p:cNvPr id="9" name="Text 5"/>
          <p:cNvSpPr txBox="1"/>
          <p:nvPr/>
        </p:nvSpPr>
        <p:spPr>
          <a:xfrm>
            <a:off x="8127797" y="4846320"/>
            <a:ext cx="3515258" cy="1371600"/>
          </a:xfrm>
          <a:prstGeom prst="rect">
            <a:avLst/>
          </a:prstGeom>
          <a:noFill/>
          <a:ln/>
        </p:spPr>
        <p:txBody>
          <a:bodyPr wrap="square" lIns="0" tIns="0" rIns="0" bIns="0" rtlCol="0" anchor="t"/>
          <a:lstStyle/>
          <a:p>
            <a:pPr indent="0" marL="0">
              <a:spcAft>
                <a:spcPts val="500"/>
              </a:spcAft>
              <a:buNone/>
            </a:pPr>
            <a:r>
              <a:rPr lang="en-US" sz="1500" b="1" dirty="0">
                <a:solidFill>
                  <a:srgbClr val="14213D"/>
                </a:solidFill>
                <a:latin typeface="Calibri" pitchFamily="34" charset="0"/>
                <a:ea typeface="Calibri" pitchFamily="34" charset="-122"/>
                <a:cs typeface="Calibri" pitchFamily="34" charset="-120"/>
              </a:rPr>
              <a:t>PhoBERT</a:t>
            </a:r>
            <a:endParaRPr lang="en-US" sz="1500" dirty="0"/>
          </a:p>
          <a:p>
            <a:pPr indent="0" marL="0">
              <a:spcAft>
                <a:spcPts val="500"/>
              </a:spcAft>
              <a:buNone/>
            </a:pPr>
            <a:r>
              <a:rPr lang="en-US" sz="1300" dirty="0">
                <a:solidFill>
                  <a:srgbClr val="3D4A5C"/>
                </a:solidFill>
                <a:latin typeface="Calibri" pitchFamily="34" charset="0"/>
                <a:ea typeface="Calibri" pitchFamily="34" charset="-122"/>
                <a:cs typeface="Calibri" pitchFamily="34" charset="-120"/>
              </a:rPr>
              <a:t>2,314 pairs, 0.75–1.6× per pair; over-predicts joy + love (1.6×).</a:t>
            </a:r>
            <a:endParaRPr lang="en-US" sz="1500" dirty="0"/>
          </a:p>
        </p:txBody>
      </p:sp>
      <p:sp>
        <p:nvSpPr>
          <p:cNvPr id="10" name="Text 6"/>
          <p:cNvSpPr txBox="1"/>
          <p:nvPr/>
        </p:nvSpPr>
        <p:spPr>
          <a:xfrm>
            <a:off x="548640" y="6400800"/>
            <a:ext cx="9875520" cy="274320"/>
          </a:xfrm>
          <a:prstGeom prst="rect">
            <a:avLst/>
          </a:prstGeom>
          <a:noFill/>
          <a:ln/>
        </p:spPr>
        <p:txBody>
          <a:bodyPr wrap="square" lIns="0" tIns="0" rIns="0" bIns="0" rtlCol="0" anchor="ctr"/>
          <a:lstStyle/>
          <a:p>
            <a:pPr indent="0" marL="0">
              <a:buNone/>
            </a:pPr>
            <a:r>
              <a:rPr lang="en-US" sz="1000" dirty="0">
                <a:solidFill>
                  <a:srgbClr val="6B7688"/>
                </a:solidFill>
                <a:latin typeface="Calibri" pitchFamily="34" charset="0"/>
                <a:ea typeface="Calibri" pitchFamily="34" charset="-122"/>
                <a:cs typeface="Calibri" pitchFamily="34" charset="-120"/>
              </a:rPr>
              <a:t>Top pairs from TRAIN labels; r = Pearson between true and predicted pair counts over all 378 pairs on test · q3_*.csv</a:t>
            </a:r>
            <a:endParaRPr lang="en-US" sz="1000" dirty="0"/>
          </a:p>
        </p:txBody>
      </p:sp>
      <p:sp>
        <p:nvSpPr>
          <p:cNvPr id="11" name="Text 7"/>
          <p:cNvSpPr txBox="1"/>
          <p:nvPr/>
        </p:nvSpPr>
        <p:spPr>
          <a:xfrm>
            <a:off x="11094415" y="6400800"/>
            <a:ext cx="548640" cy="274320"/>
          </a:xfrm>
          <a:prstGeom prst="rect">
            <a:avLst/>
          </a:prstGeom>
          <a:noFill/>
          <a:ln/>
        </p:spPr>
        <p:txBody>
          <a:bodyPr wrap="square" lIns="0" tIns="0" rIns="0" bIns="0" rtlCol="0" anchor="ctr"/>
          <a:lstStyle/>
          <a:p>
            <a:pPr algn="r" indent="0" marL="0">
              <a:buNone/>
            </a:pPr>
            <a:r>
              <a:rPr lang="en-US" sz="1000" dirty="0">
                <a:solidFill>
                  <a:srgbClr val="6B7688"/>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BFBF8"/>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292608"/>
          </a:xfrm>
          <a:prstGeom prst="rect">
            <a:avLst/>
          </a:prstGeom>
          <a:noFill/>
          <a:ln/>
        </p:spPr>
        <p:txBody>
          <a:bodyPr wrap="square" lIns="0" tIns="0" rIns="0" bIns="0" rtlCol="0" anchor="ctr"/>
          <a:lstStyle/>
          <a:p>
            <a:pPr indent="0" marL="0">
              <a:buNone/>
            </a:pPr>
            <a:r>
              <a:rPr lang="en-US" sz="1200" b="1" spc="200" kern="0" dirty="0">
                <a:solidFill>
                  <a:srgbClr val="C4650F"/>
                </a:solidFill>
                <a:latin typeface="Calibri" pitchFamily="34" charset="0"/>
                <a:ea typeface="Calibri" pitchFamily="34" charset="-122"/>
                <a:cs typeface="Calibri" pitchFamily="34" charset="-120"/>
              </a:rPr>
              <a:t>Q4 · WHERE DOES PHOBERT BEAT THE RECURRENT BASELINE?</a:t>
            </a:r>
            <a:endParaRPr lang="en-US" sz="1200" dirty="0"/>
          </a:p>
        </p:txBody>
      </p:sp>
      <p:sp>
        <p:nvSpPr>
          <p:cNvPr id="3" name="Text 1"/>
          <p:cNvSpPr txBox="1"/>
          <p:nvPr/>
        </p:nvSpPr>
        <p:spPr>
          <a:xfrm>
            <a:off x="548640" y="658368"/>
            <a:ext cx="11094415" cy="731520"/>
          </a:xfrm>
          <a:prstGeom prst="rect">
            <a:avLst/>
          </a:prstGeom>
          <a:noFill/>
          <a:ln/>
        </p:spPr>
        <p:txBody>
          <a:bodyPr wrap="square" lIns="0" tIns="0" rIns="0" bIns="0" rtlCol="0" anchor="t"/>
          <a:lstStyle/>
          <a:p>
            <a:pPr indent="0" marL="0">
              <a:buNone/>
            </a:pPr>
            <a:r>
              <a:rPr lang="en-US" sz="2800" b="1" dirty="0">
                <a:solidFill>
                  <a:srgbClr val="14213D"/>
                </a:solidFill>
                <a:latin typeface="Cambria" pitchFamily="34" charset="0"/>
                <a:ea typeface="Cambria" pitchFamily="34" charset="-122"/>
                <a:cs typeface="Cambria" pitchFamily="34" charset="-120"/>
              </a:rPr>
              <a:t>Biggest gains on emoticon, long and teencode text</a:t>
            </a:r>
            <a:endParaRPr lang="en-US" sz="28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4308511"/>
                <a:gridCol w="969415"/>
                <a:gridCol w="1184840"/>
                <a:gridCol w="1184840"/>
                <a:gridCol w="1184840"/>
                <a:gridCol w="2261968"/>
              </a:tblGrid>
              <a:tr h="329184">
                <a:tc>
                  <a:txBody>
                    <a:bodyPr/>
                    <a:lstStyle/>
                    <a:p>
                      <a:pPr algn="l" indent="0" marL="0">
                        <a:buNone/>
                      </a:pPr>
                      <a:r>
                        <a:rPr lang="en-US" sz="1300" b="1" dirty="0">
                          <a:solidFill>
                            <a:srgbClr val="14213D"/>
                          </a:solidFill>
                          <a:latin typeface="Calibri" pitchFamily="34" charset="0"/>
                          <a:ea typeface="Calibri" pitchFamily="34" charset="-122"/>
                          <a:cs typeface="Calibri" pitchFamily="34" charset="-120"/>
                        </a:rPr>
                        <a:t>Subset (rule frozen before evaluation)</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DCE8FB"/>
                    </a:solidFill>
                  </a:tcPr>
                </a:tc>
                <a:tc>
                  <a:txBody>
                    <a:bodyPr/>
                    <a:lstStyle/>
                    <a:p>
                      <a:pPr algn="r" indent="0" marL="0">
                        <a:buNone/>
                      </a:pPr>
                      <a:r>
                        <a:rPr lang="en-US" sz="1300" b="1" dirty="0">
                          <a:solidFill>
                            <a:srgbClr val="14213D"/>
                          </a:solidFill>
                          <a:latin typeface="Calibri" pitchFamily="34" charset="0"/>
                          <a:ea typeface="Calibri" pitchFamily="34" charset="-122"/>
                          <a:cs typeface="Calibri" pitchFamily="34" charset="-120"/>
                        </a:rPr>
                        <a:t>n</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DCE8FB"/>
                    </a:solidFill>
                  </a:tcPr>
                </a:tc>
                <a:tc>
                  <a:txBody>
                    <a:bodyPr/>
                    <a:lstStyle/>
                    <a:p>
                      <a:pPr algn="r" indent="0" marL="0">
                        <a:buNone/>
                      </a:pPr>
                      <a:r>
                        <a:rPr lang="en-US" sz="1300" b="1" dirty="0">
                          <a:solidFill>
                            <a:srgbClr val="14213D"/>
                          </a:solidFill>
                          <a:latin typeface="Calibri" pitchFamily="34" charset="0"/>
                          <a:ea typeface="Calibri" pitchFamily="34" charset="-122"/>
                          <a:cs typeface="Calibri" pitchFamily="34" charset="-120"/>
                        </a:rPr>
                        <a:t>BiLSTM</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DCE8FB"/>
                    </a:solidFill>
                  </a:tcPr>
                </a:tc>
                <a:tc>
                  <a:txBody>
                    <a:bodyPr/>
                    <a:lstStyle/>
                    <a:p>
                      <a:pPr algn="r" indent="0" marL="0">
                        <a:buNone/>
                      </a:pPr>
                      <a:r>
                        <a:rPr lang="en-US" sz="1300" b="1" dirty="0">
                          <a:solidFill>
                            <a:srgbClr val="14213D"/>
                          </a:solidFill>
                          <a:latin typeface="Calibri" pitchFamily="34" charset="0"/>
                          <a:ea typeface="Calibri" pitchFamily="34" charset="-122"/>
                          <a:cs typeface="Calibri" pitchFamily="34" charset="-120"/>
                        </a:rPr>
                        <a:t>PhoBERT</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DCE8FB"/>
                    </a:solidFill>
                  </a:tcPr>
                </a:tc>
                <a:tc>
                  <a:txBody>
                    <a:bodyPr/>
                    <a:lstStyle/>
                    <a:p>
                      <a:pPr algn="r" indent="0" marL="0">
                        <a:buNone/>
                      </a:pPr>
                      <a:r>
                        <a:rPr lang="en-US" sz="1300" b="1" dirty="0">
                          <a:solidFill>
                            <a:srgbClr val="14213D"/>
                          </a:solidFill>
                          <a:latin typeface="Calibri" pitchFamily="34" charset="0"/>
                          <a:ea typeface="Calibri" pitchFamily="34" charset="-122"/>
                          <a:cs typeface="Calibri" pitchFamily="34" charset="-120"/>
                        </a:rPr>
                        <a:t>Δ Macro</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DCE8FB"/>
                    </a:solidFill>
                  </a:tcPr>
                </a:tc>
                <a:tc>
                  <a:txBody>
                    <a:bodyPr/>
                    <a:lstStyle/>
                    <a:p>
                      <a:pPr algn="r" indent="0" marL="0">
                        <a:buNone/>
                      </a:pPr>
                      <a:r>
                        <a:rPr lang="en-US" sz="1300" b="1" dirty="0">
                          <a:solidFill>
                            <a:srgbClr val="14213D"/>
                          </a:solidFill>
                          <a:latin typeface="Calibri" pitchFamily="34" charset="0"/>
                          <a:ea typeface="Calibri" pitchFamily="34" charset="-122"/>
                          <a:cs typeface="Calibri" pitchFamily="34" charset="-120"/>
                        </a:rPr>
                        <a:t>Δ Micro, 95% CI</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DCE8FB"/>
                    </a:solidFill>
                  </a:tcPr>
                </a:tc>
              </a:tr>
              <a:tr h="329184">
                <a:tc>
                  <a:txBody>
                    <a:bodyPr/>
                    <a:lstStyle/>
                    <a:p>
                      <a:pPr algn="l" indent="0" marL="0">
                        <a:buNone/>
                      </a:pPr>
                      <a:r>
                        <a:rPr lang="en-US" sz="1300" b="1" dirty="0">
                          <a:solidFill>
                            <a:srgbClr val="14213D"/>
                          </a:solidFill>
                          <a:latin typeface="Calibri" pitchFamily="34" charset="0"/>
                          <a:ea typeface="Calibri" pitchFamily="34" charset="-122"/>
                          <a:cs typeface="Calibri" pitchFamily="34" charset="-120"/>
                        </a:rPr>
                        <a:t>emoticon (≥ 1 “:))”, “=))”, “:v”)</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4E8"/>
                    </a:solidFill>
                  </a:tcPr>
                </a:tc>
                <a:tc>
                  <a:txBody>
                    <a:bodyPr/>
                    <a:lstStyle/>
                    <a:p>
                      <a:pPr algn="r" indent="0" marL="0">
                        <a:buNone/>
                      </a:pPr>
                      <a:r>
                        <a:rPr lang="en-US" sz="1300" b="1" dirty="0">
                          <a:solidFill>
                            <a:srgbClr val="14213D"/>
                          </a:solidFill>
                          <a:latin typeface="Calibri" pitchFamily="34" charset="0"/>
                          <a:ea typeface="Calibri" pitchFamily="34" charset="-122"/>
                          <a:cs typeface="Calibri" pitchFamily="34" charset="-120"/>
                        </a:rPr>
                        <a:t>236</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4E8"/>
                    </a:solidFill>
                  </a:tcPr>
                </a:tc>
                <a:tc>
                  <a:txBody>
                    <a:bodyPr/>
                    <a:lstStyle/>
                    <a:p>
                      <a:pPr algn="r" indent="0" marL="0">
                        <a:buNone/>
                      </a:pPr>
                      <a:r>
                        <a:rPr lang="en-US" sz="1300" b="1" dirty="0">
                          <a:solidFill>
                            <a:srgbClr val="14213D"/>
                          </a:solidFill>
                          <a:latin typeface="Calibri" pitchFamily="34" charset="0"/>
                          <a:ea typeface="Calibri" pitchFamily="34" charset="-122"/>
                          <a:cs typeface="Calibri" pitchFamily="34" charset="-120"/>
                        </a:rPr>
                        <a:t>0.419</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4E8"/>
                    </a:solidFill>
                  </a:tcPr>
                </a:tc>
                <a:tc>
                  <a:txBody>
                    <a:bodyPr/>
                    <a:lstStyle/>
                    <a:p>
                      <a:pPr algn="r" indent="0" marL="0">
                        <a:buNone/>
                      </a:pPr>
                      <a:r>
                        <a:rPr lang="en-US" sz="1300" b="1" dirty="0">
                          <a:solidFill>
                            <a:srgbClr val="14213D"/>
                          </a:solidFill>
                          <a:latin typeface="Calibri" pitchFamily="34" charset="0"/>
                          <a:ea typeface="Calibri" pitchFamily="34" charset="-122"/>
                          <a:cs typeface="Calibri" pitchFamily="34" charset="-120"/>
                        </a:rPr>
                        <a:t>0.608</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4E8"/>
                    </a:solidFill>
                  </a:tcPr>
                </a:tc>
                <a:tc>
                  <a:txBody>
                    <a:bodyPr/>
                    <a:lstStyle/>
                    <a:p>
                      <a:pPr algn="r" indent="0" marL="0">
                        <a:buNone/>
                      </a:pPr>
                      <a:r>
                        <a:rPr lang="en-US" sz="1300" b="1" dirty="0">
                          <a:solidFill>
                            <a:srgbClr val="14213D"/>
                          </a:solidFill>
                          <a:latin typeface="Calibri" pitchFamily="34" charset="0"/>
                          <a:ea typeface="Calibri" pitchFamily="34" charset="-122"/>
                          <a:cs typeface="Calibri" pitchFamily="34" charset="-120"/>
                        </a:rPr>
                        <a:t>+0.189</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4E8"/>
                    </a:solidFill>
                  </a:tcPr>
                </a:tc>
                <a:tc>
                  <a:txBody>
                    <a:bodyPr/>
                    <a:lstStyle/>
                    <a:p>
                      <a:pPr algn="r" indent="0" marL="0">
                        <a:buNone/>
                      </a:pPr>
                      <a:r>
                        <a:rPr lang="en-US" sz="1300" b="1" dirty="0">
                          <a:solidFill>
                            <a:srgbClr val="14213D"/>
                          </a:solidFill>
                          <a:latin typeface="Calibri" pitchFamily="34" charset="0"/>
                          <a:ea typeface="Calibri" pitchFamily="34" charset="-122"/>
                          <a:cs typeface="Calibri" pitchFamily="34" charset="-120"/>
                        </a:rPr>
                        <a:t>[+0.099, +0.179]</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4E8"/>
                    </a:solidFill>
                  </a:tcPr>
                </a:tc>
              </a:tr>
              <a:tr h="329184">
                <a:tc>
                  <a:txBody>
                    <a:bodyPr/>
                    <a:lstStyle/>
                    <a:p>
                      <a:pPr algn="l" indent="0" marL="0">
                        <a:buNone/>
                      </a:pPr>
                      <a:r>
                        <a:rPr lang="en-US" sz="1300" b="1" dirty="0">
                          <a:solidFill>
                            <a:srgbClr val="14213D"/>
                          </a:solidFill>
                          <a:latin typeface="Calibri" pitchFamily="34" charset="0"/>
                          <a:ea typeface="Calibri" pitchFamily="34" charset="-122"/>
                          <a:cs typeface="Calibri" pitchFamily="34" charset="-120"/>
                        </a:rPr>
                        <a:t>long (≥ 30 tokens)</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4E8"/>
                    </a:solidFill>
                  </a:tcPr>
                </a:tc>
                <a:tc>
                  <a:txBody>
                    <a:bodyPr/>
                    <a:lstStyle/>
                    <a:p>
                      <a:pPr algn="r" indent="0" marL="0">
                        <a:buNone/>
                      </a:pPr>
                      <a:r>
                        <a:rPr lang="en-US" sz="1300" b="1" dirty="0">
                          <a:solidFill>
                            <a:srgbClr val="14213D"/>
                          </a:solidFill>
                          <a:latin typeface="Calibri" pitchFamily="34" charset="0"/>
                          <a:ea typeface="Calibri" pitchFamily="34" charset="-122"/>
                          <a:cs typeface="Calibri" pitchFamily="34" charset="-120"/>
                        </a:rPr>
                        <a:t>283</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4E8"/>
                    </a:solidFill>
                  </a:tcPr>
                </a:tc>
                <a:tc>
                  <a:txBody>
                    <a:bodyPr/>
                    <a:lstStyle/>
                    <a:p>
                      <a:pPr algn="r" indent="0" marL="0">
                        <a:buNone/>
                      </a:pPr>
                      <a:r>
                        <a:rPr lang="en-US" sz="1300" b="1" dirty="0">
                          <a:solidFill>
                            <a:srgbClr val="14213D"/>
                          </a:solidFill>
                          <a:latin typeface="Calibri" pitchFamily="34" charset="0"/>
                          <a:ea typeface="Calibri" pitchFamily="34" charset="-122"/>
                          <a:cs typeface="Calibri" pitchFamily="34" charset="-120"/>
                        </a:rPr>
                        <a:t>0.414</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4E8"/>
                    </a:solidFill>
                  </a:tcPr>
                </a:tc>
                <a:tc>
                  <a:txBody>
                    <a:bodyPr/>
                    <a:lstStyle/>
                    <a:p>
                      <a:pPr algn="r" indent="0" marL="0">
                        <a:buNone/>
                      </a:pPr>
                      <a:r>
                        <a:rPr lang="en-US" sz="1300" b="1" dirty="0">
                          <a:solidFill>
                            <a:srgbClr val="14213D"/>
                          </a:solidFill>
                          <a:latin typeface="Calibri" pitchFamily="34" charset="0"/>
                          <a:ea typeface="Calibri" pitchFamily="34" charset="-122"/>
                          <a:cs typeface="Calibri" pitchFamily="34" charset="-120"/>
                        </a:rPr>
                        <a:t>0.577</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4E8"/>
                    </a:solidFill>
                  </a:tcPr>
                </a:tc>
                <a:tc>
                  <a:txBody>
                    <a:bodyPr/>
                    <a:lstStyle/>
                    <a:p>
                      <a:pPr algn="r" indent="0" marL="0">
                        <a:buNone/>
                      </a:pPr>
                      <a:r>
                        <a:rPr lang="en-US" sz="1300" b="1" dirty="0">
                          <a:solidFill>
                            <a:srgbClr val="14213D"/>
                          </a:solidFill>
                          <a:latin typeface="Calibri" pitchFamily="34" charset="0"/>
                          <a:ea typeface="Calibri" pitchFamily="34" charset="-122"/>
                          <a:cs typeface="Calibri" pitchFamily="34" charset="-120"/>
                        </a:rPr>
                        <a:t>+0.163</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4E8"/>
                    </a:solidFill>
                  </a:tcPr>
                </a:tc>
                <a:tc>
                  <a:txBody>
                    <a:bodyPr/>
                    <a:lstStyle/>
                    <a:p>
                      <a:pPr algn="r" indent="0" marL="0">
                        <a:buNone/>
                      </a:pPr>
                      <a:r>
                        <a:rPr lang="en-US" sz="1300" b="1" dirty="0">
                          <a:solidFill>
                            <a:srgbClr val="14213D"/>
                          </a:solidFill>
                          <a:latin typeface="Calibri" pitchFamily="34" charset="0"/>
                          <a:ea typeface="Calibri" pitchFamily="34" charset="-122"/>
                          <a:cs typeface="Calibri" pitchFamily="34" charset="-120"/>
                        </a:rPr>
                        <a:t>[+0.099, +0.172]</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4E8"/>
                    </a:solidFill>
                  </a:tcPr>
                </a:tc>
              </a:tr>
              <a:tr h="329184">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plain (no style marker)</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793</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0.486</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0.628</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+0.142</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[+0.128, +0.174]</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r>
              <a:tr h="329184">
                <a:tc>
                  <a:txBody>
                    <a:bodyPr/>
                    <a:lstStyle/>
                    <a:p>
                      <a:pPr algn="l" indent="0" marL="0">
                        <a:buNone/>
                      </a:pPr>
                      <a:r>
                        <a:rPr lang="en-US" sz="1300" b="1" dirty="0">
                          <a:solidFill>
                            <a:srgbClr val="14213D"/>
                          </a:solidFill>
                          <a:latin typeface="Calibri" pitchFamily="34" charset="0"/>
                          <a:ea typeface="Calibri" pitchFamily="34" charset="-122"/>
                          <a:cs typeface="Calibri" pitchFamily="34" charset="-120"/>
                        </a:rPr>
                        <a:t>teencode (≥ 1 abbreviation)</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4E8"/>
                    </a:solidFill>
                  </a:tcPr>
                </a:tc>
                <a:tc>
                  <a:txBody>
                    <a:bodyPr/>
                    <a:lstStyle/>
                    <a:p>
                      <a:pPr algn="r" indent="0" marL="0">
                        <a:buNone/>
                      </a:pPr>
                      <a:r>
                        <a:rPr lang="en-US" sz="1300" b="1" dirty="0">
                          <a:solidFill>
                            <a:srgbClr val="14213D"/>
                          </a:solidFill>
                          <a:latin typeface="Calibri" pitchFamily="34" charset="0"/>
                          <a:ea typeface="Calibri" pitchFamily="34" charset="-122"/>
                          <a:cs typeface="Calibri" pitchFamily="34" charset="-120"/>
                        </a:rPr>
                        <a:t>509</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4E8"/>
                    </a:solidFill>
                  </a:tcPr>
                </a:tc>
                <a:tc>
                  <a:txBody>
                    <a:bodyPr/>
                    <a:lstStyle/>
                    <a:p>
                      <a:pPr algn="r" indent="0" marL="0">
                        <a:buNone/>
                      </a:pPr>
                      <a:r>
                        <a:rPr lang="en-US" sz="1300" b="1" dirty="0">
                          <a:solidFill>
                            <a:srgbClr val="14213D"/>
                          </a:solidFill>
                          <a:latin typeface="Calibri" pitchFamily="34" charset="0"/>
                          <a:ea typeface="Calibri" pitchFamily="34" charset="-122"/>
                          <a:cs typeface="Calibri" pitchFamily="34" charset="-120"/>
                        </a:rPr>
                        <a:t>0.468</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4E8"/>
                    </a:solidFill>
                  </a:tcPr>
                </a:tc>
                <a:tc>
                  <a:txBody>
                    <a:bodyPr/>
                    <a:lstStyle/>
                    <a:p>
                      <a:pPr algn="r" indent="0" marL="0">
                        <a:buNone/>
                      </a:pPr>
                      <a:r>
                        <a:rPr lang="en-US" sz="1300" b="1" dirty="0">
                          <a:solidFill>
                            <a:srgbClr val="14213D"/>
                          </a:solidFill>
                          <a:latin typeface="Calibri" pitchFamily="34" charset="0"/>
                          <a:ea typeface="Calibri" pitchFamily="34" charset="-122"/>
                          <a:cs typeface="Calibri" pitchFamily="34" charset="-120"/>
                        </a:rPr>
                        <a:t>0.596</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4E8"/>
                    </a:solidFill>
                  </a:tcPr>
                </a:tc>
                <a:tc>
                  <a:txBody>
                    <a:bodyPr/>
                    <a:lstStyle/>
                    <a:p>
                      <a:pPr algn="r" indent="0" marL="0">
                        <a:buNone/>
                      </a:pPr>
                      <a:r>
                        <a:rPr lang="en-US" sz="1300" b="1" dirty="0">
                          <a:solidFill>
                            <a:srgbClr val="14213D"/>
                          </a:solidFill>
                          <a:latin typeface="Calibri" pitchFamily="34" charset="0"/>
                          <a:ea typeface="Calibri" pitchFamily="34" charset="-122"/>
                          <a:cs typeface="Calibri" pitchFamily="34" charset="-120"/>
                        </a:rPr>
                        <a:t>+0.128</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4E8"/>
                    </a:solidFill>
                  </a:tcPr>
                </a:tc>
                <a:tc>
                  <a:txBody>
                    <a:bodyPr/>
                    <a:lstStyle/>
                    <a:p>
                      <a:pPr algn="r" indent="0" marL="0">
                        <a:buNone/>
                      </a:pPr>
                      <a:r>
                        <a:rPr lang="en-US" sz="1300" b="1" dirty="0">
                          <a:solidFill>
                            <a:srgbClr val="14213D"/>
                          </a:solidFill>
                          <a:latin typeface="Calibri" pitchFamily="34" charset="0"/>
                          <a:ea typeface="Calibri" pitchFamily="34" charset="-122"/>
                          <a:cs typeface="Calibri" pitchFamily="34" charset="-120"/>
                        </a:rPr>
                        <a:t>[+0.099, +0.155]</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4E8"/>
                    </a:solidFill>
                  </a:tcPr>
                </a:tc>
              </a:tr>
              <a:tr h="329184">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all test comments</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2,067</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0.512</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0.629</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+0.117</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[+0.098, +0.128]</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r>
              <a:tr h="329184">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short (≤ 5 tokens)</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5F7FA"/>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337</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5F7FA"/>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0.553</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5F7FA"/>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0.658</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5F7FA"/>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+0.104</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5F7FA"/>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[+0.042, +0.108]</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5F7FA"/>
                    </a:solidFill>
                  </a:tcPr>
                </a:tc>
              </a:tr>
              <a:tr h="329184">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emoji-heavy (≥ 2 emoji)</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180</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0.531</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0.619</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+0.088</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[+0.024, +0.105]</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r>
              <a:tr h="329184">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emoji (≥ 1)</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5F7FA"/>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536</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5F7FA"/>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0.531</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5F7FA"/>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0.590</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5F7FA"/>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+0.059</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5F7FA"/>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[+0.019, +0.077]</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5F7FA"/>
                    </a:solidFill>
                  </a:tcPr>
                </a:tc>
              </a:tr>
            </a:tbl>
          </a:graphicData>
        </a:graphic>
      </p:graphicFrame>
      <p:sp>
        <p:nvSpPr>
          <p:cNvPr id="5" name="Text 2"/>
          <p:cNvSpPr txBox="1"/>
          <p:nvPr/>
        </p:nvSpPr>
        <p:spPr>
          <a:xfrm>
            <a:off x="548640" y="4892040"/>
            <a:ext cx="11094415" cy="914400"/>
          </a:xfrm>
          <a:prstGeom prst="rect">
            <a:avLst/>
          </a:prstGeom>
          <a:noFill/>
          <a:ln/>
        </p:spPr>
        <p:txBody>
          <a:bodyPr wrap="square" lIns="0" tIns="0" rIns="0" bIns="0" rtlCol="0" anchor="t"/>
          <a:lstStyle/>
          <a:p>
            <a:pPr indent="0" marL="0">
              <a:spcAft>
                <a:spcPts val="400"/>
              </a:spcAft>
              <a:buNone/>
            </a:pPr>
            <a:r>
              <a:rPr lang="en-US" sz="1600" dirty="0">
                <a:solidFill>
                  <a:srgbClr val="3D4A5C"/>
                </a:solidFill>
                <a:latin typeface="Calibri" pitchFamily="34" charset="0"/>
                <a:ea typeface="Calibri" pitchFamily="34" charset="-122"/>
                <a:cs typeface="Calibri" pitchFamily="34" charset="-120"/>
              </a:rPr>
              <a:t>Emoji are a strong lexical cue that the BiLSTM learns directly as tokens, so pre-trained context adds least there. Emoticons, slang and long comments need context — PhoBERT gains most there.</a:t>
            </a:r>
            <a:endParaRPr lang="en-US" sz="1600" dirty="0"/>
          </a:p>
        </p:txBody>
      </p:sp>
      <p:sp>
        <p:nvSpPr>
          <p:cNvPr id="6" name="Text 3"/>
          <p:cNvSpPr txBox="1"/>
          <p:nvPr/>
        </p:nvSpPr>
        <p:spPr>
          <a:xfrm>
            <a:off x="548640" y="6400800"/>
            <a:ext cx="9875520" cy="274320"/>
          </a:xfrm>
          <a:prstGeom prst="rect">
            <a:avLst/>
          </a:prstGeom>
          <a:noFill/>
          <a:ln/>
        </p:spPr>
        <p:txBody>
          <a:bodyPr wrap="square" lIns="0" tIns="0" rIns="0" bIns="0" rtlCol="0" anchor="ctr"/>
          <a:lstStyle/>
          <a:p>
            <a:pPr indent="0" marL="0">
              <a:buNone/>
            </a:pPr>
            <a:r>
              <a:rPr lang="en-US" sz="1000" dirty="0">
                <a:solidFill>
                  <a:srgbClr val="6B7688"/>
                </a:solidFill>
                <a:latin typeface="Calibri" pitchFamily="34" charset="0"/>
                <a:ea typeface="Calibri" pitchFamily="34" charset="-122"/>
                <a:cs typeface="Calibri" pitchFamily="34" charset="-120"/>
              </a:rPr>
              <a:t>Test Macro-F1 at τ = 0.5 · CI = paired bootstrap (500 resamples) of the Micro-F1 difference · q4_text_style_breakdown.csv</a:t>
            </a:r>
            <a:endParaRPr lang="en-US" sz="1000" dirty="0"/>
          </a:p>
        </p:txBody>
      </p:sp>
      <p:sp>
        <p:nvSpPr>
          <p:cNvPr id="7" name="Text 4"/>
          <p:cNvSpPr txBox="1"/>
          <p:nvPr/>
        </p:nvSpPr>
        <p:spPr>
          <a:xfrm>
            <a:off x="11094415" y="6400800"/>
            <a:ext cx="548640" cy="274320"/>
          </a:xfrm>
          <a:prstGeom prst="rect">
            <a:avLst/>
          </a:prstGeom>
          <a:noFill/>
          <a:ln/>
        </p:spPr>
        <p:txBody>
          <a:bodyPr wrap="square" lIns="0" tIns="0" rIns="0" bIns="0" rtlCol="0" anchor="ctr"/>
          <a:lstStyle/>
          <a:p>
            <a:pPr algn="r" indent="0" marL="0">
              <a:buNone/>
            </a:pPr>
            <a:r>
              <a:rPr lang="en-US" sz="1000" dirty="0">
                <a:solidFill>
                  <a:srgbClr val="6B7688"/>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BFBF8"/>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292608"/>
          </a:xfrm>
          <a:prstGeom prst="rect">
            <a:avLst/>
          </a:prstGeom>
          <a:noFill/>
          <a:ln/>
        </p:spPr>
        <p:txBody>
          <a:bodyPr wrap="square" lIns="0" tIns="0" rIns="0" bIns="0" rtlCol="0" anchor="ctr"/>
          <a:lstStyle/>
          <a:p>
            <a:pPr indent="0" marL="0">
              <a:buNone/>
            </a:pPr>
            <a:r>
              <a:rPr lang="en-US" sz="1200" b="1" spc="200" kern="0" dirty="0">
                <a:solidFill>
                  <a:srgbClr val="C4650F"/>
                </a:solidFill>
                <a:latin typeface="Calibri" pitchFamily="34" charset="0"/>
                <a:ea typeface="Calibri" pitchFamily="34" charset="-122"/>
                <a:cs typeface="Calibri" pitchFamily="34" charset="-120"/>
              </a:rPr>
              <a:t>Q5 · SENSITIVITY TO THE DEFAULT THRESHOLD Τ = 0.5</a:t>
            </a:r>
            <a:endParaRPr lang="en-US" sz="1200" dirty="0"/>
          </a:p>
        </p:txBody>
      </p:sp>
      <p:sp>
        <p:nvSpPr>
          <p:cNvPr id="3" name="Text 1"/>
          <p:cNvSpPr txBox="1"/>
          <p:nvPr/>
        </p:nvSpPr>
        <p:spPr>
          <a:xfrm>
            <a:off x="548640" y="658368"/>
            <a:ext cx="11094415" cy="731520"/>
          </a:xfrm>
          <a:prstGeom prst="rect">
            <a:avLst/>
          </a:prstGeom>
          <a:noFill/>
          <a:ln/>
        </p:spPr>
        <p:txBody>
          <a:bodyPr wrap="square" lIns="0" tIns="0" rIns="0" bIns="0" rtlCol="0" anchor="t"/>
          <a:lstStyle/>
          <a:p>
            <a:pPr indent="0" marL="0">
              <a:buNone/>
            </a:pPr>
            <a:r>
              <a:rPr lang="en-US" sz="2800" b="1" dirty="0">
                <a:solidFill>
                  <a:srgbClr val="14213D"/>
                </a:solidFill>
                <a:latin typeface="Cambria" pitchFamily="34" charset="0"/>
                <a:ea typeface="Cambria" pitchFamily="34" charset="-122"/>
                <a:cs typeface="Cambria" pitchFamily="34" charset="-120"/>
              </a:rPr>
              <a:t>0.5 is close to optimal on average, but not for each label</a:t>
            </a:r>
            <a:endParaRPr lang="en-US" sz="2800" dirty="0"/>
          </a:p>
        </p:txBody>
      </p:sp>
      <p:sp>
        <p:nvSpPr>
          <p:cNvPr id="4" name="Shape 2"/>
          <p:cNvSpPr/>
          <p:nvPr/>
        </p:nvSpPr>
        <p:spPr>
          <a:xfrm>
            <a:off x="548640" y="1417320"/>
            <a:ext cx="6766560" cy="2423160"/>
          </a:xfrm>
          <a:prstGeom prst="roundRect">
            <a:avLst>
              <a:gd name="adj" fmla="val 4528"/>
            </a:avLst>
          </a:prstGeom>
          <a:solidFill>
            <a:srgbClr val="FFFFFF"/>
          </a:solidFill>
          <a:ln w="9525">
            <a:solidFill>
              <a:srgbClr val="D5DCE5"/>
            </a:solidFill>
            <a:prstDash val="solid"/>
          </a:ln>
        </p:spPr>
      </p:sp>
      <p:pic>
        <p:nvPicPr>
          <p:cNvPr id="5" name="Image 0" descr="Validation Macro-F1 and Micro-F1 against a global threshold">    </p:cNvPr>
          <p:cNvPicPr>
            <a:picLocks noChangeAspect="1"/>
          </p:cNvPicPr>
          <p:nvPr/>
        </p:nvPicPr>
        <p:blipFill>
          <a:blip r:embed="rId1"/>
          <a:stretch>
            <a:fillRect/>
          </a:stretch>
        </p:blipFill>
        <p:spPr>
          <a:xfrm>
            <a:off x="801243" y="1490472"/>
            <a:ext cx="6261354" cy="2276856"/>
          </a:xfrm>
          <a:prstGeom prst="rect">
            <a:avLst/>
          </a:prstGeom>
        </p:spPr>
      </p:pic>
      <p:sp>
        <p:nvSpPr>
          <p:cNvPr id="6" name="Shape 3"/>
          <p:cNvSpPr/>
          <p:nvPr/>
        </p:nvSpPr>
        <p:spPr>
          <a:xfrm>
            <a:off x="548640" y="3931920"/>
            <a:ext cx="6766560" cy="2377440"/>
          </a:xfrm>
          <a:prstGeom prst="roundRect">
            <a:avLst>
              <a:gd name="adj" fmla="val 4615"/>
            </a:avLst>
          </a:prstGeom>
          <a:solidFill>
            <a:srgbClr val="FFFFFF"/>
          </a:solidFill>
          <a:ln w="9525">
            <a:solidFill>
              <a:srgbClr val="D5DCE5"/>
            </a:solidFill>
            <a:prstDash val="solid"/>
          </a:ln>
        </p:spPr>
      </p:sp>
      <p:pic>
        <p:nvPicPr>
          <p:cNvPr id="7" name="Image 1" descr="Validation-optimal threshold per label for three models">    </p:cNvPr>
          <p:cNvPicPr>
            <a:picLocks noChangeAspect="1"/>
          </p:cNvPicPr>
          <p:nvPr/>
        </p:nvPicPr>
        <p:blipFill>
          <a:blip r:embed="rId2"/>
          <a:stretch>
            <a:fillRect/>
          </a:stretch>
        </p:blipFill>
        <p:spPr>
          <a:xfrm>
            <a:off x="702644" y="4005072"/>
            <a:ext cx="6458552" cy="2231136"/>
          </a:xfrm>
          <a:prstGeom prst="rect">
            <a:avLst/>
          </a:prstGeom>
        </p:spPr>
      </p:pic>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7589520" y="1508760"/>
          <a:ext cx="4053535" cy="914400"/>
        </p:xfrm>
        <a:graphic>
          <a:graphicData uri="http://schemas.openxmlformats.org/drawingml/2006/table">
            <a:tbl>
              <a:tblPr/>
              <a:tblGrid>
                <a:gridCol w="1351178"/>
                <a:gridCol w="844487"/>
                <a:gridCol w="928935"/>
                <a:gridCol w="928935"/>
              </a:tblGrid>
              <a:tr h="0">
                <a:tc>
                  <a:txBody>
                    <a:bodyPr/>
                    <a:lstStyle/>
                    <a:p>
                      <a:pPr algn="l" indent="0" marL="0">
                        <a:buNone/>
                      </a:pPr>
                      <a:r>
                        <a:rPr lang="en-US" sz="1300" b="1" dirty="0">
                          <a:solidFill>
                            <a:srgbClr val="14213D"/>
                          </a:solidFill>
                          <a:latin typeface="Calibri" pitchFamily="34" charset="0"/>
                          <a:ea typeface="Calibri" pitchFamily="34" charset="-122"/>
                          <a:cs typeface="Calibri" pitchFamily="34" charset="-120"/>
                        </a:rPr>
                        <a:t>Test Macro-F1</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DCE8FB"/>
                    </a:solidFill>
                  </a:tcPr>
                </a:tc>
                <a:tc>
                  <a:txBody>
                    <a:bodyPr/>
                    <a:lstStyle/>
                    <a:p>
                      <a:pPr algn="r" indent="0" marL="0">
                        <a:buNone/>
                      </a:pPr>
                      <a:r>
                        <a:rPr lang="en-US" sz="1300" b="1" dirty="0">
                          <a:solidFill>
                            <a:srgbClr val="14213D"/>
                          </a:solidFill>
                          <a:latin typeface="Calibri" pitchFamily="34" charset="0"/>
                          <a:ea typeface="Calibri" pitchFamily="34" charset="-122"/>
                          <a:cs typeface="Calibri" pitchFamily="34" charset="-120"/>
                        </a:rPr>
                        <a:t>τ = 0.5</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DCE8FB"/>
                    </a:solidFill>
                  </a:tcPr>
                </a:tc>
                <a:tc>
                  <a:txBody>
                    <a:bodyPr/>
                    <a:lstStyle/>
                    <a:p>
                      <a:pPr algn="r" indent="0" marL="0">
                        <a:buNone/>
                      </a:pPr>
                      <a:r>
                        <a:rPr lang="en-US" sz="1300" b="1" dirty="0">
                          <a:solidFill>
                            <a:srgbClr val="14213D"/>
                          </a:solidFill>
                          <a:latin typeface="Calibri" pitchFamily="34" charset="0"/>
                          <a:ea typeface="Calibri" pitchFamily="34" charset="-122"/>
                          <a:cs typeface="Calibri" pitchFamily="34" charset="-120"/>
                        </a:rPr>
                        <a:t>global τ*</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DCE8FB"/>
                    </a:solidFill>
                  </a:tcPr>
                </a:tc>
                <a:tc>
                  <a:txBody>
                    <a:bodyPr/>
                    <a:lstStyle/>
                    <a:p>
                      <a:pPr algn="r" indent="0" marL="0">
                        <a:buNone/>
                      </a:pPr>
                      <a:r>
                        <a:rPr lang="en-US" sz="1300" b="1" dirty="0">
                          <a:solidFill>
                            <a:srgbClr val="14213D"/>
                          </a:solidFill>
                          <a:latin typeface="Calibri" pitchFamily="34" charset="0"/>
                          <a:ea typeface="Calibri" pitchFamily="34" charset="-122"/>
                          <a:cs typeface="Calibri" pitchFamily="34" charset="-120"/>
                        </a:rPr>
                        <a:t>per-label</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DCE8FB"/>
                    </a:solidFill>
                  </a:tcPr>
                </a:tc>
              </a:tr>
              <a:tr h="0">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TF-IDF</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0.542</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0.538</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0.539</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r>
              <a:tr h="0">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BiLSTM</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5F7FA"/>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0.512</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5F7FA"/>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0.524</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5F7FA"/>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0.518</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5F7FA"/>
                    </a:solidFill>
                  </a:tcPr>
                </a:tc>
              </a:tr>
              <a:tr h="0">
                <a:tc>
                  <a:txBody>
                    <a:bodyPr/>
                    <a:lstStyle/>
                    <a:p>
                      <a:pPr algn="l" indent="0" marL="0">
                        <a:buNone/>
                      </a:pPr>
                      <a:r>
                        <a:rPr lang="en-US" sz="1300" b="1" dirty="0">
                          <a:solidFill>
                            <a:srgbClr val="14213D"/>
                          </a:solidFill>
                          <a:latin typeface="Calibri" pitchFamily="34" charset="0"/>
                          <a:ea typeface="Calibri" pitchFamily="34" charset="-122"/>
                          <a:cs typeface="Calibri" pitchFamily="34" charset="-120"/>
                        </a:rPr>
                        <a:t>PhoBERT</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E7F0FC"/>
                    </a:solidFill>
                  </a:tcPr>
                </a:tc>
                <a:tc>
                  <a:txBody>
                    <a:bodyPr/>
                    <a:lstStyle/>
                    <a:p>
                      <a:pPr algn="r" indent="0" marL="0">
                        <a:buNone/>
                      </a:pPr>
                      <a:r>
                        <a:rPr lang="en-US" sz="1300" b="1" dirty="0">
                          <a:solidFill>
                            <a:srgbClr val="14213D"/>
                          </a:solidFill>
                          <a:latin typeface="Calibri" pitchFamily="34" charset="0"/>
                          <a:ea typeface="Calibri" pitchFamily="34" charset="-122"/>
                          <a:cs typeface="Calibri" pitchFamily="34" charset="-120"/>
                        </a:rPr>
                        <a:t>0.629</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E7F0FC"/>
                    </a:solidFill>
                  </a:tcPr>
                </a:tc>
                <a:tc>
                  <a:txBody>
                    <a:bodyPr/>
                    <a:lstStyle/>
                    <a:p>
                      <a:pPr algn="r" indent="0" marL="0">
                        <a:buNone/>
                      </a:pPr>
                      <a:r>
                        <a:rPr lang="en-US" sz="1300" b="1" dirty="0">
                          <a:solidFill>
                            <a:srgbClr val="14213D"/>
                          </a:solidFill>
                          <a:latin typeface="Calibri" pitchFamily="34" charset="0"/>
                          <a:ea typeface="Calibri" pitchFamily="34" charset="-122"/>
                          <a:cs typeface="Calibri" pitchFamily="34" charset="-120"/>
                        </a:rPr>
                        <a:t>0.633</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E7F0FC"/>
                    </a:solidFill>
                  </a:tcPr>
                </a:tc>
                <a:tc>
                  <a:txBody>
                    <a:bodyPr/>
                    <a:lstStyle/>
                    <a:p>
                      <a:pPr algn="r" indent="0" marL="0">
                        <a:buNone/>
                      </a:pPr>
                      <a:r>
                        <a:rPr lang="en-US" sz="1300" b="1" dirty="0">
                          <a:solidFill>
                            <a:srgbClr val="14213D"/>
                          </a:solidFill>
                          <a:latin typeface="Calibri" pitchFamily="34" charset="0"/>
                          <a:ea typeface="Calibri" pitchFamily="34" charset="-122"/>
                          <a:cs typeface="Calibri" pitchFamily="34" charset="-120"/>
                        </a:rPr>
                        <a:t>0.634</a:t>
                      </a:r>
                      <a:endParaRPr lang="en-US" sz="1300" dirty="0">
                        <a:latin typeface="Calibri" charset="0"/>
                        <a:ea typeface="Calibri" charset="0"/>
                        <a:cs typeface="Calibri" charset="0"/>
                      </a:endParaRPr>
                    </a:p>
                  </a:txBody>
                  <a:tcPr marL="64008" marR="64008" marT="27432" marB="27432"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E7F0FC"/>
                    </a:solidFill>
                  </a:tcPr>
                </a:tc>
              </a:tr>
            </a:tbl>
          </a:graphicData>
        </a:graphic>
      </p:graphicFrame>
      <p:sp>
        <p:nvSpPr>
          <p:cNvPr id="9" name="Text 4"/>
          <p:cNvSpPr txBox="1"/>
          <p:nvPr/>
        </p:nvSpPr>
        <p:spPr>
          <a:xfrm>
            <a:off x="7589520" y="3154680"/>
            <a:ext cx="4053535" cy="1097280"/>
          </a:xfrm>
          <a:prstGeom prst="rect">
            <a:avLst/>
          </a:prstGeom>
          <a:noFill/>
          <a:ln/>
        </p:spPr>
        <p:txBody>
          <a:bodyPr wrap="square" lIns="0" tIns="0" rIns="0" bIns="0" rtlCol="0" anchor="t"/>
          <a:lstStyle/>
          <a:p>
            <a:pPr indent="0" marL="0">
              <a:spcAft>
                <a:spcPts val="400"/>
              </a:spcAft>
              <a:buNone/>
            </a:pPr>
            <a:r>
              <a:rPr lang="en-US" sz="1500" dirty="0">
                <a:solidFill>
                  <a:srgbClr val="3D4A5C"/>
                </a:solidFill>
                <a:latin typeface="Calibri" pitchFamily="34" charset="0"/>
                <a:ea typeface="Calibri" pitchFamily="34" charset="-122"/>
                <a:cs typeface="Calibri" pitchFamily="34" charset="-120"/>
              </a:rPr>
              <a:t>PhoBERT: val-optimal τ*_c spans </a:t>
            </a:r>
            <a:pPr indent="0" marL="0">
              <a:spcAft>
                <a:spcPts val="400"/>
              </a:spcAft>
              <a:buNone/>
            </a:pPr>
            <a:r>
              <a:rPr lang="en-US" sz="1500" b="1" dirty="0">
                <a:solidFill>
                  <a:srgbClr val="3D4A5C"/>
                </a:solidFill>
                <a:latin typeface="Calibri" pitchFamily="34" charset="0"/>
                <a:ea typeface="Calibri" pitchFamily="34" charset="-122"/>
                <a:cs typeface="Calibri" pitchFamily="34" charset="-120"/>
              </a:rPr>
              <a:t>0.17</a:t>
            </a:r>
            <a:pPr indent="0" marL="0">
              <a:spcAft>
                <a:spcPts val="400"/>
              </a:spcAft>
              <a:buNone/>
            </a:pPr>
            <a:r>
              <a:rPr lang="en-US" sz="1500" dirty="0">
                <a:solidFill>
                  <a:srgbClr val="3D4A5C"/>
                </a:solidFill>
                <a:latin typeface="Calibri" pitchFamily="34" charset="0"/>
                <a:ea typeface="Calibri" pitchFamily="34" charset="-122"/>
                <a:cs typeface="Calibri" pitchFamily="34" charset="-120"/>
              </a:rPr>
              <a:t> (admiration) to </a:t>
            </a:r>
            <a:pPr indent="0" marL="0">
              <a:spcAft>
                <a:spcPts val="400"/>
              </a:spcAft>
              <a:buNone/>
            </a:pPr>
            <a:r>
              <a:rPr lang="en-US" sz="1500" b="1" dirty="0">
                <a:solidFill>
                  <a:srgbClr val="3D4A5C"/>
                </a:solidFill>
                <a:latin typeface="Calibri" pitchFamily="34" charset="0"/>
                <a:ea typeface="Calibri" pitchFamily="34" charset="-122"/>
                <a:cs typeface="Calibri" pitchFamily="34" charset="-120"/>
              </a:rPr>
              <a:t>0.69</a:t>
            </a:r>
            <a:pPr indent="0" marL="0">
              <a:spcAft>
                <a:spcPts val="400"/>
              </a:spcAft>
              <a:buNone/>
            </a:pPr>
            <a:r>
              <a:rPr lang="en-US" sz="1500" dirty="0">
                <a:solidFill>
                  <a:srgbClr val="3D4A5C"/>
                </a:solidFill>
                <a:latin typeface="Calibri" pitchFamily="34" charset="0"/>
                <a:ea typeface="Calibri" pitchFamily="34" charset="-122"/>
                <a:cs typeface="Calibri" pitchFamily="34" charset="-120"/>
              </a:rPr>
              <a:t> (caring), median 0.38.</a:t>
            </a:r>
            <a:endParaRPr lang="en-US" sz="1500" dirty="0"/>
          </a:p>
        </p:txBody>
      </p:sp>
      <p:sp>
        <p:nvSpPr>
          <p:cNvPr id="10" name="Text 5"/>
          <p:cNvSpPr txBox="1"/>
          <p:nvPr/>
        </p:nvSpPr>
        <p:spPr>
          <a:xfrm>
            <a:off x="7589520" y="4343400"/>
            <a:ext cx="4053535" cy="1097280"/>
          </a:xfrm>
          <a:prstGeom prst="rect">
            <a:avLst/>
          </a:prstGeom>
          <a:noFill/>
          <a:ln/>
        </p:spPr>
        <p:txBody>
          <a:bodyPr wrap="square" lIns="0" tIns="0" rIns="0" bIns="0" rtlCol="0" anchor="t"/>
          <a:lstStyle/>
          <a:p>
            <a:pPr indent="0" marL="0">
              <a:spcAft>
                <a:spcPts val="400"/>
              </a:spcAft>
              <a:buNone/>
            </a:pPr>
            <a:r>
              <a:rPr lang="en-US" sz="1500" dirty="0">
                <a:solidFill>
                  <a:srgbClr val="3D4A5C"/>
                </a:solidFill>
                <a:latin typeface="Calibri" pitchFamily="34" charset="0"/>
                <a:ea typeface="Calibri" pitchFamily="34" charset="-122"/>
                <a:cs typeface="Calibri" pitchFamily="34" charset="-120"/>
              </a:rPr>
              <a:t>Per-label tuning gains +0.023 on val but only +0.004 on test: a sign of threshold overfitting.</a:t>
            </a:r>
            <a:endParaRPr lang="en-US" sz="1500" dirty="0"/>
          </a:p>
        </p:txBody>
      </p:sp>
      <p:sp>
        <p:nvSpPr>
          <p:cNvPr id="11" name="Text 6"/>
          <p:cNvSpPr txBox="1"/>
          <p:nvPr/>
        </p:nvSpPr>
        <p:spPr>
          <a:xfrm>
            <a:off x="548640" y="6400800"/>
            <a:ext cx="9875520" cy="274320"/>
          </a:xfrm>
          <a:prstGeom prst="rect">
            <a:avLst/>
          </a:prstGeom>
          <a:noFill/>
          <a:ln/>
        </p:spPr>
        <p:txBody>
          <a:bodyPr wrap="square" lIns="0" tIns="0" rIns="0" bIns="0" rtlCol="0" anchor="ctr"/>
          <a:lstStyle/>
          <a:p>
            <a:pPr indent="0" marL="0">
              <a:buNone/>
            </a:pPr>
            <a:r>
              <a:rPr lang="en-US" sz="1000" dirty="0">
                <a:solidFill>
                  <a:srgbClr val="6B7688"/>
                </a:solidFill>
                <a:latin typeface="Calibri" pitchFamily="34" charset="0"/>
                <a:ea typeface="Calibri" pitchFamily="34" charset="-122"/>
                <a:cs typeface="Calibri" pitchFamily="34" charset="-120"/>
              </a:rPr>
              <a:t>Thresholds fitted on validation only, then frozen · threshold_strategies.csv · q5_*.csv</a:t>
            </a:r>
            <a:endParaRPr lang="en-US" sz="1000" dirty="0"/>
          </a:p>
        </p:txBody>
      </p:sp>
      <p:sp>
        <p:nvSpPr>
          <p:cNvPr id="12" name="Text 7"/>
          <p:cNvSpPr txBox="1"/>
          <p:nvPr/>
        </p:nvSpPr>
        <p:spPr>
          <a:xfrm>
            <a:off x="11094415" y="6400800"/>
            <a:ext cx="548640" cy="274320"/>
          </a:xfrm>
          <a:prstGeom prst="rect">
            <a:avLst/>
          </a:prstGeom>
          <a:noFill/>
          <a:ln/>
        </p:spPr>
        <p:txBody>
          <a:bodyPr wrap="square" lIns="0" tIns="0" rIns="0" bIns="0" rtlCol="0" anchor="ctr"/>
          <a:lstStyle/>
          <a:p>
            <a:pPr algn="r" indent="0" marL="0">
              <a:buNone/>
            </a:pPr>
            <a:r>
              <a:rPr lang="en-US" sz="1000" dirty="0">
                <a:solidFill>
                  <a:srgbClr val="6B7688"/>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BFBF8"/>
        </a:solidFill>
      </p:bgPr>
    </p:bg>
    <p:spTree>
      <p:nvGrpSpPr>
        <p:cNvPr id="1" name=""/>
        <p:cNvGrpSpPr/>
        <p:nvPr/>
      </p:nvGrpSpPr>
      <p:grpSpPr>
        <a:xfrm>
          <a:off x="0" y="0"/>
          <a:ext cx="0" cy="0"/>
          <a:chOff x="0" y="0"/>
          <a:chExt cx="0" cy="0"/>
        </a:xfrm>
      </p:grpSpPr>
      <p:sp>
        <p:nvSpPr>
          <p:cNvPr id="2" name="Shape 0"/>
          <p:cNvSpPr/>
          <p:nvPr/>
        </p:nvSpPr>
        <p:spPr>
          <a:xfrm>
            <a:off x="548640" y="411480"/>
            <a:ext cx="5760720" cy="5852160"/>
          </a:xfrm>
          <a:prstGeom prst="roundRect">
            <a:avLst>
              <a:gd name="adj" fmla="val 1905"/>
            </a:avLst>
          </a:prstGeom>
          <a:solidFill>
            <a:srgbClr val="FFFFFF"/>
          </a:solidFill>
          <a:ln w="9525">
            <a:solidFill>
              <a:srgbClr val="D5DCE5"/>
            </a:solidFill>
            <a:prstDash val="solid"/>
          </a:ln>
        </p:spPr>
      </p:sp>
      <p:pic>
        <p:nvPicPr>
          <p:cNvPr id="3" name="Image 0" descr="Missed true label versus spuriously predicted label heatmap for PhoBERT">    </p:cNvPr>
          <p:cNvPicPr>
            <a:picLocks noChangeAspect="1"/>
          </p:cNvPicPr>
          <p:nvPr/>
        </p:nvPicPr>
        <p:blipFill>
          <a:blip r:embed="rId1"/>
          <a:stretch>
            <a:fillRect/>
          </a:stretch>
        </p:blipFill>
        <p:spPr>
          <a:xfrm>
            <a:off x="621792" y="951433"/>
            <a:ext cx="5614416" cy="4772254"/>
          </a:xfrm>
          <a:prstGeom prst="rect">
            <a:avLst/>
          </a:prstGeom>
        </p:spPr>
      </p:pic>
      <p:sp>
        <p:nvSpPr>
          <p:cNvPr id="4" name="Text 1"/>
          <p:cNvSpPr txBox="1"/>
          <p:nvPr/>
        </p:nvSpPr>
        <p:spPr>
          <a:xfrm>
            <a:off x="6629400" y="347472"/>
            <a:ext cx="5013655" cy="292608"/>
          </a:xfrm>
          <a:prstGeom prst="rect">
            <a:avLst/>
          </a:prstGeom>
          <a:noFill/>
          <a:ln/>
        </p:spPr>
        <p:txBody>
          <a:bodyPr wrap="square" lIns="0" tIns="0" rIns="0" bIns="0" rtlCol="0" anchor="ctr"/>
          <a:lstStyle/>
          <a:p>
            <a:pPr indent="0" marL="0">
              <a:buNone/>
            </a:pPr>
            <a:r>
              <a:rPr lang="en-US" sz="1200" b="1" spc="200" kern="0" dirty="0">
                <a:solidFill>
                  <a:srgbClr val="C4650F"/>
                </a:solidFill>
                <a:latin typeface="Calibri" pitchFamily="34" charset="0"/>
                <a:ea typeface="Calibri" pitchFamily="34" charset="-122"/>
                <a:cs typeface="Calibri" pitchFamily="34" charset="-120"/>
              </a:rPr>
              <a:t>ERROR ANALYSIS · PHOBERT, TEST</a:t>
            </a:r>
            <a:endParaRPr lang="en-US" sz="1200" dirty="0"/>
          </a:p>
        </p:txBody>
      </p:sp>
      <p:sp>
        <p:nvSpPr>
          <p:cNvPr id="5" name="Text 2"/>
          <p:cNvSpPr txBox="1"/>
          <p:nvPr/>
        </p:nvSpPr>
        <p:spPr>
          <a:xfrm>
            <a:off x="6629400" y="658368"/>
            <a:ext cx="5013655" cy="548640"/>
          </a:xfrm>
          <a:prstGeom prst="rect">
            <a:avLst/>
          </a:prstGeom>
          <a:noFill/>
          <a:ln/>
        </p:spPr>
        <p:txBody>
          <a:bodyPr wrap="square" lIns="0" tIns="0" rIns="0" bIns="0" rtlCol="0" anchor="t"/>
          <a:lstStyle/>
          <a:p>
            <a:pPr indent="0" marL="0">
              <a:buNone/>
            </a:pPr>
            <a:r>
              <a:rPr lang="en-US" sz="2600" b="1" dirty="0">
                <a:solidFill>
                  <a:srgbClr val="14213D"/>
                </a:solidFill>
                <a:latin typeface="Cambria" pitchFamily="34" charset="0"/>
                <a:ea typeface="Cambria" pitchFamily="34" charset="-122"/>
                <a:cs typeface="Cambria" pitchFamily="34" charset="-120"/>
              </a:rPr>
              <a:t>Four recurring failure modes</a:t>
            </a:r>
            <a:endParaRPr lang="en-US" sz="2600" dirty="0"/>
          </a:p>
        </p:txBody>
      </p:sp>
      <p:sp>
        <p:nvSpPr>
          <p:cNvPr id="6" name="Text 3"/>
          <p:cNvSpPr txBox="1"/>
          <p:nvPr/>
        </p:nvSpPr>
        <p:spPr>
          <a:xfrm>
            <a:off x="6629400" y="1463040"/>
            <a:ext cx="5013655" cy="1097280"/>
          </a:xfrm>
          <a:prstGeom prst="rect">
            <a:avLst/>
          </a:prstGeom>
          <a:noFill/>
          <a:ln/>
        </p:spPr>
        <p:txBody>
          <a:bodyPr wrap="square" lIns="0" tIns="0" rIns="0" bIns="0" rtlCol="0" anchor="t"/>
          <a:lstStyle/>
          <a:p>
            <a:pPr indent="0" marL="0">
              <a:spcAft>
                <a:spcPts val="500"/>
              </a:spcAft>
              <a:buNone/>
            </a:pPr>
            <a:r>
              <a:rPr lang="en-US" sz="1600" b="1" dirty="0">
                <a:solidFill>
                  <a:srgbClr val="14213D"/>
                </a:solidFill>
                <a:latin typeface="Calibri" pitchFamily="34" charset="0"/>
                <a:ea typeface="Calibri" pitchFamily="34" charset="-122"/>
                <a:cs typeface="Calibri" pitchFamily="34" charset="-120"/>
              </a:rPr>
              <a:t>1 · Confusion inside a family</a:t>
            </a:r>
            <a:endParaRPr lang="en-US" sz="1600" dirty="0"/>
          </a:p>
          <a:p>
            <a:pPr indent="0" marL="0">
              <a:spcAft>
                <a:spcPts val="500"/>
              </a:spcAft>
              <a:buNone/>
            </a:pPr>
            <a:r>
              <a:rPr lang="en-US" sz="1400" dirty="0">
                <a:solidFill>
                  <a:srgbClr val="3D4A5C"/>
                </a:solidFill>
                <a:latin typeface="Calibri" pitchFamily="34" charset="0"/>
                <a:ea typeface="Calibri" pitchFamily="34" charset="-122"/>
                <a:cs typeface="Calibri" pitchFamily="34" charset="-120"/>
              </a:rPr>
              <a:t>annoyance missed while sadness (24) or disappointment (19) is predicted; disgust ↔ annoyance ↔ anger.</a:t>
            </a:r>
            <a:endParaRPr lang="en-US" sz="1600" dirty="0"/>
          </a:p>
        </p:txBody>
      </p:sp>
      <p:sp>
        <p:nvSpPr>
          <p:cNvPr id="7" name="Text 4"/>
          <p:cNvSpPr txBox="1"/>
          <p:nvPr/>
        </p:nvSpPr>
        <p:spPr>
          <a:xfrm>
            <a:off x="6629400" y="2624328"/>
            <a:ext cx="5013655" cy="1097280"/>
          </a:xfrm>
          <a:prstGeom prst="rect">
            <a:avLst/>
          </a:prstGeom>
          <a:noFill/>
          <a:ln/>
        </p:spPr>
        <p:txBody>
          <a:bodyPr wrap="square" lIns="0" tIns="0" rIns="0" bIns="0" rtlCol="0" anchor="t"/>
          <a:lstStyle/>
          <a:p>
            <a:pPr indent="0" marL="0">
              <a:spcAft>
                <a:spcPts val="500"/>
              </a:spcAft>
              <a:buNone/>
            </a:pPr>
            <a:r>
              <a:rPr lang="en-US" sz="1600" b="1" dirty="0">
                <a:solidFill>
                  <a:srgbClr val="14213D"/>
                </a:solidFill>
                <a:latin typeface="Calibri" pitchFamily="34" charset="0"/>
                <a:ea typeface="Calibri" pitchFamily="34" charset="-122"/>
                <a:cs typeface="Calibri" pitchFamily="34" charset="-120"/>
              </a:rPr>
              <a:t>2 · Implicit, context-bound labels</a:t>
            </a:r>
            <a:endParaRPr lang="en-US" sz="1600" dirty="0"/>
          </a:p>
          <a:p>
            <a:pPr indent="0" marL="0">
              <a:spcAft>
                <a:spcPts val="500"/>
              </a:spcAft>
              <a:buNone/>
            </a:pPr>
            <a:r>
              <a:rPr lang="en-US" sz="1400" dirty="0">
                <a:solidFill>
                  <a:srgbClr val="3D4A5C"/>
                </a:solidFill>
                <a:latin typeface="Calibri" pitchFamily="34" charset="0"/>
                <a:ea typeface="Calibri" pitchFamily="34" charset="-122"/>
                <a:cs typeface="Calibri" pitchFamily="34" charset="-120"/>
              </a:rPr>
              <a:t>Miss rates: disapproval 68.8%, neutral 61.2%, realization 60.0%, confusion 57.1%.</a:t>
            </a:r>
            <a:endParaRPr lang="en-US" sz="1600" dirty="0"/>
          </a:p>
        </p:txBody>
      </p:sp>
      <p:sp>
        <p:nvSpPr>
          <p:cNvPr id="8" name="Text 5"/>
          <p:cNvSpPr txBox="1"/>
          <p:nvPr/>
        </p:nvSpPr>
        <p:spPr>
          <a:xfrm>
            <a:off x="6629400" y="3785616"/>
            <a:ext cx="5013655" cy="1097280"/>
          </a:xfrm>
          <a:prstGeom prst="rect">
            <a:avLst/>
          </a:prstGeom>
          <a:noFill/>
          <a:ln/>
        </p:spPr>
        <p:txBody>
          <a:bodyPr wrap="square" lIns="0" tIns="0" rIns="0" bIns="0" rtlCol="0" anchor="t"/>
          <a:lstStyle/>
          <a:p>
            <a:pPr indent="0" marL="0">
              <a:spcAft>
                <a:spcPts val="500"/>
              </a:spcAft>
              <a:buNone/>
            </a:pPr>
            <a:r>
              <a:rPr lang="en-US" sz="1600" b="1" dirty="0">
                <a:solidFill>
                  <a:srgbClr val="14213D"/>
                </a:solidFill>
                <a:latin typeface="Calibri" pitchFamily="34" charset="0"/>
                <a:ea typeface="Calibri" pitchFamily="34" charset="-122"/>
                <a:cs typeface="Calibri" pitchFamily="34" charset="-120"/>
              </a:rPr>
              <a:t>3 · Pull towards two labels</a:t>
            </a:r>
            <a:endParaRPr lang="en-US" sz="1600" dirty="0"/>
          </a:p>
          <a:p>
            <a:pPr indent="0" marL="0">
              <a:spcAft>
                <a:spcPts val="500"/>
              </a:spcAft>
              <a:buNone/>
            </a:pPr>
            <a:r>
              <a:rPr lang="en-US" sz="1400" dirty="0">
                <a:solidFill>
                  <a:srgbClr val="3D4A5C"/>
                </a:solidFill>
                <a:latin typeface="Calibri" pitchFamily="34" charset="0"/>
                <a:ea typeface="Calibri" pitchFamily="34" charset="-122"/>
                <a:cs typeface="Calibri" pitchFamily="34" charset="-120"/>
              </a:rPr>
              <a:t>|Y| = 1: 0.76 spurious labels per comment. |Y| ≥ 4: 1.89 labels missed.</a:t>
            </a:r>
            <a:endParaRPr lang="en-US" sz="1600" dirty="0"/>
          </a:p>
        </p:txBody>
      </p:sp>
      <p:sp>
        <p:nvSpPr>
          <p:cNvPr id="9" name="Text 6"/>
          <p:cNvSpPr txBox="1"/>
          <p:nvPr/>
        </p:nvSpPr>
        <p:spPr>
          <a:xfrm>
            <a:off x="6629400" y="4946904"/>
            <a:ext cx="5013655" cy="1097280"/>
          </a:xfrm>
          <a:prstGeom prst="rect">
            <a:avLst/>
          </a:prstGeom>
          <a:noFill/>
          <a:ln/>
        </p:spPr>
        <p:txBody>
          <a:bodyPr wrap="square" lIns="0" tIns="0" rIns="0" bIns="0" rtlCol="0" anchor="t"/>
          <a:lstStyle/>
          <a:p>
            <a:pPr indent="0" marL="0">
              <a:spcAft>
                <a:spcPts val="500"/>
              </a:spcAft>
              <a:buNone/>
            </a:pPr>
            <a:r>
              <a:rPr lang="en-US" sz="1600" b="1" dirty="0">
                <a:solidFill>
                  <a:srgbClr val="14213D"/>
                </a:solidFill>
                <a:latin typeface="Calibri" pitchFamily="34" charset="0"/>
                <a:ea typeface="Calibri" pitchFamily="34" charset="-122"/>
                <a:cs typeface="Calibri" pitchFamily="34" charset="-120"/>
              </a:rPr>
              <a:t>4 · Long comments</a:t>
            </a:r>
            <a:endParaRPr lang="en-US" sz="1600" dirty="0"/>
          </a:p>
          <a:p>
            <a:pPr indent="0" marL="0">
              <a:spcAft>
                <a:spcPts val="500"/>
              </a:spcAft>
              <a:buNone/>
            </a:pPr>
            <a:r>
              <a:rPr lang="en-US" sz="1400" dirty="0">
                <a:solidFill>
                  <a:srgbClr val="3D4A5C"/>
                </a:solidFill>
                <a:latin typeface="Calibri" pitchFamily="34" charset="0"/>
                <a:ea typeface="Calibri" pitchFamily="34" charset="-122"/>
                <a:cs typeface="Calibri" pitchFamily="34" charset="-120"/>
              </a:rPr>
              <a:t>Exact match 19.8% vs 44.8% for short ones; 0.89 vs 0.45 missed labels per comment.</a:t>
            </a:r>
            <a:endParaRPr lang="en-US" sz="1600" dirty="0"/>
          </a:p>
        </p:txBody>
      </p:sp>
      <p:sp>
        <p:nvSpPr>
          <p:cNvPr id="10" name="Text 7"/>
          <p:cNvSpPr txBox="1"/>
          <p:nvPr/>
        </p:nvSpPr>
        <p:spPr>
          <a:xfrm>
            <a:off x="548640" y="6400800"/>
            <a:ext cx="9875520" cy="274320"/>
          </a:xfrm>
          <a:prstGeom prst="rect">
            <a:avLst/>
          </a:prstGeom>
          <a:noFill/>
          <a:ln/>
        </p:spPr>
        <p:txBody>
          <a:bodyPr wrap="square" lIns="0" tIns="0" rIns="0" bIns="0" rtlCol="0" anchor="ctr"/>
          <a:lstStyle/>
          <a:p>
            <a:pPr indent="0" marL="0">
              <a:buNone/>
            </a:pPr>
            <a:r>
              <a:rPr lang="en-US" sz="1000" dirty="0">
                <a:solidFill>
                  <a:srgbClr val="6B7688"/>
                </a:solidFill>
                <a:latin typeface="Calibri" pitchFamily="34" charset="0"/>
                <a:ea typeface="Calibri" pitchFamily="34" charset="-122"/>
                <a:cs typeface="Calibri" pitchFamily="34" charset="-120"/>
              </a:rPr>
              <a:t>τ = 0.5 · error_*.csv; 97 cases for manual audit (25 FN, 25 FP, 15 multi-label, 32 by style)</a:t>
            </a:r>
            <a:endParaRPr lang="en-US" sz="1000" dirty="0"/>
          </a:p>
        </p:txBody>
      </p:sp>
      <p:sp>
        <p:nvSpPr>
          <p:cNvPr id="11" name="Text 8"/>
          <p:cNvSpPr txBox="1"/>
          <p:nvPr/>
        </p:nvSpPr>
        <p:spPr>
          <a:xfrm>
            <a:off x="11094415" y="6400800"/>
            <a:ext cx="548640" cy="274320"/>
          </a:xfrm>
          <a:prstGeom prst="rect">
            <a:avLst/>
          </a:prstGeom>
          <a:noFill/>
          <a:ln/>
        </p:spPr>
        <p:txBody>
          <a:bodyPr wrap="square" lIns="0" tIns="0" rIns="0" bIns="0" rtlCol="0" anchor="ctr"/>
          <a:lstStyle/>
          <a:p>
            <a:pPr algn="r" indent="0" marL="0">
              <a:buNone/>
            </a:pPr>
            <a:r>
              <a:rPr lang="en-US" sz="1000" dirty="0">
                <a:solidFill>
                  <a:srgbClr val="6B7688"/>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457200"/>
            <a:ext cx="11094415" cy="320040"/>
          </a:xfrm>
          <a:prstGeom prst="rect">
            <a:avLst/>
          </a:prstGeom>
          <a:noFill/>
          <a:ln/>
        </p:spPr>
        <p:txBody>
          <a:bodyPr wrap="square" lIns="0" tIns="0" rIns="0" bIns="0" rtlCol="0" anchor="ctr"/>
          <a:lstStyle/>
          <a:p>
            <a:pPr indent="0" marL="0">
              <a:buNone/>
            </a:pPr>
            <a:r>
              <a:rPr lang="en-US" sz="1300" b="1" spc="200" kern="0" dirty="0">
                <a:solidFill>
                  <a:srgbClr val="F2A541"/>
                </a:solidFill>
                <a:latin typeface="Calibri" pitchFamily="34" charset="0"/>
                <a:ea typeface="Calibri" pitchFamily="34" charset="-122"/>
                <a:cs typeface="Calibri" pitchFamily="34" charset="-120"/>
              </a:rPr>
              <a:t>PROPOSED FINAL RESEARCH QUESTION</a:t>
            </a:r>
            <a:endParaRPr lang="en-US" sz="1300" dirty="0"/>
          </a:p>
        </p:txBody>
      </p:sp>
      <p:sp>
        <p:nvSpPr>
          <p:cNvPr id="3" name="Text 1"/>
          <p:cNvSpPr txBox="1"/>
          <p:nvPr/>
        </p:nvSpPr>
        <p:spPr>
          <a:xfrm>
            <a:off x="548640" y="868680"/>
            <a:ext cx="11094415" cy="1234440"/>
          </a:xfrm>
          <a:prstGeom prst="rect">
            <a:avLst/>
          </a:prstGeom>
          <a:noFill/>
          <a:ln/>
        </p:spPr>
        <p:txBody>
          <a:bodyPr wrap="square" lIns="0" tIns="0" rIns="0" bIns="0" rtlCol="0" anchor="t"/>
          <a:lstStyle/>
          <a:p>
            <a:pPr indent="0" marL="0">
              <a:buNone/>
            </a:pPr>
            <a:r>
              <a:rPr lang="en-US" sz="3000" dirty="0">
                <a:solidFill>
                  <a:srgbClr val="FBFBF8"/>
                </a:solidFill>
                <a:latin typeface="Cambria" pitchFamily="34" charset="0"/>
                <a:ea typeface="Cambria" pitchFamily="34" charset="-122"/>
                <a:cs typeface="Cambria" pitchFamily="34" charset="-120"/>
              </a:rPr>
              <a:t>RQ1: Is a single uniform threshold (τ = 0.5) optimal across all 27 emotions under class imbalance?</a:t>
            </a:r>
            <a:endParaRPr lang="en-US" sz="3000" dirty="0"/>
          </a:p>
        </p:txBody>
      </p:sp>
      <p:sp>
        <p:nvSpPr>
          <p:cNvPr id="4" name="Shape 2"/>
          <p:cNvSpPr/>
          <p:nvPr/>
        </p:nvSpPr>
        <p:spPr>
          <a:xfrm>
            <a:off x="548640" y="2331720"/>
            <a:ext cx="3515258" cy="2834640"/>
          </a:xfrm>
          <a:prstGeom prst="roundRect">
            <a:avLst>
              <a:gd name="adj" fmla="val 3871"/>
            </a:avLst>
          </a:prstGeom>
          <a:solidFill>
            <a:srgbClr val="1F2E52"/>
          </a:solidFill>
          <a:ln w="9525">
            <a:solidFill>
              <a:srgbClr val="2C3D63"/>
            </a:solidFill>
            <a:prstDash val="solid"/>
          </a:ln>
        </p:spPr>
      </p:sp>
      <p:sp>
        <p:nvSpPr>
          <p:cNvPr id="5" name="Text 3"/>
          <p:cNvSpPr txBox="1"/>
          <p:nvPr/>
        </p:nvSpPr>
        <p:spPr>
          <a:xfrm>
            <a:off x="804672" y="2514600"/>
            <a:ext cx="3003194" cy="2560320"/>
          </a:xfrm>
          <a:prstGeom prst="rect">
            <a:avLst/>
          </a:prstGeom>
          <a:noFill/>
          <a:ln/>
        </p:spPr>
        <p:txBody>
          <a:bodyPr wrap="square" lIns="0" tIns="0" rIns="0" bIns="0" rtlCol="0" anchor="t"/>
          <a:lstStyle/>
          <a:p>
            <a:pPr indent="0" marL="0">
              <a:spcAft>
                <a:spcPts val="500"/>
              </a:spcAft>
              <a:buNone/>
            </a:pPr>
            <a:r>
              <a:rPr lang="en-US" sz="1700" b="1" dirty="0">
                <a:solidFill>
                  <a:srgbClr val="F2A541"/>
                </a:solidFill>
                <a:latin typeface="Calibri" pitchFamily="34" charset="0"/>
                <a:ea typeface="Calibri" pitchFamily="34" charset="-122"/>
                <a:cs typeface="Calibri" pitchFamily="34" charset="-120"/>
              </a:rPr>
              <a:t>Midterm evidence</a:t>
            </a:r>
            <a:endParaRPr lang="en-US" sz="1700" dirty="0"/>
          </a:p>
          <a:p>
            <a:pPr indent="0" marL="0">
              <a:spcAft>
                <a:spcPts val="500"/>
              </a:spcAft>
              <a:buNone/>
            </a:pPr>
            <a:r>
              <a:rPr lang="en-US" sz="1400" dirty="0">
                <a:solidFill>
                  <a:srgbClr val="D6DEEA"/>
                </a:solidFill>
                <a:latin typeface="Calibri" pitchFamily="34" charset="0"/>
                <a:ea typeface="Calibri" pitchFamily="34" charset="-122"/>
                <a:cs typeface="Calibri" pitchFamily="34" charset="-120"/>
              </a:rPr>
              <a:t>Optimal τ*_c ranges 0.17–0.69. A lower global τ helps |Y| ≥ 4 (0.67 → 0.75 Micro-F1) but hurts |Y| = 1 (0.57 → 0.53). The val gain of per-label tuning shrinks on test.</a:t>
            </a:r>
            <a:endParaRPr lang="en-US" sz="1700" dirty="0"/>
          </a:p>
        </p:txBody>
      </p:sp>
      <p:sp>
        <p:nvSpPr>
          <p:cNvPr id="6" name="Shape 4"/>
          <p:cNvSpPr/>
          <p:nvPr/>
        </p:nvSpPr>
        <p:spPr>
          <a:xfrm>
            <a:off x="4338218" y="2331720"/>
            <a:ext cx="3515258" cy="2834640"/>
          </a:xfrm>
          <a:prstGeom prst="roundRect">
            <a:avLst>
              <a:gd name="adj" fmla="val 3871"/>
            </a:avLst>
          </a:prstGeom>
          <a:solidFill>
            <a:srgbClr val="1F2E52"/>
          </a:solidFill>
          <a:ln w="9525">
            <a:solidFill>
              <a:srgbClr val="2C3D63"/>
            </a:solidFill>
            <a:prstDash val="solid"/>
          </a:ln>
        </p:spPr>
      </p:sp>
      <p:sp>
        <p:nvSpPr>
          <p:cNvPr id="7" name="Text 5"/>
          <p:cNvSpPr txBox="1"/>
          <p:nvPr/>
        </p:nvSpPr>
        <p:spPr>
          <a:xfrm>
            <a:off x="4594250" y="2514600"/>
            <a:ext cx="3003194" cy="2560320"/>
          </a:xfrm>
          <a:prstGeom prst="rect">
            <a:avLst/>
          </a:prstGeom>
          <a:noFill/>
          <a:ln/>
        </p:spPr>
        <p:txBody>
          <a:bodyPr wrap="square" lIns="0" tIns="0" rIns="0" bIns="0" rtlCol="0" anchor="t"/>
          <a:lstStyle/>
          <a:p>
            <a:pPr indent="0" marL="0">
              <a:spcAft>
                <a:spcPts val="500"/>
              </a:spcAft>
              <a:buNone/>
            </a:pPr>
            <a:r>
              <a:rPr lang="en-US" sz="1700" b="1" dirty="0">
                <a:solidFill>
                  <a:srgbClr val="F2A541"/>
                </a:solidFill>
                <a:latin typeface="Calibri" pitchFamily="34" charset="0"/>
                <a:ea typeface="Calibri" pitchFamily="34" charset="-122"/>
                <a:cs typeface="Calibri" pitchFamily="34" charset="-120"/>
              </a:rPr>
              <a:t>Controlled design</a:t>
            </a:r>
            <a:endParaRPr lang="en-US" sz="1700" dirty="0"/>
          </a:p>
          <a:p>
            <a:pPr indent="0" marL="0">
              <a:spcAft>
                <a:spcPts val="500"/>
              </a:spcAft>
              <a:buNone/>
            </a:pPr>
            <a:r>
              <a:rPr lang="en-US" sz="1400" dirty="0">
                <a:solidFill>
                  <a:srgbClr val="D6DEEA"/>
                </a:solidFill>
                <a:latin typeface="Calibri" pitchFamily="34" charset="0"/>
                <a:ea typeface="Calibri" pitchFamily="34" charset="-122"/>
                <a:cs typeface="Calibri" pitchFamily="34" charset="-120"/>
              </a:rPr>
              <a:t>Best Midterm network, backbone frozen. Compare fixed, global and per-label τ fitted on val. Break down by head/mid/tail and |Y| = 1, 2, 3, ≥ 4; report the val→test gap.</a:t>
            </a:r>
            <a:endParaRPr lang="en-US" sz="1700" dirty="0"/>
          </a:p>
        </p:txBody>
      </p:sp>
      <p:sp>
        <p:nvSpPr>
          <p:cNvPr id="8" name="Shape 6"/>
          <p:cNvSpPr/>
          <p:nvPr/>
        </p:nvSpPr>
        <p:spPr>
          <a:xfrm>
            <a:off x="8127797" y="2331720"/>
            <a:ext cx="3515258" cy="2834640"/>
          </a:xfrm>
          <a:prstGeom prst="roundRect">
            <a:avLst>
              <a:gd name="adj" fmla="val 3871"/>
            </a:avLst>
          </a:prstGeom>
          <a:solidFill>
            <a:srgbClr val="1F2E52"/>
          </a:solidFill>
          <a:ln w="9525">
            <a:solidFill>
              <a:srgbClr val="2C3D63"/>
            </a:solidFill>
            <a:prstDash val="solid"/>
          </a:ln>
        </p:spPr>
      </p:sp>
      <p:sp>
        <p:nvSpPr>
          <p:cNvPr id="9" name="Text 7"/>
          <p:cNvSpPr txBox="1"/>
          <p:nvPr/>
        </p:nvSpPr>
        <p:spPr>
          <a:xfrm>
            <a:off x="8383829" y="2514600"/>
            <a:ext cx="3003194" cy="2560320"/>
          </a:xfrm>
          <a:prstGeom prst="rect">
            <a:avLst/>
          </a:prstGeom>
          <a:noFill/>
          <a:ln/>
        </p:spPr>
        <p:txBody>
          <a:bodyPr wrap="square" lIns="0" tIns="0" rIns="0" bIns="0" rtlCol="0" anchor="t"/>
          <a:lstStyle/>
          <a:p>
            <a:pPr indent="0" marL="0">
              <a:spcAft>
                <a:spcPts val="500"/>
              </a:spcAft>
              <a:buNone/>
            </a:pPr>
            <a:r>
              <a:rPr lang="en-US" sz="1700" b="1" dirty="0">
                <a:solidFill>
                  <a:srgbClr val="F2A541"/>
                </a:solidFill>
                <a:latin typeface="Calibri" pitchFamily="34" charset="0"/>
                <a:ea typeface="Calibri" pitchFamily="34" charset="-122"/>
                <a:cs typeface="Calibri" pitchFamily="34" charset="-120"/>
              </a:rPr>
              <a:t>Robustness</a:t>
            </a:r>
            <a:endParaRPr lang="en-US" sz="1700" dirty="0"/>
          </a:p>
          <a:p>
            <a:pPr indent="0" marL="0">
              <a:spcAft>
                <a:spcPts val="500"/>
              </a:spcAft>
              <a:buNone/>
            </a:pPr>
            <a:r>
              <a:rPr lang="en-US" sz="1400" dirty="0">
                <a:solidFill>
                  <a:srgbClr val="D6DEEA"/>
                </a:solidFill>
                <a:latin typeface="Calibri" pitchFamily="34" charset="0"/>
                <a:ea typeface="Calibri" pitchFamily="34" charset="-122"/>
                <a:cs typeface="Calibri" pitchFamily="34" charset="-120"/>
              </a:rPr>
              <a:t>3 seeds with bootstrap CIs, per-label τ shrunk towards the global one, and a check on the iterative-stratified split.</a:t>
            </a:r>
            <a:endParaRPr lang="en-US" sz="1700" dirty="0"/>
          </a:p>
        </p:txBody>
      </p:sp>
      <p:sp>
        <p:nvSpPr>
          <p:cNvPr id="10" name="Text 8"/>
          <p:cNvSpPr txBox="1"/>
          <p:nvPr/>
        </p:nvSpPr>
        <p:spPr>
          <a:xfrm>
            <a:off x="548640" y="5394960"/>
            <a:ext cx="11094415" cy="822960"/>
          </a:xfrm>
          <a:prstGeom prst="rect">
            <a:avLst/>
          </a:prstGeom>
          <a:noFill/>
          <a:ln/>
        </p:spPr>
        <p:txBody>
          <a:bodyPr wrap="square" lIns="0" tIns="0" rIns="0" bIns="0" rtlCol="0" anchor="t"/>
          <a:lstStyle/>
          <a:p>
            <a:pPr indent="0" marL="0">
              <a:spcAft>
                <a:spcPts val="400"/>
              </a:spcAft>
              <a:buNone/>
            </a:pPr>
            <a:r>
              <a:rPr lang="en-US" sz="1500" dirty="0">
                <a:solidFill>
                  <a:srgbClr val="C9D3E3"/>
                </a:solidFill>
                <a:latin typeface="Calibri" pitchFamily="34" charset="0"/>
                <a:ea typeface="Calibri" pitchFamily="34" charset="-122"/>
                <a:cs typeface="Calibri" pitchFamily="34" charset="-120"/>
              </a:rPr>
              <a:t>Optional extensions: label-dependency modelling (RQ2) motivated by Q3 and the family confusions; imbalance-aware losses (RQ3); noise robustness on teencode and unaccented text (RQ4).</a:t>
            </a:r>
            <a:endParaRPr lang="en-US" sz="1500" dirty="0"/>
          </a:p>
        </p:txBody>
      </p:sp>
      <p:sp>
        <p:nvSpPr>
          <p:cNvPr id="11" name="Text 9"/>
          <p:cNvSpPr txBox="1"/>
          <p:nvPr/>
        </p:nvSpPr>
        <p:spPr>
          <a:xfrm>
            <a:off x="548640" y="6400800"/>
            <a:ext cx="9875520" cy="274320"/>
          </a:xfrm>
          <a:prstGeom prst="rect">
            <a:avLst/>
          </a:prstGeom>
          <a:noFill/>
          <a:ln/>
        </p:spPr>
        <p:txBody>
          <a:bodyPr wrap="square" lIns="0" tIns="0" rIns="0" bIns="0" rtlCol="0" anchor="ctr"/>
          <a:lstStyle/>
          <a:p>
            <a:pPr indent="0" marL="0">
              <a:buNone/>
            </a:pPr>
            <a:r>
              <a:rPr lang="en-US" sz="1000" dirty="0">
                <a:solidFill>
                  <a:srgbClr val="8FA0BA"/>
                </a:solidFill>
                <a:latin typeface="Calibri" pitchFamily="34" charset="0"/>
                <a:ea typeface="Calibri" pitchFamily="34" charset="-122"/>
                <a:cs typeface="Calibri" pitchFamily="34" charset="-120"/>
              </a:rPr>
              <a:t>Probabilities for val and test are already saved in the Final schema: results/predictions/</a:t>
            </a:r>
            <a:endParaRPr lang="en-US" sz="1000" dirty="0"/>
          </a:p>
        </p:txBody>
      </p:sp>
      <p:sp>
        <p:nvSpPr>
          <p:cNvPr id="12" name="Text 10"/>
          <p:cNvSpPr txBox="1"/>
          <p:nvPr/>
        </p:nvSpPr>
        <p:spPr>
          <a:xfrm>
            <a:off x="11094415" y="6400800"/>
            <a:ext cx="548640" cy="274320"/>
          </a:xfrm>
          <a:prstGeom prst="rect">
            <a:avLst/>
          </a:prstGeom>
          <a:noFill/>
          <a:ln/>
        </p:spPr>
        <p:txBody>
          <a:bodyPr wrap="square" lIns="0" tIns="0" rIns="0" bIns="0" rtlCol="0" anchor="ctr"/>
          <a:lstStyle/>
          <a:p>
            <a:pPr algn="r" indent="0" marL="0">
              <a:buNone/>
            </a:pPr>
            <a:r>
              <a:rPr lang="en-US" sz="1000" dirty="0">
                <a:solidFill>
                  <a:srgbClr val="8FA0BA"/>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BFBF8"/>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292608"/>
          </a:xfrm>
          <a:prstGeom prst="rect">
            <a:avLst/>
          </a:prstGeom>
          <a:noFill/>
          <a:ln/>
        </p:spPr>
        <p:txBody>
          <a:bodyPr wrap="square" lIns="0" tIns="0" rIns="0" bIns="0" rtlCol="0" anchor="ctr"/>
          <a:lstStyle/>
          <a:p>
            <a:pPr indent="0" marL="0">
              <a:buNone/>
            </a:pPr>
            <a:r>
              <a:rPr lang="en-US" sz="1200" b="1" spc="200" kern="0" dirty="0">
                <a:solidFill>
                  <a:srgbClr val="C4650F"/>
                </a:solidFill>
                <a:latin typeface="Calibri" pitchFamily="34" charset="0"/>
                <a:ea typeface="Calibri" pitchFamily="34" charset="-122"/>
                <a:cs typeface="Calibri" pitchFamily="34" charset="-120"/>
              </a:rPr>
              <a:t>SUMMARY</a:t>
            </a:r>
            <a:endParaRPr lang="en-US" sz="1200" dirty="0"/>
          </a:p>
        </p:txBody>
      </p:sp>
      <p:sp>
        <p:nvSpPr>
          <p:cNvPr id="3" name="Text 1"/>
          <p:cNvSpPr txBox="1"/>
          <p:nvPr/>
        </p:nvSpPr>
        <p:spPr>
          <a:xfrm>
            <a:off x="548640" y="658368"/>
            <a:ext cx="11094415" cy="731520"/>
          </a:xfrm>
          <a:prstGeom prst="rect">
            <a:avLst/>
          </a:prstGeom>
          <a:noFill/>
          <a:ln/>
        </p:spPr>
        <p:txBody>
          <a:bodyPr wrap="square" lIns="0" tIns="0" rIns="0" bIns="0" rtlCol="0" anchor="t"/>
          <a:lstStyle/>
          <a:p>
            <a:pPr indent="0" marL="0">
              <a:buNone/>
            </a:pPr>
            <a:r>
              <a:rPr lang="en-US" sz="2800" b="1" dirty="0">
                <a:solidFill>
                  <a:srgbClr val="14213D"/>
                </a:solidFill>
                <a:latin typeface="Cambria" pitchFamily="34" charset="0"/>
                <a:ea typeface="Cambria" pitchFamily="34" charset="-122"/>
                <a:cs typeface="Cambria" pitchFamily="34" charset="-120"/>
              </a:rPr>
              <a:t>Four take-aways from the Midterm</a:t>
            </a:r>
            <a:endParaRPr lang="en-US" sz="2800" dirty="0"/>
          </a:p>
        </p:txBody>
      </p:sp>
      <p:sp>
        <p:nvSpPr>
          <p:cNvPr id="4" name="Shape 2"/>
          <p:cNvSpPr/>
          <p:nvPr/>
        </p:nvSpPr>
        <p:spPr>
          <a:xfrm>
            <a:off x="548640" y="1508760"/>
            <a:ext cx="5410048" cy="1737360"/>
          </a:xfrm>
          <a:prstGeom prst="roundRect">
            <a:avLst>
              <a:gd name="adj" fmla="val 6316"/>
            </a:avLst>
          </a:prstGeom>
          <a:solidFill>
            <a:srgbClr val="FFFFFF"/>
          </a:solidFill>
          <a:ln w="9525">
            <a:solidFill>
              <a:srgbClr val="D5DCE5"/>
            </a:solidFill>
            <a:prstDash val="solid"/>
          </a:ln>
        </p:spPr>
      </p:sp>
      <p:sp>
        <p:nvSpPr>
          <p:cNvPr id="5" name="Text 3"/>
          <p:cNvSpPr txBox="1"/>
          <p:nvPr/>
        </p:nvSpPr>
        <p:spPr>
          <a:xfrm>
            <a:off x="822960" y="1737360"/>
            <a:ext cx="4861408" cy="1417320"/>
          </a:xfrm>
          <a:prstGeom prst="rect">
            <a:avLst/>
          </a:prstGeom>
          <a:noFill/>
          <a:ln/>
        </p:spPr>
        <p:txBody>
          <a:bodyPr wrap="square" lIns="0" tIns="0" rIns="0" bIns="0" rtlCol="0" anchor="t"/>
          <a:lstStyle/>
          <a:p>
            <a:pPr indent="0" marL="0">
              <a:spcAft>
                <a:spcPts val="500"/>
              </a:spcAft>
              <a:buNone/>
            </a:pPr>
            <a:r>
              <a:rPr lang="en-US" sz="2000" b="1" dirty="0">
                <a:solidFill>
                  <a:srgbClr val="1B4FA8"/>
                </a:solidFill>
                <a:latin typeface="Calibri" pitchFamily="34" charset="0"/>
                <a:ea typeface="Calibri" pitchFamily="34" charset="-122"/>
                <a:cs typeface="Calibri" pitchFamily="34" charset="-120"/>
              </a:rPr>
              <a:t>1 · Strong, valid baselines</a:t>
            </a:r>
            <a:endParaRPr lang="en-US" sz="2000" dirty="0"/>
          </a:p>
          <a:p>
            <a:pPr indent="0" marL="0">
              <a:spcAft>
                <a:spcPts val="500"/>
              </a:spcAft>
              <a:buNone/>
            </a:pPr>
            <a:r>
              <a:rPr lang="en-US" sz="1700" dirty="0">
                <a:solidFill>
                  <a:srgbClr val="3D4A5C"/>
                </a:solidFill>
                <a:latin typeface="Calibri" pitchFamily="34" charset="0"/>
                <a:ea typeface="Calibri" pitchFamily="34" charset="-122"/>
                <a:cs typeface="Calibri" pitchFamily="34" charset="-120"/>
              </a:rPr>
              <a:t>PhoBERT reaches 0.629 Macro-F1 and the ensemble 0.653, against 0.615 for the best published model — same split, test sealed.</a:t>
            </a:r>
            <a:endParaRPr lang="en-US" sz="2000" dirty="0"/>
          </a:p>
        </p:txBody>
      </p:sp>
      <p:sp>
        <p:nvSpPr>
          <p:cNvPr id="6" name="Shape 4"/>
          <p:cNvSpPr/>
          <p:nvPr/>
        </p:nvSpPr>
        <p:spPr>
          <a:xfrm>
            <a:off x="6233008" y="1508760"/>
            <a:ext cx="5410048" cy="1737360"/>
          </a:xfrm>
          <a:prstGeom prst="roundRect">
            <a:avLst>
              <a:gd name="adj" fmla="val 6316"/>
            </a:avLst>
          </a:prstGeom>
          <a:solidFill>
            <a:srgbClr val="FFFFFF"/>
          </a:solidFill>
          <a:ln w="9525">
            <a:solidFill>
              <a:srgbClr val="D5DCE5"/>
            </a:solidFill>
            <a:prstDash val="solid"/>
          </a:ln>
        </p:spPr>
      </p:sp>
      <p:sp>
        <p:nvSpPr>
          <p:cNvPr id="7" name="Text 5"/>
          <p:cNvSpPr txBox="1"/>
          <p:nvPr/>
        </p:nvSpPr>
        <p:spPr>
          <a:xfrm>
            <a:off x="6507328" y="1737360"/>
            <a:ext cx="4861408" cy="1417320"/>
          </a:xfrm>
          <a:prstGeom prst="rect">
            <a:avLst/>
          </a:prstGeom>
          <a:noFill/>
          <a:ln/>
        </p:spPr>
        <p:txBody>
          <a:bodyPr wrap="square" lIns="0" tIns="0" rIns="0" bIns="0" rtlCol="0" anchor="t"/>
          <a:lstStyle/>
          <a:p>
            <a:pPr indent="0" marL="0">
              <a:spcAft>
                <a:spcPts val="500"/>
              </a:spcAft>
              <a:buNone/>
            </a:pPr>
            <a:r>
              <a:rPr lang="en-US" sz="2000" b="1" dirty="0">
                <a:solidFill>
                  <a:srgbClr val="1B4FA8"/>
                </a:solidFill>
                <a:latin typeface="Calibri" pitchFamily="34" charset="0"/>
                <a:ea typeface="Calibri" pitchFamily="34" charset="-122"/>
                <a:cs typeface="Calibri" pitchFamily="34" charset="-120"/>
              </a:rPr>
              <a:t>2 · Ambiguity beats rarity</a:t>
            </a:r>
            <a:endParaRPr lang="en-US" sz="2000" dirty="0"/>
          </a:p>
          <a:p>
            <a:pPr indent="0" marL="0">
              <a:spcAft>
                <a:spcPts val="500"/>
              </a:spcAft>
              <a:buNone/>
            </a:pPr>
            <a:r>
              <a:rPr lang="en-US" sz="1700" dirty="0">
                <a:solidFill>
                  <a:srgbClr val="3D4A5C"/>
                </a:solidFill>
                <a:latin typeface="Calibri" pitchFamily="34" charset="0"/>
                <a:ea typeface="Calibri" pitchFamily="34" charset="-122"/>
                <a:cs typeface="Calibri" pitchFamily="34" charset="-120"/>
              </a:rPr>
              <a:t>Frequency explains little (ρ ≈ 0.2, n.s.); disapproval, neutral and realization are hard because they are implicit.</a:t>
            </a:r>
            <a:endParaRPr lang="en-US" sz="2000" dirty="0"/>
          </a:p>
        </p:txBody>
      </p:sp>
      <p:sp>
        <p:nvSpPr>
          <p:cNvPr id="8" name="Shape 6"/>
          <p:cNvSpPr/>
          <p:nvPr/>
        </p:nvSpPr>
        <p:spPr>
          <a:xfrm>
            <a:off x="548640" y="3429000"/>
            <a:ext cx="5410048" cy="1737360"/>
          </a:xfrm>
          <a:prstGeom prst="roundRect">
            <a:avLst>
              <a:gd name="adj" fmla="val 6316"/>
            </a:avLst>
          </a:prstGeom>
          <a:solidFill>
            <a:srgbClr val="FFFFFF"/>
          </a:solidFill>
          <a:ln w="9525">
            <a:solidFill>
              <a:srgbClr val="D5DCE5"/>
            </a:solidFill>
            <a:prstDash val="solid"/>
          </a:ln>
        </p:spPr>
      </p:sp>
      <p:sp>
        <p:nvSpPr>
          <p:cNvPr id="9" name="Text 7"/>
          <p:cNvSpPr txBox="1"/>
          <p:nvPr/>
        </p:nvSpPr>
        <p:spPr>
          <a:xfrm>
            <a:off x="822960" y="3657600"/>
            <a:ext cx="4861408" cy="1417320"/>
          </a:xfrm>
          <a:prstGeom prst="rect">
            <a:avLst/>
          </a:prstGeom>
          <a:noFill/>
          <a:ln/>
        </p:spPr>
        <p:txBody>
          <a:bodyPr wrap="square" lIns="0" tIns="0" rIns="0" bIns="0" rtlCol="0" anchor="t"/>
          <a:lstStyle/>
          <a:p>
            <a:pPr indent="0" marL="0">
              <a:spcAft>
                <a:spcPts val="500"/>
              </a:spcAft>
              <a:buNone/>
            </a:pPr>
            <a:r>
              <a:rPr lang="en-US" sz="2000" b="1" dirty="0">
                <a:solidFill>
                  <a:srgbClr val="1B4FA8"/>
                </a:solidFill>
                <a:latin typeface="Calibri" pitchFamily="34" charset="0"/>
                <a:ea typeface="Calibri" pitchFamily="34" charset="-122"/>
                <a:cs typeface="Calibri" pitchFamily="34" charset="-120"/>
              </a:rPr>
              <a:t>3 · Context helps where text is noisy</a:t>
            </a:r>
            <a:endParaRPr lang="en-US" sz="2000" dirty="0"/>
          </a:p>
          <a:p>
            <a:pPr indent="0" marL="0">
              <a:spcAft>
                <a:spcPts val="500"/>
              </a:spcAft>
              <a:buNone/>
            </a:pPr>
            <a:r>
              <a:rPr lang="en-US" sz="1700" dirty="0">
                <a:solidFill>
                  <a:srgbClr val="3D4A5C"/>
                </a:solidFill>
                <a:latin typeface="Calibri" pitchFamily="34" charset="0"/>
                <a:ea typeface="Calibri" pitchFamily="34" charset="-122"/>
                <a:cs typeface="Calibri" pitchFamily="34" charset="-120"/>
              </a:rPr>
              <a:t>Largest gains on emoticon, long and teencode comments; errors stay inside emotion families.</a:t>
            </a:r>
            <a:endParaRPr lang="en-US" sz="2000" dirty="0"/>
          </a:p>
        </p:txBody>
      </p:sp>
      <p:sp>
        <p:nvSpPr>
          <p:cNvPr id="10" name="Shape 8"/>
          <p:cNvSpPr/>
          <p:nvPr/>
        </p:nvSpPr>
        <p:spPr>
          <a:xfrm>
            <a:off x="6233008" y="3429000"/>
            <a:ext cx="5410048" cy="1737360"/>
          </a:xfrm>
          <a:prstGeom prst="roundRect">
            <a:avLst>
              <a:gd name="adj" fmla="val 6316"/>
            </a:avLst>
          </a:prstGeom>
          <a:solidFill>
            <a:srgbClr val="FFFFFF"/>
          </a:solidFill>
          <a:ln w="9525">
            <a:solidFill>
              <a:srgbClr val="D5DCE5"/>
            </a:solidFill>
            <a:prstDash val="solid"/>
          </a:ln>
        </p:spPr>
      </p:sp>
      <p:sp>
        <p:nvSpPr>
          <p:cNvPr id="11" name="Text 9"/>
          <p:cNvSpPr txBox="1"/>
          <p:nvPr/>
        </p:nvSpPr>
        <p:spPr>
          <a:xfrm>
            <a:off x="6507328" y="3657600"/>
            <a:ext cx="4861408" cy="1417320"/>
          </a:xfrm>
          <a:prstGeom prst="rect">
            <a:avLst/>
          </a:prstGeom>
          <a:noFill/>
          <a:ln/>
        </p:spPr>
        <p:txBody>
          <a:bodyPr wrap="square" lIns="0" tIns="0" rIns="0" bIns="0" rtlCol="0" anchor="t"/>
          <a:lstStyle/>
          <a:p>
            <a:pPr indent="0" marL="0">
              <a:spcAft>
                <a:spcPts val="500"/>
              </a:spcAft>
              <a:buNone/>
            </a:pPr>
            <a:r>
              <a:rPr lang="en-US" sz="2000" b="1" dirty="0">
                <a:solidFill>
                  <a:srgbClr val="1B4FA8"/>
                </a:solidFill>
                <a:latin typeface="Calibri" pitchFamily="34" charset="0"/>
                <a:ea typeface="Calibri" pitchFamily="34" charset="-122"/>
                <a:cs typeface="Calibri" pitchFamily="34" charset="-120"/>
              </a:rPr>
              <a:t>4 · One threshold does not fit all</a:t>
            </a:r>
            <a:endParaRPr lang="en-US" sz="2000" dirty="0"/>
          </a:p>
          <a:p>
            <a:pPr indent="0" marL="0">
              <a:spcAft>
                <a:spcPts val="500"/>
              </a:spcAft>
              <a:buNone/>
            </a:pPr>
            <a:r>
              <a:rPr lang="en-US" sz="1700" dirty="0">
                <a:solidFill>
                  <a:srgbClr val="3D4A5C"/>
                </a:solidFill>
                <a:latin typeface="Calibri" pitchFamily="34" charset="0"/>
                <a:ea typeface="Calibri" pitchFamily="34" charset="-122"/>
                <a:cs typeface="Calibri" pitchFamily="34" charset="-120"/>
              </a:rPr>
              <a:t>Optimal τ*_c ranges 0.17–0.69, but per-label tuning overfits validation — the Final RQ1.</a:t>
            </a:r>
            <a:endParaRPr lang="en-US" sz="2000" dirty="0"/>
          </a:p>
        </p:txBody>
      </p:sp>
      <p:sp>
        <p:nvSpPr>
          <p:cNvPr id="12" name="Text 10"/>
          <p:cNvSpPr txBox="1"/>
          <p:nvPr/>
        </p:nvSpPr>
        <p:spPr>
          <a:xfrm>
            <a:off x="548640" y="5440680"/>
            <a:ext cx="11094415" cy="640080"/>
          </a:xfrm>
          <a:prstGeom prst="rect">
            <a:avLst/>
          </a:prstGeom>
          <a:noFill/>
          <a:ln/>
        </p:spPr>
        <p:txBody>
          <a:bodyPr wrap="square" lIns="0" tIns="0" rIns="0" bIns="0" rtlCol="0" anchor="t"/>
          <a:lstStyle/>
          <a:p>
            <a:pPr indent="0" marL="0">
              <a:spcAft>
                <a:spcPts val="400"/>
              </a:spcAft>
              <a:buNone/>
            </a:pPr>
            <a:r>
              <a:rPr lang="en-US" sz="1500" dirty="0">
                <a:solidFill>
                  <a:srgbClr val="3D4A5C"/>
                </a:solidFill>
                <a:latin typeface="Calibri" pitchFamily="34" charset="0"/>
                <a:ea typeface="Calibri" pitchFamily="34" charset="-122"/>
                <a:cs typeface="Calibri" pitchFamily="34" charset="-120"/>
              </a:rPr>
              <a:t>Reproducible end to end: </a:t>
            </a:r>
            <a:pPr indent="0" marL="0">
              <a:spcAft>
                <a:spcPts val="400"/>
              </a:spcAft>
              <a:buNone/>
            </a:pPr>
            <a:r>
              <a:rPr lang="en-US" sz="1500" b="1" dirty="0">
                <a:solidFill>
                  <a:srgbClr val="3D4A5C"/>
                </a:solidFill>
                <a:latin typeface="Courier New" pitchFamily="34" charset="0"/>
                <a:ea typeface="Courier New" pitchFamily="34" charset="-122"/>
                <a:cs typeface="Courier New" pitchFamily="34" charset="-120"/>
              </a:rPr>
              <a:t>bash scripts/run_all.sh</a:t>
            </a:r>
            <a:pPr indent="0" marL="0">
              <a:spcAft>
                <a:spcPts val="400"/>
              </a:spcAft>
              <a:buNone/>
            </a:pPr>
            <a:r>
              <a:rPr lang="en-US" sz="1500" dirty="0">
                <a:solidFill>
                  <a:srgbClr val="3D4A5C"/>
                </a:solidFill>
                <a:latin typeface="Calibri" pitchFamily="34" charset="0"/>
                <a:ea typeface="Calibri" pitchFamily="34" charset="-122"/>
                <a:cs typeface="Calibri" pitchFamily="34" charset="-120"/>
              </a:rPr>
              <a:t> or the Colab notebook — fixed split ids, YAML configs, seed 42, saved probabilities.</a:t>
            </a:r>
            <a:endParaRPr lang="en-US" sz="1500" dirty="0"/>
          </a:p>
        </p:txBody>
      </p:sp>
      <p:sp>
        <p:nvSpPr>
          <p:cNvPr id="13" name="Text 11"/>
          <p:cNvSpPr txBox="1"/>
          <p:nvPr/>
        </p:nvSpPr>
        <p:spPr>
          <a:xfrm>
            <a:off x="548640" y="6400800"/>
            <a:ext cx="9875520" cy="274320"/>
          </a:xfrm>
          <a:prstGeom prst="rect">
            <a:avLst/>
          </a:prstGeom>
          <a:noFill/>
          <a:ln/>
        </p:spPr>
        <p:txBody>
          <a:bodyPr wrap="square" lIns="0" tIns="0" rIns="0" bIns="0" rtlCol="0" anchor="ctr"/>
          <a:lstStyle/>
          <a:p>
            <a:pPr indent="0" marL="0">
              <a:buNone/>
            </a:pPr>
            <a:r>
              <a:rPr lang="en-US" sz="1000" dirty="0">
                <a:solidFill>
                  <a:srgbClr val="6B7688"/>
                </a:solidFill>
                <a:latin typeface="Calibri" pitchFamily="34" charset="0"/>
                <a:ea typeface="Calibri" pitchFamily="34" charset="-122"/>
                <a:cs typeface="Calibri" pitchFamily="34" charset="-120"/>
              </a:rPr>
              <a:t>ViGoEmotions · Midterm · Thank you — questions?</a:t>
            </a:r>
            <a:endParaRPr lang="en-US" sz="1000" dirty="0"/>
          </a:p>
        </p:txBody>
      </p:sp>
      <p:sp>
        <p:nvSpPr>
          <p:cNvPr id="14" name="Text 12"/>
          <p:cNvSpPr txBox="1"/>
          <p:nvPr/>
        </p:nvSpPr>
        <p:spPr>
          <a:xfrm>
            <a:off x="11094415" y="6400800"/>
            <a:ext cx="548640" cy="274320"/>
          </a:xfrm>
          <a:prstGeom prst="rect">
            <a:avLst/>
          </a:prstGeom>
          <a:noFill/>
          <a:ln/>
        </p:spPr>
        <p:txBody>
          <a:bodyPr wrap="square" lIns="0" tIns="0" rIns="0" bIns="0" rtlCol="0" anchor="ctr"/>
          <a:lstStyle/>
          <a:p>
            <a:pPr algn="r" indent="0" marL="0">
              <a:buNone/>
            </a:pPr>
            <a:r>
              <a:rPr lang="en-US" sz="1000" dirty="0">
                <a:solidFill>
                  <a:srgbClr val="6B7688"/>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ViGoEmotions Midterm</dc:title>
  <dc:subject>PptxGenJS Presentation</dc:subject>
  <dc:creator>[Team name]</dc:creator>
  <cp:lastModifiedBy>[Team name]</cp:lastModifiedBy>
  <cp:revision>1</cp:revision>
  <dcterms:created xsi:type="dcterms:W3CDTF">2026-09-29T07:34:29Z</dcterms:created>
  <dcterms:modified xsi:type="dcterms:W3CDTF">2026-09-29T07:34:29Z</dcterms:modified>
</cp:coreProperties>
</file>